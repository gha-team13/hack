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19934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1993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4f021f56dbf3c80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4f021f56dbf3c80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4f021f56dbf3c804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4f021f56dbf3c804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c6f919934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c6f9199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f021f56dbf3c804_9_0)">
  <p:cSld name="Generated (h4f021f56dbf3c804_9_0)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Lesson: Classifying Triangles</a:t>
            </a:r>
            <a:endParaRPr/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September 4, 20XX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Audience</a:t>
            </a:r>
            <a:endParaRPr/>
          </a:p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4th grade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Advanced curriculum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18 students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</a:t>
            </a:r>
            <a:endParaRPr/>
          </a:p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Item 1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Item 2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Item 3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Item 4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Item 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10 mins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9" name="Google Shape;99;p19"/>
          <p:cNvGrpSpPr/>
          <p:nvPr/>
        </p:nvGrpSpPr>
        <p:grpSpPr>
          <a:xfrm>
            <a:off x="912820" y="1610215"/>
            <a:ext cx="198900" cy="593656"/>
            <a:chOff x="777447" y="1610215"/>
            <a:chExt cx="198900" cy="593656"/>
          </a:xfrm>
        </p:grpSpPr>
        <p:cxnSp>
          <p:nvCxnSpPr>
            <p:cNvPr id="100" name="Google Shape;100;p19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" name="Google Shape;101;p19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9"/>
          <p:cNvSpPr txBox="1"/>
          <p:nvPr>
            <p:ph idx="4294967295" type="body"/>
          </p:nvPr>
        </p:nvSpPr>
        <p:spPr>
          <a:xfrm>
            <a:off x="318375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id="103" name="Google Shape;103;p19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10 mins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5" name="Google Shape;105;p19"/>
          <p:cNvGrpSpPr/>
          <p:nvPr/>
        </p:nvGrpSpPr>
        <p:grpSpPr>
          <a:xfrm>
            <a:off x="2266282" y="2938958"/>
            <a:ext cx="198900" cy="593656"/>
            <a:chOff x="2223534" y="2938958"/>
            <a:chExt cx="198900" cy="593656"/>
          </a:xfrm>
        </p:grpSpPr>
        <p:cxnSp>
          <p:nvCxnSpPr>
            <p:cNvPr id="106" name="Google Shape;106;p19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7" name="Google Shape;107;p19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9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id="109" name="Google Shape;109;p19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30 mins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11" name="Google Shape;111;p19"/>
          <p:cNvGrpSpPr/>
          <p:nvPr/>
        </p:nvGrpSpPr>
        <p:grpSpPr>
          <a:xfrm>
            <a:off x="4058732" y="1610215"/>
            <a:ext cx="198900" cy="593656"/>
            <a:chOff x="3918084" y="1610215"/>
            <a:chExt cx="198900" cy="593656"/>
          </a:xfrm>
        </p:grpSpPr>
        <p:cxnSp>
          <p:nvCxnSpPr>
            <p:cNvPr id="112" name="Google Shape;112;p19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" name="Google Shape;113;p19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9"/>
          <p:cNvSpPr txBox="1"/>
          <p:nvPr>
            <p:ph idx="4294967295" type="body"/>
          </p:nvPr>
        </p:nvSpPr>
        <p:spPr>
          <a:xfrm>
            <a:off x="3304094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id="115" name="Google Shape;115;p19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30 mins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17" name="Google Shape;117;p19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18" name="Google Shape;118;p19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19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9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id="121" name="Google Shape;121;p19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15 mins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23" name="Google Shape;123;p19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24" name="Google Shape;124;p19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" name="Google Shape;125;p19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9"/>
          <p:cNvSpPr txBox="1"/>
          <p:nvPr>
            <p:ph idx="4294967295" type="body"/>
          </p:nvPr>
        </p:nvSpPr>
        <p:spPr>
          <a:xfrm>
            <a:off x="6685979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 title="Code_Tool_Transit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987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381000" y="19050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rPr>
              <a:t>Claude Code Transition Matrix: Operational Rollout vs Offboarding Strategy</a:t>
            </a:r>
            <a:endParaRPr b="1" sz="1850">
              <a:solidFill>
                <a:srgbClr val="1118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571500" y="53340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79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Matrix defines required governance, financial models, support alignment, and change management steps for both Adopted (Scaling) and Not Adopted (Sunset) scenarios, based on the early December decision gate.</a:t>
            </a:r>
            <a:endParaRPr b="0" sz="879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1238250"/>
            <a:ext cx="19200" cy="35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375" y="1047750"/>
            <a:ext cx="366720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476250" y="1047750"/>
            <a:ext cx="333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SCENARIO A: ADOPTED (ENTERPRISE SCALE)</a:t>
            </a:r>
            <a:endParaRPr b="1"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1047750"/>
            <a:ext cx="366720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5286375" y="1047750"/>
            <a:ext cx="333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SCENARIO B: NOT ADOPTED (CONTROLLED SUNSET)</a:t>
            </a:r>
            <a:endParaRPr b="1"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3" name="Google Shape;143;p21"/>
          <p:cNvGrpSpPr/>
          <p:nvPr/>
        </p:nvGrpSpPr>
        <p:grpSpPr>
          <a:xfrm>
            <a:off x="333375" y="1524000"/>
            <a:ext cx="3905400" cy="952500"/>
            <a:chOff x="0" y="0"/>
            <a:chExt cx="3905400" cy="952500"/>
          </a:xfrm>
        </p:grpSpPr>
        <p:sp>
          <p:nvSpPr>
            <p:cNvPr id="144" name="Google Shape;144;p21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14146" y="0"/>
                  </a:lnTo>
                  <a:lnTo>
                    <a:pt x="120000" y="120000"/>
                  </a:lnTo>
                  <a:lnTo>
                    <a:pt x="114146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4A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 txBox="1"/>
            <p:nvPr/>
          </p:nvSpPr>
          <p:spPr>
            <a:xfrm>
              <a:off x="142875" y="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GOVERNANCE &amp; COMMERCIALS</a:t>
              </a:r>
              <a:endParaRPr b="1" sz="7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0" y="228600"/>
              <a:ext cx="3905400" cy="7239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7" name="Google Shape;147;p21"/>
            <p:cNvGrpSpPr/>
            <p:nvPr/>
          </p:nvGrpSpPr>
          <p:grpSpPr>
            <a:xfrm>
              <a:off x="142875" y="342900"/>
              <a:ext cx="476400" cy="476400"/>
              <a:chOff x="0" y="0"/>
              <a:chExt cx="476400" cy="476400"/>
            </a:xfrm>
          </p:grpSpPr>
          <p:sp>
            <p:nvSpPr>
              <p:cNvPr id="148" name="Google Shape;148;p21"/>
              <p:cNvSpPr/>
              <p:nvPr/>
            </p:nvSpPr>
            <p:spPr>
              <a:xfrm>
                <a:off x="0" y="0"/>
                <a:ext cx="4764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21"/>
              <p:cNvSpPr/>
              <p:nvPr/>
            </p:nvSpPr>
            <p:spPr>
              <a:xfrm>
                <a:off x="142875" y="142875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42000" y="30000"/>
                    </a:lnTo>
                    <a:lnTo>
                      <a:pt x="78000" y="78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16A3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21"/>
              <p:cNvSpPr/>
              <p:nvPr/>
            </p:nvSpPr>
            <p:spPr>
              <a:xfrm>
                <a:off x="114300" y="361950"/>
                <a:ext cx="247800" cy="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16A3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" name="Google Shape;151;p21"/>
            <p:cNvSpPr txBox="1"/>
            <p:nvPr/>
          </p:nvSpPr>
          <p:spPr>
            <a:xfrm>
              <a:off x="714375" y="28575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111827"/>
                  </a:solidFill>
                  <a:latin typeface="Roboto"/>
                  <a:ea typeface="Roboto"/>
                  <a:cs typeface="Roboto"/>
                  <a:sym typeface="Roboto"/>
                </a:rPr>
                <a:t>Decision Gate &amp; Commercial Approvals</a:t>
              </a:r>
              <a:endParaRPr b="1" sz="879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Finalise Anthropic MSA negotiations, secure PTD/PTO approvals, and complete production gating by 1 December.</a:t>
              </a:r>
              <a:endParaRPr b="0" sz="8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" name="Google Shape;152;p21"/>
          <p:cNvGrpSpPr/>
          <p:nvPr/>
        </p:nvGrpSpPr>
        <p:grpSpPr>
          <a:xfrm>
            <a:off x="333375" y="2619375"/>
            <a:ext cx="3905400" cy="952500"/>
            <a:chOff x="0" y="0"/>
            <a:chExt cx="3905400" cy="952500"/>
          </a:xfrm>
        </p:grpSpPr>
        <p:sp>
          <p:nvSpPr>
            <p:cNvPr id="153" name="Google Shape;153;p21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14146" y="0"/>
                  </a:lnTo>
                  <a:lnTo>
                    <a:pt x="120000" y="120000"/>
                  </a:lnTo>
                  <a:lnTo>
                    <a:pt x="114146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4A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142875" y="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FINANCIAL MODEL</a:t>
              </a:r>
              <a:endParaRPr b="1" sz="7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0" y="228600"/>
              <a:ext cx="3905400" cy="7239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21"/>
            <p:cNvGrpSpPr/>
            <p:nvPr/>
          </p:nvGrpSpPr>
          <p:grpSpPr>
            <a:xfrm>
              <a:off x="142875" y="342900"/>
              <a:ext cx="476400" cy="476400"/>
              <a:chOff x="0" y="0"/>
              <a:chExt cx="476400" cy="476400"/>
            </a:xfrm>
          </p:grpSpPr>
          <p:sp>
            <p:nvSpPr>
              <p:cNvPr id="157" name="Google Shape;157;p21"/>
              <p:cNvSpPr/>
              <p:nvPr/>
            </p:nvSpPr>
            <p:spPr>
              <a:xfrm>
                <a:off x="0" y="0"/>
                <a:ext cx="4764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21"/>
              <p:cNvSpPr/>
              <p:nvPr/>
            </p:nvSpPr>
            <p:spPr>
              <a:xfrm>
                <a:off x="133350" y="276225"/>
                <a:ext cx="114300" cy="1143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21"/>
              <p:cNvSpPr/>
              <p:nvPr/>
            </p:nvSpPr>
            <p:spPr>
              <a:xfrm>
                <a:off x="228600" y="276225"/>
                <a:ext cx="114300" cy="1143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21"/>
              <p:cNvSpPr/>
              <p:nvPr/>
            </p:nvSpPr>
            <p:spPr>
              <a:xfrm>
                <a:off x="180975" y="180975"/>
                <a:ext cx="114300" cy="114300"/>
              </a:xfrm>
              <a:prstGeom prst="ellipse">
                <a:avLst/>
              </a:prstGeom>
              <a:solidFill>
                <a:srgbClr val="4ADE8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1"/>
              <p:cNvSpPr/>
              <p:nvPr/>
            </p:nvSpPr>
            <p:spPr>
              <a:xfrm>
                <a:off x="142875" y="171450"/>
                <a:ext cx="190500" cy="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16A3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" name="Google Shape;162;p21"/>
            <p:cNvSpPr txBox="1"/>
            <p:nvPr/>
          </p:nvSpPr>
          <p:spPr>
            <a:xfrm>
              <a:off x="714375" y="28575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111827"/>
                  </a:solidFill>
                  <a:latin typeface="Roboto"/>
                  <a:ea typeface="Roboto"/>
                  <a:cs typeface="Roboto"/>
                  <a:sym typeface="Roboto"/>
                </a:rPr>
                <a:t>Funding Allocation &amp; Chargeback</a:t>
              </a:r>
              <a:endParaRPr b="1" sz="879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Establish departmental chargeback models and manage scaled user license distribution across engineering teams.</a:t>
              </a:r>
              <a:endParaRPr b="0" sz="8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3" name="Google Shape;163;p21"/>
          <p:cNvGrpSpPr/>
          <p:nvPr/>
        </p:nvGrpSpPr>
        <p:grpSpPr>
          <a:xfrm>
            <a:off x="333375" y="3714750"/>
            <a:ext cx="3905400" cy="952500"/>
            <a:chOff x="0" y="0"/>
            <a:chExt cx="3905400" cy="952500"/>
          </a:xfrm>
        </p:grpSpPr>
        <p:sp>
          <p:nvSpPr>
            <p:cNvPr id="164" name="Google Shape;164;p21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14146" y="0"/>
                  </a:lnTo>
                  <a:lnTo>
                    <a:pt x="120000" y="120000"/>
                  </a:lnTo>
                  <a:lnTo>
                    <a:pt x="114146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4A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142875" y="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COEXISTENCE &amp; LEADERSHIP</a:t>
              </a:r>
              <a:endParaRPr b="1" sz="7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0" y="228600"/>
              <a:ext cx="3905400" cy="7239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7" name="Google Shape;167;p21"/>
            <p:cNvGrpSpPr/>
            <p:nvPr/>
          </p:nvGrpSpPr>
          <p:grpSpPr>
            <a:xfrm>
              <a:off x="142875" y="342900"/>
              <a:ext cx="476400" cy="476400"/>
              <a:chOff x="0" y="0"/>
              <a:chExt cx="476400" cy="476400"/>
            </a:xfrm>
          </p:grpSpPr>
          <p:sp>
            <p:nvSpPr>
              <p:cNvPr id="168" name="Google Shape;168;p21"/>
              <p:cNvSpPr/>
              <p:nvPr/>
            </p:nvSpPr>
            <p:spPr>
              <a:xfrm>
                <a:off x="0" y="0"/>
                <a:ext cx="4764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1"/>
              <p:cNvSpPr/>
              <p:nvPr/>
            </p:nvSpPr>
            <p:spPr>
              <a:xfrm>
                <a:off x="123825" y="142875"/>
                <a:ext cx="95400" cy="95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1"/>
              <p:cNvSpPr/>
              <p:nvPr/>
            </p:nvSpPr>
            <p:spPr>
              <a:xfrm>
                <a:off x="257175" y="142875"/>
                <a:ext cx="95400" cy="95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21"/>
              <p:cNvSpPr/>
              <p:nvPr/>
            </p:nvSpPr>
            <p:spPr>
              <a:xfrm>
                <a:off x="114300" y="266700"/>
                <a:ext cx="114300" cy="666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0"/>
                      <a:pt x="120000" y="0"/>
                      <a:pt x="120000" y="12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6A3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1"/>
              <p:cNvSpPr/>
              <p:nvPr/>
            </p:nvSpPr>
            <p:spPr>
              <a:xfrm>
                <a:off x="247650" y="266700"/>
                <a:ext cx="114300" cy="666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0"/>
                      <a:pt x="120000" y="0"/>
                      <a:pt x="120000" y="12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6A3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3" name="Google Shape;173;p21"/>
            <p:cNvSpPr txBox="1"/>
            <p:nvPr/>
          </p:nvSpPr>
          <p:spPr>
            <a:xfrm>
              <a:off x="714375" y="28575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111827"/>
                  </a:solidFill>
                  <a:latin typeface="Roboto"/>
                  <a:ea typeface="Roboto"/>
                  <a:cs typeface="Roboto"/>
                  <a:sym typeface="Roboto"/>
                </a:rPr>
                <a:t>Dual-Track Operations &amp; Leadership Alignment</a:t>
              </a:r>
              <a:endParaRPr b="1" sz="879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Execute Copilot coexistence strategy with operational alignment between Yannick (Architecture) and Brad (Support).</a:t>
              </a:r>
              <a:endParaRPr b="0" sz="8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" name="Google Shape;174;p21"/>
          <p:cNvGrpSpPr/>
          <p:nvPr/>
        </p:nvGrpSpPr>
        <p:grpSpPr>
          <a:xfrm>
            <a:off x="4905375" y="1524000"/>
            <a:ext cx="3905400" cy="952500"/>
            <a:chOff x="0" y="0"/>
            <a:chExt cx="3905400" cy="952500"/>
          </a:xfrm>
        </p:grpSpPr>
        <p:sp>
          <p:nvSpPr>
            <p:cNvPr id="175" name="Google Shape;175;p21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5854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5854" y="120000"/>
                  </a:lnTo>
                  <a:close/>
                </a:path>
              </a:pathLst>
            </a:custGeom>
            <a:solidFill>
              <a:srgbClr val="5C7C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1"/>
            <p:cNvSpPr txBox="1"/>
            <p:nvPr/>
          </p:nvSpPr>
          <p:spPr>
            <a:xfrm>
              <a:off x="333375" y="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PROCESS: OFFBOARDING &amp; REVOCATION</a:t>
              </a:r>
              <a:endParaRPr b="1" sz="7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0" y="228600"/>
              <a:ext cx="3905400" cy="7239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" name="Google Shape;178;p21"/>
            <p:cNvGrpSpPr/>
            <p:nvPr/>
          </p:nvGrpSpPr>
          <p:grpSpPr>
            <a:xfrm>
              <a:off x="142875" y="342900"/>
              <a:ext cx="476400" cy="476400"/>
              <a:chOff x="0" y="0"/>
              <a:chExt cx="476400" cy="476400"/>
            </a:xfrm>
          </p:grpSpPr>
          <p:sp>
            <p:nvSpPr>
              <p:cNvPr id="179" name="Google Shape;179;p21"/>
              <p:cNvSpPr/>
              <p:nvPr/>
            </p:nvSpPr>
            <p:spPr>
              <a:xfrm>
                <a:off x="0" y="0"/>
                <a:ext cx="4764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21"/>
              <p:cNvSpPr/>
              <p:nvPr/>
            </p:nvSpPr>
            <p:spPr>
              <a:xfrm>
                <a:off x="133350" y="180975"/>
                <a:ext cx="114300" cy="1143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1"/>
              <p:cNvSpPr/>
              <p:nvPr/>
            </p:nvSpPr>
            <p:spPr>
              <a:xfrm>
                <a:off x="247650" y="238125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68571"/>
                    </a:lnTo>
                    <a:lnTo>
                      <a:pt x="72000" y="68571"/>
                    </a:lnTo>
                    <a:lnTo>
                      <a:pt x="72000" y="120000"/>
                    </a:lnTo>
                    <a:lnTo>
                      <a:pt x="24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2" name="Google Shape;182;p21"/>
            <p:cNvSpPr txBox="1"/>
            <p:nvPr/>
          </p:nvSpPr>
          <p:spPr>
            <a:xfrm>
              <a:off x="714375" y="28575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111827"/>
                  </a:solidFill>
                  <a:latin typeface="Roboto"/>
                  <a:ea typeface="Roboto"/>
                  <a:cs typeface="Roboto"/>
                  <a:sym typeface="Roboto"/>
                </a:rPr>
                <a:t>Offboarding Execution &amp; Access Revocation</a:t>
              </a:r>
              <a:endParaRPr b="1" sz="879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Support teams lead pilot closure, decommission access, and revoke allocated user seats cleanly.</a:t>
              </a:r>
              <a:endParaRPr b="0" sz="8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" name="Google Shape;183;p21"/>
          <p:cNvGrpSpPr/>
          <p:nvPr/>
        </p:nvGrpSpPr>
        <p:grpSpPr>
          <a:xfrm>
            <a:off x="4905375" y="2619375"/>
            <a:ext cx="3905400" cy="952500"/>
            <a:chOff x="0" y="0"/>
            <a:chExt cx="3905400" cy="952500"/>
          </a:xfrm>
        </p:grpSpPr>
        <p:sp>
          <p:nvSpPr>
            <p:cNvPr id="184" name="Google Shape;184;p21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5854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5854" y="120000"/>
                  </a:lnTo>
                  <a:close/>
                </a:path>
              </a:pathLst>
            </a:custGeom>
            <a:solidFill>
              <a:srgbClr val="5C7C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 txBox="1"/>
            <p:nvPr/>
          </p:nvSpPr>
          <p:spPr>
            <a:xfrm>
              <a:off x="333375" y="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CHANGE MANAGEMENT</a:t>
              </a:r>
              <a:endParaRPr b="1" sz="7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0" y="228600"/>
              <a:ext cx="3905400" cy="7239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21"/>
            <p:cNvGrpSpPr/>
            <p:nvPr/>
          </p:nvGrpSpPr>
          <p:grpSpPr>
            <a:xfrm>
              <a:off x="142875" y="342900"/>
              <a:ext cx="476400" cy="476400"/>
              <a:chOff x="0" y="0"/>
              <a:chExt cx="476400" cy="476400"/>
            </a:xfrm>
          </p:grpSpPr>
          <p:sp>
            <p:nvSpPr>
              <p:cNvPr id="188" name="Google Shape;188;p21"/>
              <p:cNvSpPr/>
              <p:nvPr/>
            </p:nvSpPr>
            <p:spPr>
              <a:xfrm>
                <a:off x="0" y="0"/>
                <a:ext cx="4764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1"/>
              <p:cNvSpPr/>
              <p:nvPr/>
            </p:nvSpPr>
            <p:spPr>
              <a:xfrm>
                <a:off x="114300" y="142875"/>
                <a:ext cx="247800" cy="190500"/>
              </a:xfrm>
              <a:prstGeom prst="roundRect">
                <a:avLst>
                  <a:gd fmla="val 10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1"/>
              <p:cNvSpPr/>
              <p:nvPr/>
            </p:nvSpPr>
            <p:spPr>
              <a:xfrm>
                <a:off x="238125" y="238125"/>
                <a:ext cx="123900" cy="95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1"/>
              <p:cNvSpPr/>
              <p:nvPr/>
            </p:nvSpPr>
            <p:spPr>
              <a:xfrm>
                <a:off x="285750" y="285750"/>
                <a:ext cx="114300" cy="95400"/>
              </a:xfrm>
              <a:prstGeom prst="roundRect">
                <a:avLst>
                  <a:gd fmla="val 10000" name="adj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2" name="Google Shape;192;p21"/>
            <p:cNvSpPr txBox="1"/>
            <p:nvPr/>
          </p:nvSpPr>
          <p:spPr>
            <a:xfrm>
              <a:off x="714375" y="28575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111827"/>
                  </a:solidFill>
                  <a:latin typeface="Roboto"/>
                  <a:ea typeface="Roboto"/>
                  <a:cs typeface="Roboto"/>
                  <a:sym typeface="Roboto"/>
                </a:rPr>
                <a:t>Developer Transition to GitHub Copilot</a:t>
              </a:r>
              <a:endParaRPr b="1" sz="879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Transition all developers back to GitHub Copilot with clear communications detailing decision rationale.</a:t>
              </a:r>
              <a:endParaRPr b="0" sz="8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" name="Google Shape;193;p21"/>
          <p:cNvGrpSpPr/>
          <p:nvPr/>
        </p:nvGrpSpPr>
        <p:grpSpPr>
          <a:xfrm>
            <a:off x="4905375" y="3714750"/>
            <a:ext cx="3905400" cy="952500"/>
            <a:chOff x="0" y="0"/>
            <a:chExt cx="3905400" cy="952500"/>
          </a:xfrm>
        </p:grpSpPr>
        <p:sp>
          <p:nvSpPr>
            <p:cNvPr id="194" name="Google Shape;194;p21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5854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5854" y="120000"/>
                  </a:lnTo>
                  <a:close/>
                </a:path>
              </a:pathLst>
            </a:custGeom>
            <a:solidFill>
              <a:srgbClr val="5C7C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333375" y="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KNOWLEDGE MANAGEMENT</a:t>
              </a:r>
              <a:endParaRPr b="1" sz="7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0" y="228600"/>
              <a:ext cx="3905400" cy="7239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7" name="Google Shape;197;p21"/>
            <p:cNvGrpSpPr/>
            <p:nvPr/>
          </p:nvGrpSpPr>
          <p:grpSpPr>
            <a:xfrm>
              <a:off x="142875" y="342900"/>
              <a:ext cx="476400" cy="476400"/>
              <a:chOff x="0" y="0"/>
              <a:chExt cx="476400" cy="476400"/>
            </a:xfrm>
          </p:grpSpPr>
          <p:sp>
            <p:nvSpPr>
              <p:cNvPr id="198" name="Google Shape;198;p21"/>
              <p:cNvSpPr/>
              <p:nvPr/>
            </p:nvSpPr>
            <p:spPr>
              <a:xfrm>
                <a:off x="0" y="0"/>
                <a:ext cx="4764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1"/>
              <p:cNvSpPr/>
              <p:nvPr/>
            </p:nvSpPr>
            <p:spPr>
              <a:xfrm>
                <a:off x="123825" y="133350"/>
                <a:ext cx="228600" cy="76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1"/>
              <p:cNvSpPr/>
              <p:nvPr/>
            </p:nvSpPr>
            <p:spPr>
              <a:xfrm>
                <a:off x="123825" y="171450"/>
                <a:ext cx="228600" cy="162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98824"/>
                    </a:lnTo>
                    <a:cubicBezTo>
                      <a:pt x="0" y="120000"/>
                      <a:pt x="120000" y="120000"/>
                      <a:pt x="120000" y="98824"/>
                    </a:cubicBez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1"/>
              <p:cNvSpPr/>
              <p:nvPr/>
            </p:nvSpPr>
            <p:spPr>
              <a:xfrm>
                <a:off x="123825" y="238125"/>
                <a:ext cx="228600" cy="285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120000"/>
                      <a:pt x="120000" y="120000"/>
                      <a:pt x="120000" y="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2" name="Google Shape;202;p21"/>
            <p:cNvSpPr txBox="1"/>
            <p:nvPr/>
          </p:nvSpPr>
          <p:spPr>
            <a:xfrm>
              <a:off x="714375" y="28575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111827"/>
                  </a:solidFill>
                  <a:latin typeface="Roboto"/>
                  <a:ea typeface="Roboto"/>
                  <a:cs typeface="Roboto"/>
                  <a:sym typeface="Roboto"/>
                </a:rPr>
                <a:t>Telemetry &amp; Artifact Archiving</a:t>
              </a:r>
              <a:endParaRPr b="1" sz="879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Archive pilot runbooks, telemetry logs, and GetDX sentiment metrics for future AI initiatives.</a:t>
              </a:r>
              <a:endParaRPr b="0" sz="8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3" name="Google Shape;203;p21"/>
          <p:cNvSpPr txBox="1"/>
          <p:nvPr/>
        </p:nvSpPr>
        <p:spPr>
          <a:xfrm>
            <a:off x="7905750" y="4905375"/>
            <a:ext cx="857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Gemini Notebook</a:t>
            </a:r>
            <a:endParaRPr sz="650">
              <a:solidFill>
                <a:srgbClr val="9CA3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095750" y="1238250"/>
            <a:ext cx="952500" cy="9525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A8DA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6713" y="1323975"/>
            <a:ext cx="790500" cy="78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4362450" y="1504950"/>
            <a:ext cx="419100" cy="41910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572000" y="1600200"/>
            <a:ext cx="76200" cy="152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90000"/>
                </a:lnTo>
                <a:lnTo>
                  <a:pt x="120000" y="120000"/>
                </a:lnTo>
              </a:path>
            </a:pathLst>
          </a:custGeom>
          <a:solidFill>
            <a:srgbClr val="000000"/>
          </a:solidFill>
          <a:ln cap="rnd" cmpd="sng" w="19050">
            <a:solidFill>
              <a:srgbClr val="1E8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000500" y="2238375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86" u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DECISION GATE:</a:t>
            </a:r>
            <a:br>
              <a:rPr b="1" i="0" lang="en" sz="786" u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786" u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TARGET EARLY DECEMBER</a:t>
            </a:r>
            <a:endParaRPr b="1" i="0" sz="786" u="none" strike="noStrike">
              <a:solidFill>
                <a:srgbClr val="1F29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14" name="Google Shape;214;p2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elit, sed do eiusmod tempor incididunt ut labore et dolore magna aliqua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Incididunt ut labore et dolore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Consectetur adipiscing elit, sed do eiusmod tempor incididunt ut labore et dolore magna aliqua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