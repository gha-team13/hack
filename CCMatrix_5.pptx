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Roboto" panose="02000000000000000000" pitchFamily="2" charset="0"/>
      <p:regular r:id="rId13"/>
      <p:bold r:id="rId14"/>
    </p:embeddedFont>
    <p:embeddedFont>
      <p:font typeface="Roboto Black" panose="02000000000000000000" pitchFamily="2" charset="0"/>
      <p:bold r:id="rId15"/>
    </p:embeddedFont>
    <p:embeddedFont>
      <p:font typeface="Roboto ExtraBold" panose="020B0604020202020204" charset="0"/>
      <p:bold r:id="rId16"/>
      <p:boldItalic r:id="rId17"/>
    </p:embeddedFont>
    <p:embeddedFont>
      <p:font typeface="Roboto Medium" panose="02000000000000000000" pitchFamily="2" charset="0"/>
      <p:regular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97" autoAdjust="0"/>
  </p:normalViewPr>
  <p:slideViewPr>
    <p:cSldViewPr snapToGrid="0">
      <p:cViewPr varScale="1">
        <p:scale>
          <a:sx n="110" d="100"/>
          <a:sy n="110" d="100"/>
        </p:scale>
        <p:origin x="658"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h4f021f56dbf3c804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h4f021f56dbf3c804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h4f021f56dbf3c804_1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h4f021f56dbf3c804_1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h4f021f56dbf3c804_1_9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h4f021f56dbf3c804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h4f021f56dbf3c804_1_1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h4f021f56dbf3c804_1_1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h4f021f56dbf3c804_1_14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h4f021f56dbf3c804_1_1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h4f021f56dbf3c804_1_16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h4f021f56dbf3c804_1_1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h4f021f56dbf3c804_1_2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h4f021f56dbf3c804_1_2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h4f021f56dbf3c804_1_22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h4f021f56dbf3c804_1_2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h4f021f56dbf3c804_1_17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h4f021f56dbf3c804_1_17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h4f021f56dbf3c804_1_8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h4f021f56dbf3c804_1_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1600"/>
              </a:spcBef>
              <a:spcAft>
                <a:spcPts val="0"/>
              </a:spcAft>
              <a:buClr>
                <a:schemeClr val="lt1"/>
              </a:buClr>
              <a:buSzPts val="1200"/>
              <a:buChar char="○"/>
              <a:defRPr sz="1200">
                <a:solidFill>
                  <a:schemeClr val="lt1"/>
                </a:solidFill>
              </a:defRPr>
            </a:lvl2pPr>
            <a:lvl3pPr marL="1371600" lvl="2" indent="-304800">
              <a:spcBef>
                <a:spcPts val="1600"/>
              </a:spcBef>
              <a:spcAft>
                <a:spcPts val="0"/>
              </a:spcAft>
              <a:buClr>
                <a:schemeClr val="lt1"/>
              </a:buClr>
              <a:buSzPts val="1200"/>
              <a:buChar char="■"/>
              <a:defRPr sz="1200">
                <a:solidFill>
                  <a:schemeClr val="lt1"/>
                </a:solidFill>
              </a:defRPr>
            </a:lvl3pPr>
            <a:lvl4pPr marL="1828800" lvl="3" indent="-304800">
              <a:spcBef>
                <a:spcPts val="1600"/>
              </a:spcBef>
              <a:spcAft>
                <a:spcPts val="0"/>
              </a:spcAft>
              <a:buClr>
                <a:schemeClr val="lt1"/>
              </a:buClr>
              <a:buSzPts val="1200"/>
              <a:buChar char="●"/>
              <a:defRPr sz="1200">
                <a:solidFill>
                  <a:schemeClr val="lt1"/>
                </a:solidFill>
              </a:defRPr>
            </a:lvl4pPr>
            <a:lvl5pPr marL="2286000" lvl="4" indent="-304800">
              <a:spcBef>
                <a:spcPts val="1600"/>
              </a:spcBef>
              <a:spcAft>
                <a:spcPts val="0"/>
              </a:spcAft>
              <a:buClr>
                <a:schemeClr val="lt1"/>
              </a:buClr>
              <a:buSzPts val="1200"/>
              <a:buChar char="○"/>
              <a:defRPr sz="1200">
                <a:solidFill>
                  <a:schemeClr val="lt1"/>
                </a:solidFill>
              </a:defRPr>
            </a:lvl5pPr>
            <a:lvl6pPr marL="2743200" lvl="5" indent="-304800">
              <a:spcBef>
                <a:spcPts val="1600"/>
              </a:spcBef>
              <a:spcAft>
                <a:spcPts val="0"/>
              </a:spcAft>
              <a:buClr>
                <a:schemeClr val="lt1"/>
              </a:buClr>
              <a:buSzPts val="1200"/>
              <a:buChar char="■"/>
              <a:defRPr sz="1200">
                <a:solidFill>
                  <a:schemeClr val="lt1"/>
                </a:solidFill>
              </a:defRPr>
            </a:lvl6pPr>
            <a:lvl7pPr marL="3200400" lvl="6" indent="-304800">
              <a:spcBef>
                <a:spcPts val="1600"/>
              </a:spcBef>
              <a:spcAft>
                <a:spcPts val="0"/>
              </a:spcAft>
              <a:buClr>
                <a:schemeClr val="lt1"/>
              </a:buClr>
              <a:buSzPts val="1200"/>
              <a:buChar char="●"/>
              <a:defRPr sz="1200">
                <a:solidFill>
                  <a:schemeClr val="lt1"/>
                </a:solidFill>
              </a:defRPr>
            </a:lvl7pPr>
            <a:lvl8pPr marL="3657600" lvl="7" indent="-304800">
              <a:spcBef>
                <a:spcPts val="1600"/>
              </a:spcBef>
              <a:spcAft>
                <a:spcPts val="0"/>
              </a:spcAft>
              <a:buClr>
                <a:schemeClr val="lt1"/>
              </a:buClr>
              <a:buSzPts val="1200"/>
              <a:buChar char="○"/>
              <a:defRPr sz="1200">
                <a:solidFill>
                  <a:schemeClr val="lt1"/>
                </a:solidFill>
              </a:defRPr>
            </a:lvl8pPr>
            <a:lvl9pPr marL="4114800" lvl="8" indent="-304800">
              <a:spcBef>
                <a:spcPts val="1600"/>
              </a:spcBef>
              <a:spcAft>
                <a:spcPts val="160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h4f021f56dbf3c804_9_0)">
  <p:cSld name="Generated (h4f021f56dbf3c804_9_0)">
    <p:spTree>
      <p:nvGrpSpPr>
        <p:cNvPr id="1" name="Shape 6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4" title="Code_Tool_Transition_Matrix.png"/>
          <p:cNvPicPr preferRelativeResize="0"/>
          <p:nvPr/>
        </p:nvPicPr>
        <p:blipFill>
          <a:blip r:embed="rId3">
            <a:alphaModFix/>
          </a:blip>
          <a:stretch>
            <a:fillRect/>
          </a:stretch>
        </p:blipFill>
        <p:spPr>
          <a:xfrm>
            <a:off x="152400" y="152400"/>
            <a:ext cx="8669870" cy="48387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5"/>
          <p:cNvSpPr txBox="1"/>
          <p:nvPr/>
        </p:nvSpPr>
        <p:spPr>
          <a:xfrm>
            <a:off x="381000" y="190500"/>
            <a:ext cx="83820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850" b="1">
                <a:solidFill>
                  <a:srgbClr val="111827"/>
                </a:solidFill>
                <a:latin typeface="Roboto"/>
                <a:ea typeface="Roboto"/>
                <a:cs typeface="Roboto"/>
                <a:sym typeface="Roboto"/>
              </a:rPr>
              <a:t>Claude Code Plan: Full Rollout vs. Winding Down</a:t>
            </a:r>
            <a:endParaRPr sz="1850" b="1">
              <a:solidFill>
                <a:srgbClr val="111827"/>
              </a:solidFill>
              <a:latin typeface="Roboto"/>
              <a:ea typeface="Roboto"/>
              <a:cs typeface="Roboto"/>
              <a:sym typeface="Roboto"/>
            </a:endParaRPr>
          </a:p>
        </p:txBody>
      </p:sp>
      <p:sp>
        <p:nvSpPr>
          <p:cNvPr id="74" name="Google Shape;74;p15"/>
          <p:cNvSpPr txBox="1"/>
          <p:nvPr/>
        </p:nvSpPr>
        <p:spPr>
          <a:xfrm>
            <a:off x="571500" y="533400"/>
            <a:ext cx="80010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879" b="0">
                <a:solidFill>
                  <a:srgbClr val="4B5563"/>
                </a:solidFill>
                <a:latin typeface="Roboto"/>
                <a:ea typeface="Roboto"/>
                <a:cs typeface="Roboto"/>
                <a:sym typeface="Roboto"/>
              </a:rPr>
              <a:t>This chart explains what we will do if we fully adopt Claude Code or switch back, depending on our early December decision.</a:t>
            </a:r>
            <a:endParaRPr sz="879" b="0">
              <a:solidFill>
                <a:srgbClr val="4B5563"/>
              </a:solidFill>
              <a:latin typeface="Roboto"/>
              <a:ea typeface="Roboto"/>
              <a:cs typeface="Roboto"/>
              <a:sym typeface="Roboto"/>
            </a:endParaRPr>
          </a:p>
        </p:txBody>
      </p:sp>
      <p:pic>
        <p:nvPicPr>
          <p:cNvPr id="75" name="Google Shape;75;p15"/>
          <p:cNvPicPr preferRelativeResize="0"/>
          <p:nvPr/>
        </p:nvPicPr>
        <p:blipFill rotWithShape="1">
          <a:blip r:embed="rId4">
            <a:alphaModFix/>
          </a:blip>
          <a:srcRect/>
          <a:stretch/>
        </p:blipFill>
        <p:spPr>
          <a:xfrm>
            <a:off x="4562475" y="1238250"/>
            <a:ext cx="19200" cy="3524400"/>
          </a:xfrm>
          <a:prstGeom prst="rect">
            <a:avLst/>
          </a:prstGeom>
          <a:noFill/>
          <a:ln>
            <a:noFill/>
          </a:ln>
        </p:spPr>
      </p:pic>
      <p:pic>
        <p:nvPicPr>
          <p:cNvPr id="76" name="Google Shape;76;p15"/>
          <p:cNvPicPr preferRelativeResize="0"/>
          <p:nvPr/>
        </p:nvPicPr>
        <p:blipFill rotWithShape="1">
          <a:blip r:embed="rId5">
            <a:alphaModFix/>
          </a:blip>
          <a:srcRect/>
          <a:stretch/>
        </p:blipFill>
        <p:spPr>
          <a:xfrm>
            <a:off x="333375" y="1047750"/>
            <a:ext cx="3667200" cy="333300"/>
          </a:xfrm>
          <a:prstGeom prst="rect">
            <a:avLst/>
          </a:prstGeom>
          <a:noFill/>
          <a:ln>
            <a:noFill/>
          </a:ln>
        </p:spPr>
      </p:pic>
      <p:sp>
        <p:nvSpPr>
          <p:cNvPr id="77" name="Google Shape;77;p15"/>
          <p:cNvSpPr txBox="1"/>
          <p:nvPr/>
        </p:nvSpPr>
        <p:spPr>
          <a:xfrm>
            <a:off x="476250" y="1047750"/>
            <a:ext cx="3333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1050" b="1">
                <a:solidFill>
                  <a:srgbClr val="FFFFFF"/>
                </a:solidFill>
                <a:latin typeface="Roboto"/>
                <a:ea typeface="Roboto"/>
                <a:cs typeface="Roboto"/>
                <a:sym typeface="Roboto"/>
              </a:rPr>
              <a:t>SCENARIO A: WE ADOPT IT (FULL ROLLOUT)</a:t>
            </a:r>
            <a:endParaRPr sz="1050" b="1">
              <a:solidFill>
                <a:srgbClr val="FFFFFF"/>
              </a:solidFill>
              <a:latin typeface="Roboto"/>
              <a:ea typeface="Roboto"/>
              <a:cs typeface="Roboto"/>
              <a:sym typeface="Roboto"/>
            </a:endParaRPr>
          </a:p>
        </p:txBody>
      </p:sp>
      <p:pic>
        <p:nvPicPr>
          <p:cNvPr id="78" name="Google Shape;78;p15"/>
          <p:cNvPicPr preferRelativeResize="0"/>
          <p:nvPr/>
        </p:nvPicPr>
        <p:blipFill rotWithShape="1">
          <a:blip r:embed="rId6">
            <a:alphaModFix/>
          </a:blip>
          <a:srcRect/>
          <a:stretch/>
        </p:blipFill>
        <p:spPr>
          <a:xfrm>
            <a:off x="5143500" y="1047750"/>
            <a:ext cx="3667200" cy="333300"/>
          </a:xfrm>
          <a:prstGeom prst="rect">
            <a:avLst/>
          </a:prstGeom>
          <a:noFill/>
          <a:ln>
            <a:noFill/>
          </a:ln>
        </p:spPr>
      </p:pic>
      <p:sp>
        <p:nvSpPr>
          <p:cNvPr id="79" name="Google Shape;79;p15"/>
          <p:cNvSpPr txBox="1"/>
          <p:nvPr/>
        </p:nvSpPr>
        <p:spPr>
          <a:xfrm>
            <a:off x="5286375" y="1047750"/>
            <a:ext cx="3333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r" rtl="0">
              <a:spcBef>
                <a:spcPts val="0"/>
              </a:spcBef>
              <a:spcAft>
                <a:spcPts val="0"/>
              </a:spcAft>
              <a:buNone/>
            </a:pPr>
            <a:r>
              <a:rPr lang="en" sz="1050" b="1">
                <a:solidFill>
                  <a:srgbClr val="FFFFFF"/>
                </a:solidFill>
                <a:latin typeface="Roboto"/>
                <a:ea typeface="Roboto"/>
                <a:cs typeface="Roboto"/>
                <a:sym typeface="Roboto"/>
              </a:rPr>
              <a:t>SCENARIO B: WE DON'T ADOPT IT (CLEAN SUNSET)</a:t>
            </a:r>
            <a:endParaRPr sz="1050" b="1">
              <a:solidFill>
                <a:srgbClr val="FFFFFF"/>
              </a:solidFill>
              <a:latin typeface="Roboto"/>
              <a:ea typeface="Roboto"/>
              <a:cs typeface="Roboto"/>
              <a:sym typeface="Roboto"/>
            </a:endParaRPr>
          </a:p>
        </p:txBody>
      </p:sp>
      <p:grpSp>
        <p:nvGrpSpPr>
          <p:cNvPr id="80" name="Google Shape;80;p15"/>
          <p:cNvGrpSpPr/>
          <p:nvPr/>
        </p:nvGrpSpPr>
        <p:grpSpPr>
          <a:xfrm>
            <a:off x="333375" y="1524000"/>
            <a:ext cx="3905400" cy="952500"/>
            <a:chOff x="0" y="0"/>
            <a:chExt cx="3905400" cy="952500"/>
          </a:xfrm>
        </p:grpSpPr>
        <p:sp>
          <p:nvSpPr>
            <p:cNvPr id="81" name="Google Shape;81;p15"/>
            <p:cNvSpPr/>
            <p:nvPr/>
          </p:nvSpPr>
          <p:spPr>
            <a:xfrm>
              <a:off x="0" y="0"/>
              <a:ext cx="3905400" cy="228600"/>
            </a:xfrm>
            <a:custGeom>
              <a:avLst/>
              <a:gdLst/>
              <a:ahLst/>
              <a:cxnLst/>
              <a:rect l="l" t="t" r="r" b="b"/>
              <a:pathLst>
                <a:path w="120000" h="120000" extrusionOk="0">
                  <a:moveTo>
                    <a:pt x="0" y="0"/>
                  </a:moveTo>
                  <a:lnTo>
                    <a:pt x="114146" y="0"/>
                  </a:lnTo>
                  <a:lnTo>
                    <a:pt x="120000" y="120000"/>
                  </a:lnTo>
                  <a:lnTo>
                    <a:pt x="114146" y="120000"/>
                  </a:lnTo>
                  <a:lnTo>
                    <a:pt x="0" y="120000"/>
                  </a:lnTo>
                  <a:close/>
                </a:path>
              </a:pathLst>
            </a:custGeom>
            <a:solidFill>
              <a:srgbClr val="34A85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 name="Google Shape;82;p15"/>
            <p:cNvSpPr txBox="1"/>
            <p:nvPr/>
          </p:nvSpPr>
          <p:spPr>
            <a:xfrm>
              <a:off x="142875" y="0"/>
              <a:ext cx="34290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786" b="1">
                  <a:solidFill>
                    <a:srgbClr val="FFFFFF"/>
                  </a:solidFill>
                  <a:latin typeface="Roboto"/>
                  <a:ea typeface="Roboto"/>
                  <a:cs typeface="Roboto"/>
                  <a:sym typeface="Roboto"/>
                </a:rPr>
                <a:t>LEGAL &amp; APPROVALS</a:t>
              </a:r>
              <a:endParaRPr sz="786" b="1">
                <a:solidFill>
                  <a:srgbClr val="FFFFFF"/>
                </a:solidFill>
                <a:latin typeface="Roboto"/>
                <a:ea typeface="Roboto"/>
                <a:cs typeface="Roboto"/>
                <a:sym typeface="Roboto"/>
              </a:endParaRPr>
            </a:p>
          </p:txBody>
        </p:sp>
        <p:sp>
          <p:nvSpPr>
            <p:cNvPr id="83" name="Google Shape;83;p15"/>
            <p:cNvSpPr/>
            <p:nvPr/>
          </p:nvSpPr>
          <p:spPr>
            <a:xfrm>
              <a:off x="0" y="228600"/>
              <a:ext cx="3905400" cy="723900"/>
            </a:xfrm>
            <a:prstGeom prst="roundRect">
              <a:avLst>
                <a:gd name="adj" fmla="val 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84" name="Google Shape;84;p15"/>
            <p:cNvGrpSpPr/>
            <p:nvPr/>
          </p:nvGrpSpPr>
          <p:grpSpPr>
            <a:xfrm>
              <a:off x="142875" y="342900"/>
              <a:ext cx="476400" cy="476400"/>
              <a:chOff x="0" y="0"/>
              <a:chExt cx="476400" cy="476400"/>
            </a:xfrm>
          </p:grpSpPr>
          <p:sp>
            <p:nvSpPr>
              <p:cNvPr id="85" name="Google Shape;85;p15"/>
              <p:cNvSpPr/>
              <p:nvPr/>
            </p:nvSpPr>
            <p:spPr>
              <a:xfrm>
                <a:off x="0" y="0"/>
                <a:ext cx="476400" cy="476400"/>
              </a:xfrm>
              <a:prstGeom prst="roundRect">
                <a:avLst>
                  <a:gd name="adj" fmla="val 12000"/>
                </a:avLst>
              </a:prstGeom>
              <a:solidFill>
                <a:srgbClr val="F0FDF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6" name="Google Shape;86;p15"/>
              <p:cNvSpPr/>
              <p:nvPr/>
            </p:nvSpPr>
            <p:spPr>
              <a:xfrm>
                <a:off x="142875" y="142875"/>
                <a:ext cx="190500" cy="190500"/>
              </a:xfrm>
              <a:custGeom>
                <a:avLst/>
                <a:gdLst/>
                <a:ahLst/>
                <a:cxnLst/>
                <a:rect l="l" t="t" r="r" b="b"/>
                <a:pathLst>
                  <a:path w="120000" h="120000" extrusionOk="0">
                    <a:moveTo>
                      <a:pt x="0" y="120000"/>
                    </a:moveTo>
                    <a:lnTo>
                      <a:pt x="42000" y="30000"/>
                    </a:lnTo>
                    <a:lnTo>
                      <a:pt x="78000" y="78000"/>
                    </a:lnTo>
                    <a:lnTo>
                      <a:pt x="120000" y="0"/>
                    </a:lnTo>
                  </a:path>
                </a:pathLst>
              </a:custGeom>
              <a:solidFill>
                <a:srgbClr val="000000">
                  <a:alpha val="0"/>
                </a:srgbClr>
              </a:solidFill>
              <a:ln w="23825" cap="rnd" cmpd="sng">
                <a:solidFill>
                  <a:srgbClr val="16A34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 name="Google Shape;87;p15"/>
              <p:cNvSpPr/>
              <p:nvPr/>
            </p:nvSpPr>
            <p:spPr>
              <a:xfrm>
                <a:off x="114300" y="361950"/>
                <a:ext cx="247800" cy="0"/>
              </a:xfrm>
              <a:custGeom>
                <a:avLst/>
                <a:gdLst/>
                <a:ahLst/>
                <a:cxnLst/>
                <a:rect l="l" t="t" r="r" b="b"/>
                <a:pathLst>
                  <a:path w="120000" h="120000" fill="none" extrusionOk="0">
                    <a:moveTo>
                      <a:pt x="0" y="0"/>
                    </a:moveTo>
                    <a:lnTo>
                      <a:pt x="120000" y="0"/>
                    </a:lnTo>
                  </a:path>
                </a:pathLst>
              </a:custGeom>
              <a:solidFill>
                <a:srgbClr val="FFFFFF"/>
              </a:solidFill>
              <a:ln w="19050" cap="rnd" cmpd="sng">
                <a:solidFill>
                  <a:srgbClr val="16A34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88" name="Google Shape;88;p15"/>
            <p:cNvSpPr txBox="1"/>
            <p:nvPr/>
          </p:nvSpPr>
          <p:spPr>
            <a:xfrm>
              <a:off x="714375" y="285750"/>
              <a:ext cx="3048000" cy="619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79" b="1">
                  <a:solidFill>
                    <a:srgbClr val="111827"/>
                  </a:solidFill>
                  <a:latin typeface="Roboto"/>
                  <a:ea typeface="Roboto"/>
                  <a:cs typeface="Roboto"/>
                  <a:sym typeface="Roboto"/>
                </a:rPr>
                <a:t>Final Contracts &amp; Sign-Offs</a:t>
              </a:r>
              <a:endParaRPr sz="879" b="1">
                <a:solidFill>
                  <a:srgbClr val="111827"/>
                </a:solidFill>
                <a:latin typeface="Roboto"/>
                <a:ea typeface="Roboto"/>
                <a:cs typeface="Roboto"/>
                <a:sym typeface="Roboto"/>
              </a:endParaRPr>
            </a:p>
            <a:p>
              <a:pPr marL="0" lvl="0" indent="0" algn="l" rtl="0">
                <a:spcBef>
                  <a:spcPts val="0"/>
                </a:spcBef>
                <a:spcAft>
                  <a:spcPts val="0"/>
                </a:spcAft>
                <a:buNone/>
              </a:pPr>
              <a:r>
                <a:rPr lang="en" sz="800" b="0">
                  <a:solidFill>
                    <a:srgbClr val="4B5563"/>
                  </a:solidFill>
                  <a:latin typeface="Roboto"/>
                  <a:ea typeface="Roboto"/>
                  <a:cs typeface="Roboto"/>
                  <a:sym typeface="Roboto"/>
                </a:rPr>
                <a:t>Finish contract deals with Anthropic, get team sign-offs, and complete security checks by Dec 1.</a:t>
              </a:r>
              <a:endParaRPr sz="800" b="1">
                <a:solidFill>
                  <a:srgbClr val="111827"/>
                </a:solidFill>
                <a:latin typeface="Roboto"/>
                <a:ea typeface="Roboto"/>
                <a:cs typeface="Roboto"/>
                <a:sym typeface="Roboto"/>
              </a:endParaRPr>
            </a:p>
          </p:txBody>
        </p:sp>
      </p:grpSp>
      <p:grpSp>
        <p:nvGrpSpPr>
          <p:cNvPr id="89" name="Google Shape;89;p15"/>
          <p:cNvGrpSpPr/>
          <p:nvPr/>
        </p:nvGrpSpPr>
        <p:grpSpPr>
          <a:xfrm>
            <a:off x="333375" y="2619375"/>
            <a:ext cx="3905400" cy="952500"/>
            <a:chOff x="0" y="0"/>
            <a:chExt cx="3905400" cy="952500"/>
          </a:xfrm>
        </p:grpSpPr>
        <p:sp>
          <p:nvSpPr>
            <p:cNvPr id="90" name="Google Shape;90;p15"/>
            <p:cNvSpPr/>
            <p:nvPr/>
          </p:nvSpPr>
          <p:spPr>
            <a:xfrm>
              <a:off x="0" y="0"/>
              <a:ext cx="3905400" cy="228600"/>
            </a:xfrm>
            <a:custGeom>
              <a:avLst/>
              <a:gdLst/>
              <a:ahLst/>
              <a:cxnLst/>
              <a:rect l="l" t="t" r="r" b="b"/>
              <a:pathLst>
                <a:path w="120000" h="120000" extrusionOk="0">
                  <a:moveTo>
                    <a:pt x="0" y="0"/>
                  </a:moveTo>
                  <a:lnTo>
                    <a:pt x="114146" y="0"/>
                  </a:lnTo>
                  <a:lnTo>
                    <a:pt x="120000" y="120000"/>
                  </a:lnTo>
                  <a:lnTo>
                    <a:pt x="114146" y="120000"/>
                  </a:lnTo>
                  <a:lnTo>
                    <a:pt x="0" y="120000"/>
                  </a:lnTo>
                  <a:close/>
                </a:path>
              </a:pathLst>
            </a:custGeom>
            <a:solidFill>
              <a:srgbClr val="34A85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 name="Google Shape;91;p15"/>
            <p:cNvSpPr txBox="1"/>
            <p:nvPr/>
          </p:nvSpPr>
          <p:spPr>
            <a:xfrm>
              <a:off x="142875" y="0"/>
              <a:ext cx="34290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786" b="1">
                  <a:solidFill>
                    <a:srgbClr val="FFFFFF"/>
                  </a:solidFill>
                  <a:latin typeface="Roboto"/>
                  <a:ea typeface="Roboto"/>
                  <a:cs typeface="Roboto"/>
                  <a:sym typeface="Roboto"/>
                </a:rPr>
                <a:t>BUDGET &amp; LICENSES</a:t>
              </a:r>
              <a:endParaRPr sz="786" b="1">
                <a:solidFill>
                  <a:srgbClr val="FFFFFF"/>
                </a:solidFill>
                <a:latin typeface="Roboto"/>
                <a:ea typeface="Roboto"/>
                <a:cs typeface="Roboto"/>
                <a:sym typeface="Roboto"/>
              </a:endParaRPr>
            </a:p>
          </p:txBody>
        </p:sp>
        <p:sp>
          <p:nvSpPr>
            <p:cNvPr id="92" name="Google Shape;92;p15"/>
            <p:cNvSpPr/>
            <p:nvPr/>
          </p:nvSpPr>
          <p:spPr>
            <a:xfrm>
              <a:off x="0" y="228600"/>
              <a:ext cx="3905400" cy="723900"/>
            </a:xfrm>
            <a:prstGeom prst="roundRect">
              <a:avLst>
                <a:gd name="adj" fmla="val 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93" name="Google Shape;93;p15"/>
            <p:cNvGrpSpPr/>
            <p:nvPr/>
          </p:nvGrpSpPr>
          <p:grpSpPr>
            <a:xfrm>
              <a:off x="142875" y="342900"/>
              <a:ext cx="476400" cy="476400"/>
              <a:chOff x="0" y="0"/>
              <a:chExt cx="476400" cy="476400"/>
            </a:xfrm>
          </p:grpSpPr>
          <p:sp>
            <p:nvSpPr>
              <p:cNvPr id="94" name="Google Shape;94;p15"/>
              <p:cNvSpPr/>
              <p:nvPr/>
            </p:nvSpPr>
            <p:spPr>
              <a:xfrm>
                <a:off x="0" y="0"/>
                <a:ext cx="476400" cy="476400"/>
              </a:xfrm>
              <a:prstGeom prst="roundRect">
                <a:avLst>
                  <a:gd name="adj" fmla="val 12000"/>
                </a:avLst>
              </a:prstGeom>
              <a:solidFill>
                <a:srgbClr val="F0FDF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5" name="Google Shape;95;p15"/>
              <p:cNvSpPr/>
              <p:nvPr/>
            </p:nvSpPr>
            <p:spPr>
              <a:xfrm>
                <a:off x="133350" y="276225"/>
                <a:ext cx="114300" cy="114300"/>
              </a:xfrm>
              <a:prstGeom prst="ellipse">
                <a:avLst/>
              </a:prstGeom>
              <a:solidFill>
                <a:srgbClr val="16A34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6" name="Google Shape;96;p15"/>
              <p:cNvSpPr/>
              <p:nvPr/>
            </p:nvSpPr>
            <p:spPr>
              <a:xfrm>
                <a:off x="228600" y="276225"/>
                <a:ext cx="114300" cy="114300"/>
              </a:xfrm>
              <a:prstGeom prst="ellipse">
                <a:avLst/>
              </a:prstGeom>
              <a:solidFill>
                <a:srgbClr val="22C55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 name="Google Shape;97;p15"/>
              <p:cNvSpPr/>
              <p:nvPr/>
            </p:nvSpPr>
            <p:spPr>
              <a:xfrm>
                <a:off x="180975" y="180975"/>
                <a:ext cx="114300" cy="114300"/>
              </a:xfrm>
              <a:prstGeom prst="ellipse">
                <a:avLst/>
              </a:prstGeom>
              <a:solidFill>
                <a:srgbClr val="4ADE8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8" name="Google Shape;98;p15"/>
              <p:cNvSpPr/>
              <p:nvPr/>
            </p:nvSpPr>
            <p:spPr>
              <a:xfrm>
                <a:off x="142875" y="171450"/>
                <a:ext cx="190500" cy="0"/>
              </a:xfrm>
              <a:custGeom>
                <a:avLst/>
                <a:gdLst/>
                <a:ahLst/>
                <a:cxnLst/>
                <a:rect l="l" t="t" r="r" b="b"/>
                <a:pathLst>
                  <a:path w="120000" h="120000" fill="none" extrusionOk="0">
                    <a:moveTo>
                      <a:pt x="0" y="0"/>
                    </a:moveTo>
                    <a:lnTo>
                      <a:pt x="120000" y="0"/>
                    </a:lnTo>
                  </a:path>
                </a:pathLst>
              </a:custGeom>
              <a:solidFill>
                <a:srgbClr val="FFFFFF"/>
              </a:solidFill>
              <a:ln w="19050" cap="rnd" cmpd="sng">
                <a:solidFill>
                  <a:srgbClr val="16A34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99" name="Google Shape;99;p15"/>
            <p:cNvSpPr txBox="1"/>
            <p:nvPr/>
          </p:nvSpPr>
          <p:spPr>
            <a:xfrm>
              <a:off x="714375" y="285750"/>
              <a:ext cx="3048000" cy="619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79" b="1">
                  <a:solidFill>
                    <a:srgbClr val="111827"/>
                  </a:solidFill>
                  <a:latin typeface="Roboto"/>
                  <a:ea typeface="Roboto"/>
                  <a:cs typeface="Roboto"/>
                  <a:sym typeface="Roboto"/>
                </a:rPr>
                <a:t>Budgeting &amp; Account Setup</a:t>
              </a:r>
              <a:endParaRPr sz="879" b="1">
                <a:solidFill>
                  <a:srgbClr val="111827"/>
                </a:solidFill>
                <a:latin typeface="Roboto"/>
                <a:ea typeface="Roboto"/>
                <a:cs typeface="Roboto"/>
                <a:sym typeface="Roboto"/>
              </a:endParaRPr>
            </a:p>
            <a:p>
              <a:pPr marL="0" lvl="0" indent="0" algn="l" rtl="0">
                <a:spcBef>
                  <a:spcPts val="0"/>
                </a:spcBef>
                <a:spcAft>
                  <a:spcPts val="0"/>
                </a:spcAft>
                <a:buNone/>
              </a:pPr>
              <a:r>
                <a:rPr lang="en" sz="800" b="0">
                  <a:solidFill>
                    <a:srgbClr val="4B5563"/>
                  </a:solidFill>
                  <a:latin typeface="Roboto"/>
                  <a:ea typeface="Roboto"/>
                  <a:cs typeface="Roboto"/>
                  <a:sym typeface="Roboto"/>
                </a:rPr>
                <a:t>Set up team payment plans and hand out official user licenses to engineering teams.</a:t>
              </a:r>
              <a:endParaRPr sz="800" b="1">
                <a:solidFill>
                  <a:srgbClr val="111827"/>
                </a:solidFill>
                <a:latin typeface="Roboto"/>
                <a:ea typeface="Roboto"/>
                <a:cs typeface="Roboto"/>
                <a:sym typeface="Roboto"/>
              </a:endParaRPr>
            </a:p>
          </p:txBody>
        </p:sp>
      </p:grpSp>
      <p:grpSp>
        <p:nvGrpSpPr>
          <p:cNvPr id="100" name="Google Shape;100;p15"/>
          <p:cNvGrpSpPr/>
          <p:nvPr/>
        </p:nvGrpSpPr>
        <p:grpSpPr>
          <a:xfrm>
            <a:off x="333375" y="3714750"/>
            <a:ext cx="3905400" cy="952500"/>
            <a:chOff x="0" y="0"/>
            <a:chExt cx="3905400" cy="952500"/>
          </a:xfrm>
        </p:grpSpPr>
        <p:sp>
          <p:nvSpPr>
            <p:cNvPr id="101" name="Google Shape;101;p15"/>
            <p:cNvSpPr/>
            <p:nvPr/>
          </p:nvSpPr>
          <p:spPr>
            <a:xfrm>
              <a:off x="0" y="0"/>
              <a:ext cx="3905400" cy="228600"/>
            </a:xfrm>
            <a:custGeom>
              <a:avLst/>
              <a:gdLst/>
              <a:ahLst/>
              <a:cxnLst/>
              <a:rect l="l" t="t" r="r" b="b"/>
              <a:pathLst>
                <a:path w="120000" h="120000" extrusionOk="0">
                  <a:moveTo>
                    <a:pt x="0" y="0"/>
                  </a:moveTo>
                  <a:lnTo>
                    <a:pt x="114146" y="0"/>
                  </a:lnTo>
                  <a:lnTo>
                    <a:pt x="120000" y="120000"/>
                  </a:lnTo>
                  <a:lnTo>
                    <a:pt x="114146" y="120000"/>
                  </a:lnTo>
                  <a:lnTo>
                    <a:pt x="0" y="120000"/>
                  </a:lnTo>
                  <a:close/>
                </a:path>
              </a:pathLst>
            </a:custGeom>
            <a:solidFill>
              <a:srgbClr val="34A85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2" name="Google Shape;102;p15"/>
            <p:cNvSpPr txBox="1"/>
            <p:nvPr/>
          </p:nvSpPr>
          <p:spPr>
            <a:xfrm>
              <a:off x="142875" y="0"/>
              <a:ext cx="34290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786" b="1">
                  <a:solidFill>
                    <a:srgbClr val="FFFFFF"/>
                  </a:solidFill>
                  <a:latin typeface="Roboto"/>
                  <a:ea typeface="Roboto"/>
                  <a:cs typeface="Roboto"/>
                  <a:sym typeface="Roboto"/>
                </a:rPr>
                <a:t>TEAM LEADERSHIP</a:t>
              </a:r>
              <a:endParaRPr sz="786" b="1">
                <a:solidFill>
                  <a:srgbClr val="FFFFFF"/>
                </a:solidFill>
                <a:latin typeface="Roboto"/>
                <a:ea typeface="Roboto"/>
                <a:cs typeface="Roboto"/>
                <a:sym typeface="Roboto"/>
              </a:endParaRPr>
            </a:p>
          </p:txBody>
        </p:sp>
        <p:sp>
          <p:nvSpPr>
            <p:cNvPr id="103" name="Google Shape;103;p15"/>
            <p:cNvSpPr/>
            <p:nvPr/>
          </p:nvSpPr>
          <p:spPr>
            <a:xfrm>
              <a:off x="0" y="228600"/>
              <a:ext cx="3905400" cy="723900"/>
            </a:xfrm>
            <a:prstGeom prst="roundRect">
              <a:avLst>
                <a:gd name="adj" fmla="val 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04" name="Google Shape;104;p15"/>
            <p:cNvGrpSpPr/>
            <p:nvPr/>
          </p:nvGrpSpPr>
          <p:grpSpPr>
            <a:xfrm>
              <a:off x="142875" y="342900"/>
              <a:ext cx="476400" cy="476400"/>
              <a:chOff x="0" y="0"/>
              <a:chExt cx="476400" cy="476400"/>
            </a:xfrm>
          </p:grpSpPr>
          <p:sp>
            <p:nvSpPr>
              <p:cNvPr id="105" name="Google Shape;105;p15"/>
              <p:cNvSpPr/>
              <p:nvPr/>
            </p:nvSpPr>
            <p:spPr>
              <a:xfrm>
                <a:off x="0" y="0"/>
                <a:ext cx="476400" cy="476400"/>
              </a:xfrm>
              <a:prstGeom prst="roundRect">
                <a:avLst>
                  <a:gd name="adj" fmla="val 12000"/>
                </a:avLst>
              </a:prstGeom>
              <a:solidFill>
                <a:srgbClr val="F0FDF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6" name="Google Shape;106;p15"/>
              <p:cNvSpPr/>
              <p:nvPr/>
            </p:nvSpPr>
            <p:spPr>
              <a:xfrm>
                <a:off x="123825" y="142875"/>
                <a:ext cx="95400" cy="95400"/>
              </a:xfrm>
              <a:prstGeom prst="ellipse">
                <a:avLst/>
              </a:prstGeom>
              <a:solidFill>
                <a:srgbClr val="16A34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7" name="Google Shape;107;p15"/>
              <p:cNvSpPr/>
              <p:nvPr/>
            </p:nvSpPr>
            <p:spPr>
              <a:xfrm>
                <a:off x="257175" y="142875"/>
                <a:ext cx="95400" cy="95400"/>
              </a:xfrm>
              <a:prstGeom prst="ellipse">
                <a:avLst/>
              </a:prstGeom>
              <a:solidFill>
                <a:srgbClr val="16A34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8" name="Google Shape;108;p15"/>
              <p:cNvSpPr/>
              <p:nvPr/>
            </p:nvSpPr>
            <p:spPr>
              <a:xfrm>
                <a:off x="114300" y="266700"/>
                <a:ext cx="114300" cy="66600"/>
              </a:xfrm>
              <a:custGeom>
                <a:avLst/>
                <a:gdLst/>
                <a:ahLst/>
                <a:cxnLst/>
                <a:rect l="l" t="t" r="r" b="b"/>
                <a:pathLst>
                  <a:path w="120000" h="120000" extrusionOk="0">
                    <a:moveTo>
                      <a:pt x="0" y="120000"/>
                    </a:moveTo>
                    <a:cubicBezTo>
                      <a:pt x="0" y="0"/>
                      <a:pt x="120000" y="0"/>
                      <a:pt x="120000" y="120000"/>
                    </a:cubicBezTo>
                  </a:path>
                </a:pathLst>
              </a:custGeom>
              <a:solidFill>
                <a:srgbClr val="000000">
                  <a:alpha val="0"/>
                </a:srgbClr>
              </a:solidFill>
              <a:ln w="19050" cap="flat" cmpd="sng">
                <a:solidFill>
                  <a:srgbClr val="16A34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9" name="Google Shape;109;p15"/>
              <p:cNvSpPr/>
              <p:nvPr/>
            </p:nvSpPr>
            <p:spPr>
              <a:xfrm>
                <a:off x="247650" y="266700"/>
                <a:ext cx="114300" cy="66600"/>
              </a:xfrm>
              <a:custGeom>
                <a:avLst/>
                <a:gdLst/>
                <a:ahLst/>
                <a:cxnLst/>
                <a:rect l="l" t="t" r="r" b="b"/>
                <a:pathLst>
                  <a:path w="120000" h="120000" extrusionOk="0">
                    <a:moveTo>
                      <a:pt x="0" y="120000"/>
                    </a:moveTo>
                    <a:cubicBezTo>
                      <a:pt x="0" y="0"/>
                      <a:pt x="120000" y="0"/>
                      <a:pt x="120000" y="120000"/>
                    </a:cubicBezTo>
                  </a:path>
                </a:pathLst>
              </a:custGeom>
              <a:solidFill>
                <a:srgbClr val="000000">
                  <a:alpha val="0"/>
                </a:srgbClr>
              </a:solidFill>
              <a:ln w="19050" cap="flat" cmpd="sng">
                <a:solidFill>
                  <a:srgbClr val="16A34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10" name="Google Shape;110;p15"/>
            <p:cNvSpPr txBox="1"/>
            <p:nvPr/>
          </p:nvSpPr>
          <p:spPr>
            <a:xfrm>
              <a:off x="714375" y="285750"/>
              <a:ext cx="3048000" cy="619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79" b="1">
                  <a:solidFill>
                    <a:srgbClr val="111827"/>
                  </a:solidFill>
                  <a:latin typeface="Roboto"/>
                  <a:ea typeface="Roboto"/>
                  <a:cs typeface="Roboto"/>
                  <a:sym typeface="Roboto"/>
                </a:rPr>
                <a:t>Leadership &amp; Tool Coexistence</a:t>
              </a:r>
              <a:endParaRPr sz="879" b="1">
                <a:solidFill>
                  <a:srgbClr val="111827"/>
                </a:solidFill>
                <a:latin typeface="Roboto"/>
                <a:ea typeface="Roboto"/>
                <a:cs typeface="Roboto"/>
                <a:sym typeface="Roboto"/>
              </a:endParaRPr>
            </a:p>
            <a:p>
              <a:pPr marL="0" lvl="0" indent="0" algn="l" rtl="0">
                <a:spcBef>
                  <a:spcPts val="0"/>
                </a:spcBef>
                <a:spcAft>
                  <a:spcPts val="0"/>
                </a:spcAft>
                <a:buNone/>
              </a:pPr>
              <a:r>
                <a:rPr lang="en" sz="800" b="0">
                  <a:solidFill>
                    <a:srgbClr val="4B5563"/>
                  </a:solidFill>
                  <a:latin typeface="Roboto"/>
                  <a:ea typeface="Roboto"/>
                  <a:cs typeface="Roboto"/>
                  <a:sym typeface="Roboto"/>
                </a:rPr>
                <a:t>Run Claude alongside Copilot smoothly, with full team agreement between Yannick and Brad.</a:t>
              </a:r>
              <a:endParaRPr sz="800" b="1">
                <a:solidFill>
                  <a:srgbClr val="111827"/>
                </a:solidFill>
                <a:latin typeface="Roboto"/>
                <a:ea typeface="Roboto"/>
                <a:cs typeface="Roboto"/>
                <a:sym typeface="Roboto"/>
              </a:endParaRPr>
            </a:p>
          </p:txBody>
        </p:sp>
      </p:grpSp>
      <p:grpSp>
        <p:nvGrpSpPr>
          <p:cNvPr id="111" name="Google Shape;111;p15"/>
          <p:cNvGrpSpPr/>
          <p:nvPr/>
        </p:nvGrpSpPr>
        <p:grpSpPr>
          <a:xfrm>
            <a:off x="4905375" y="1524000"/>
            <a:ext cx="3905400" cy="952500"/>
            <a:chOff x="0" y="0"/>
            <a:chExt cx="3905400" cy="952500"/>
          </a:xfrm>
        </p:grpSpPr>
        <p:sp>
          <p:nvSpPr>
            <p:cNvPr id="112" name="Google Shape;112;p15"/>
            <p:cNvSpPr/>
            <p:nvPr/>
          </p:nvSpPr>
          <p:spPr>
            <a:xfrm>
              <a:off x="0" y="0"/>
              <a:ext cx="3905400" cy="228600"/>
            </a:xfrm>
            <a:custGeom>
              <a:avLst/>
              <a:gdLst/>
              <a:ahLst/>
              <a:cxnLst/>
              <a:rect l="l" t="t" r="r" b="b"/>
              <a:pathLst>
                <a:path w="120000" h="120000" extrusionOk="0">
                  <a:moveTo>
                    <a:pt x="5854" y="0"/>
                  </a:moveTo>
                  <a:lnTo>
                    <a:pt x="120000" y="0"/>
                  </a:lnTo>
                  <a:lnTo>
                    <a:pt x="120000" y="120000"/>
                  </a:lnTo>
                  <a:lnTo>
                    <a:pt x="0" y="120000"/>
                  </a:lnTo>
                  <a:lnTo>
                    <a:pt x="5854" y="120000"/>
                  </a:lnTo>
                  <a:close/>
                </a:path>
              </a:pathLst>
            </a:custGeom>
            <a:solidFill>
              <a:srgbClr val="5C7C9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3" name="Google Shape;113;p15"/>
            <p:cNvSpPr txBox="1"/>
            <p:nvPr/>
          </p:nvSpPr>
          <p:spPr>
            <a:xfrm>
              <a:off x="333375" y="0"/>
              <a:ext cx="34290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786" b="1">
                  <a:solidFill>
                    <a:srgbClr val="FFFFFF"/>
                  </a:solidFill>
                  <a:latin typeface="Roboto"/>
                  <a:ea typeface="Roboto"/>
                  <a:cs typeface="Roboto"/>
                  <a:sym typeface="Roboto"/>
                </a:rPr>
                <a:t>OFFBOARDING PROCESS</a:t>
              </a:r>
              <a:endParaRPr sz="786" b="1">
                <a:solidFill>
                  <a:srgbClr val="FFFFFF"/>
                </a:solidFill>
                <a:latin typeface="Roboto"/>
                <a:ea typeface="Roboto"/>
                <a:cs typeface="Roboto"/>
                <a:sym typeface="Roboto"/>
              </a:endParaRPr>
            </a:p>
          </p:txBody>
        </p:sp>
        <p:sp>
          <p:nvSpPr>
            <p:cNvPr id="114" name="Google Shape;114;p15"/>
            <p:cNvSpPr/>
            <p:nvPr/>
          </p:nvSpPr>
          <p:spPr>
            <a:xfrm>
              <a:off x="0" y="228600"/>
              <a:ext cx="3905400" cy="723900"/>
            </a:xfrm>
            <a:prstGeom prst="roundRect">
              <a:avLst>
                <a:gd name="adj" fmla="val 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15" name="Google Shape;115;p15"/>
            <p:cNvGrpSpPr/>
            <p:nvPr/>
          </p:nvGrpSpPr>
          <p:grpSpPr>
            <a:xfrm>
              <a:off x="142875" y="342900"/>
              <a:ext cx="476400" cy="476400"/>
              <a:chOff x="0" y="0"/>
              <a:chExt cx="476400" cy="476400"/>
            </a:xfrm>
          </p:grpSpPr>
          <p:sp>
            <p:nvSpPr>
              <p:cNvPr id="116" name="Google Shape;116;p15"/>
              <p:cNvSpPr/>
              <p:nvPr/>
            </p:nvSpPr>
            <p:spPr>
              <a:xfrm>
                <a:off x="0" y="0"/>
                <a:ext cx="476400" cy="476400"/>
              </a:xfrm>
              <a:prstGeom prst="roundRect">
                <a:avLst>
                  <a:gd name="adj" fmla="val 12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7" name="Google Shape;117;p15"/>
              <p:cNvSpPr/>
              <p:nvPr/>
            </p:nvSpPr>
            <p:spPr>
              <a:xfrm>
                <a:off x="133350" y="180975"/>
                <a:ext cx="114300" cy="114300"/>
              </a:xfrm>
              <a:prstGeom prst="ellipse">
                <a:avLst/>
              </a:prstGeom>
              <a:solidFill>
                <a:srgbClr val="000000">
                  <a:alpha val="0"/>
                </a:srgbClr>
              </a:solidFill>
              <a:ln w="19050" cap="flat" cmpd="sng">
                <a:solidFill>
                  <a:srgbClr val="47556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8" name="Google Shape;118;p15"/>
              <p:cNvSpPr/>
              <p:nvPr/>
            </p:nvSpPr>
            <p:spPr>
              <a:xfrm>
                <a:off x="247650" y="238125"/>
                <a:ext cx="95400" cy="66600"/>
              </a:xfrm>
              <a:custGeom>
                <a:avLst/>
                <a:gdLst/>
                <a:ahLst/>
                <a:cxnLst/>
                <a:rect l="l" t="t" r="r" b="b"/>
                <a:pathLst>
                  <a:path w="120000" h="120000" extrusionOk="0">
                    <a:moveTo>
                      <a:pt x="0" y="0"/>
                    </a:moveTo>
                    <a:lnTo>
                      <a:pt x="120000" y="0"/>
                    </a:lnTo>
                    <a:lnTo>
                      <a:pt x="120000" y="68571"/>
                    </a:lnTo>
                    <a:lnTo>
                      <a:pt x="72000" y="68571"/>
                    </a:lnTo>
                    <a:lnTo>
                      <a:pt x="72000" y="120000"/>
                    </a:lnTo>
                    <a:lnTo>
                      <a:pt x="24000" y="120000"/>
                    </a:lnTo>
                  </a:path>
                </a:pathLst>
              </a:custGeom>
              <a:solidFill>
                <a:srgbClr val="000000">
                  <a:alpha val="0"/>
                </a:srgbClr>
              </a:solidFill>
              <a:ln w="19050" cap="rnd" cmpd="sng">
                <a:solidFill>
                  <a:srgbClr val="47556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19" name="Google Shape;119;p15"/>
            <p:cNvSpPr txBox="1"/>
            <p:nvPr/>
          </p:nvSpPr>
          <p:spPr>
            <a:xfrm>
              <a:off x="714375" y="285750"/>
              <a:ext cx="3048000" cy="619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79" b="1">
                  <a:solidFill>
                    <a:srgbClr val="111827"/>
                  </a:solidFill>
                  <a:latin typeface="Roboto"/>
                  <a:ea typeface="Roboto"/>
                  <a:cs typeface="Roboto"/>
                  <a:sym typeface="Roboto"/>
                </a:rPr>
                <a:t>Closing Access &amp; Winding Down</a:t>
              </a:r>
              <a:endParaRPr sz="879" b="1">
                <a:solidFill>
                  <a:srgbClr val="111827"/>
                </a:solidFill>
                <a:latin typeface="Roboto"/>
                <a:ea typeface="Roboto"/>
                <a:cs typeface="Roboto"/>
                <a:sym typeface="Roboto"/>
              </a:endParaRPr>
            </a:p>
            <a:p>
              <a:pPr marL="0" lvl="0" indent="0" algn="l" rtl="0">
                <a:spcBef>
                  <a:spcPts val="0"/>
                </a:spcBef>
                <a:spcAft>
                  <a:spcPts val="0"/>
                </a:spcAft>
                <a:buNone/>
              </a:pPr>
              <a:r>
                <a:rPr lang="en" sz="800" b="0">
                  <a:solidFill>
                    <a:srgbClr val="4B5563"/>
                  </a:solidFill>
                  <a:latin typeface="Roboto"/>
                  <a:ea typeface="Roboto"/>
                  <a:cs typeface="Roboto"/>
                  <a:sym typeface="Roboto"/>
                </a:rPr>
                <a:t>Support teams will end the trial, close user accounts, and remove user access cleanly.</a:t>
              </a:r>
              <a:endParaRPr sz="800" b="1">
                <a:solidFill>
                  <a:srgbClr val="111827"/>
                </a:solidFill>
                <a:latin typeface="Roboto"/>
                <a:ea typeface="Roboto"/>
                <a:cs typeface="Roboto"/>
                <a:sym typeface="Roboto"/>
              </a:endParaRPr>
            </a:p>
          </p:txBody>
        </p:sp>
      </p:grpSp>
      <p:grpSp>
        <p:nvGrpSpPr>
          <p:cNvPr id="120" name="Google Shape;120;p15"/>
          <p:cNvGrpSpPr/>
          <p:nvPr/>
        </p:nvGrpSpPr>
        <p:grpSpPr>
          <a:xfrm>
            <a:off x="4905375" y="2619375"/>
            <a:ext cx="3905400" cy="952500"/>
            <a:chOff x="0" y="0"/>
            <a:chExt cx="3905400" cy="952500"/>
          </a:xfrm>
        </p:grpSpPr>
        <p:sp>
          <p:nvSpPr>
            <p:cNvPr id="121" name="Google Shape;121;p15"/>
            <p:cNvSpPr/>
            <p:nvPr/>
          </p:nvSpPr>
          <p:spPr>
            <a:xfrm>
              <a:off x="0" y="0"/>
              <a:ext cx="3905400" cy="228600"/>
            </a:xfrm>
            <a:custGeom>
              <a:avLst/>
              <a:gdLst/>
              <a:ahLst/>
              <a:cxnLst/>
              <a:rect l="l" t="t" r="r" b="b"/>
              <a:pathLst>
                <a:path w="120000" h="120000" extrusionOk="0">
                  <a:moveTo>
                    <a:pt x="5854" y="0"/>
                  </a:moveTo>
                  <a:lnTo>
                    <a:pt x="120000" y="0"/>
                  </a:lnTo>
                  <a:lnTo>
                    <a:pt x="120000" y="120000"/>
                  </a:lnTo>
                  <a:lnTo>
                    <a:pt x="0" y="120000"/>
                  </a:lnTo>
                  <a:lnTo>
                    <a:pt x="5854" y="120000"/>
                  </a:lnTo>
                  <a:close/>
                </a:path>
              </a:pathLst>
            </a:custGeom>
            <a:solidFill>
              <a:srgbClr val="5C7C9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2" name="Google Shape;122;p15"/>
            <p:cNvSpPr txBox="1"/>
            <p:nvPr/>
          </p:nvSpPr>
          <p:spPr>
            <a:xfrm>
              <a:off x="333375" y="0"/>
              <a:ext cx="34290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786" b="1">
                  <a:solidFill>
                    <a:srgbClr val="FFFFFF"/>
                  </a:solidFill>
                  <a:latin typeface="Roboto"/>
                  <a:ea typeface="Roboto"/>
                  <a:cs typeface="Roboto"/>
                  <a:sym typeface="Roboto"/>
                </a:rPr>
                <a:t>TEAM TRANSITION</a:t>
              </a:r>
              <a:endParaRPr sz="786" b="1">
                <a:solidFill>
                  <a:srgbClr val="FFFFFF"/>
                </a:solidFill>
                <a:latin typeface="Roboto"/>
                <a:ea typeface="Roboto"/>
                <a:cs typeface="Roboto"/>
                <a:sym typeface="Roboto"/>
              </a:endParaRPr>
            </a:p>
          </p:txBody>
        </p:sp>
        <p:sp>
          <p:nvSpPr>
            <p:cNvPr id="123" name="Google Shape;123;p15"/>
            <p:cNvSpPr/>
            <p:nvPr/>
          </p:nvSpPr>
          <p:spPr>
            <a:xfrm>
              <a:off x="0" y="228600"/>
              <a:ext cx="3905400" cy="723900"/>
            </a:xfrm>
            <a:prstGeom prst="roundRect">
              <a:avLst>
                <a:gd name="adj" fmla="val 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24" name="Google Shape;124;p15"/>
            <p:cNvGrpSpPr/>
            <p:nvPr/>
          </p:nvGrpSpPr>
          <p:grpSpPr>
            <a:xfrm>
              <a:off x="142875" y="342900"/>
              <a:ext cx="476400" cy="476400"/>
              <a:chOff x="0" y="0"/>
              <a:chExt cx="476400" cy="476400"/>
            </a:xfrm>
          </p:grpSpPr>
          <p:sp>
            <p:nvSpPr>
              <p:cNvPr id="125" name="Google Shape;125;p15"/>
              <p:cNvSpPr/>
              <p:nvPr/>
            </p:nvSpPr>
            <p:spPr>
              <a:xfrm>
                <a:off x="0" y="0"/>
                <a:ext cx="476400" cy="476400"/>
              </a:xfrm>
              <a:prstGeom prst="roundRect">
                <a:avLst>
                  <a:gd name="adj" fmla="val 12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6" name="Google Shape;126;p15"/>
              <p:cNvSpPr/>
              <p:nvPr/>
            </p:nvSpPr>
            <p:spPr>
              <a:xfrm>
                <a:off x="114300" y="142875"/>
                <a:ext cx="247800" cy="190500"/>
              </a:xfrm>
              <a:prstGeom prst="roundRect">
                <a:avLst>
                  <a:gd name="adj" fmla="val 10000"/>
                </a:avLst>
              </a:prstGeom>
              <a:solidFill>
                <a:srgbClr val="000000">
                  <a:alpha val="0"/>
                </a:srgbClr>
              </a:solidFill>
              <a:ln w="19050" cap="flat" cmpd="sng">
                <a:solidFill>
                  <a:srgbClr val="47556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7" name="Google Shape;127;p15"/>
              <p:cNvSpPr/>
              <p:nvPr/>
            </p:nvSpPr>
            <p:spPr>
              <a:xfrm>
                <a:off x="238125" y="238125"/>
                <a:ext cx="123900" cy="95400"/>
              </a:xfrm>
              <a:custGeom>
                <a:avLst/>
                <a:gdLst/>
                <a:ahLst/>
                <a:cxnLst/>
                <a:rect l="l" t="t" r="r" b="b"/>
                <a:pathLst>
                  <a:path w="120000" h="120000" fill="none" extrusionOk="0">
                    <a:moveTo>
                      <a:pt x="0" y="0"/>
                    </a:moveTo>
                    <a:lnTo>
                      <a:pt x="120000" y="120000"/>
                    </a:lnTo>
                  </a:path>
                </a:pathLst>
              </a:custGeom>
              <a:solidFill>
                <a:srgbClr val="FFFFFF"/>
              </a:solidFill>
              <a:ln w="19050" cap="rnd" cmpd="sng">
                <a:solidFill>
                  <a:srgbClr val="47556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8" name="Google Shape;128;p15"/>
              <p:cNvSpPr/>
              <p:nvPr/>
            </p:nvSpPr>
            <p:spPr>
              <a:xfrm>
                <a:off x="285750" y="285750"/>
                <a:ext cx="114300" cy="95400"/>
              </a:xfrm>
              <a:prstGeom prst="roundRect">
                <a:avLst>
                  <a:gd name="adj" fmla="val 10000"/>
                </a:avLst>
              </a:prstGeom>
              <a:solidFill>
                <a:srgbClr val="94A3B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9" name="Google Shape;129;p15"/>
            <p:cNvSpPr txBox="1"/>
            <p:nvPr/>
          </p:nvSpPr>
          <p:spPr>
            <a:xfrm>
              <a:off x="714375" y="285750"/>
              <a:ext cx="3048000" cy="619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79" b="1">
                  <a:solidFill>
                    <a:srgbClr val="111827"/>
                  </a:solidFill>
                  <a:latin typeface="Roboto"/>
                  <a:ea typeface="Roboto"/>
                  <a:cs typeface="Roboto"/>
                  <a:sym typeface="Roboto"/>
                </a:rPr>
                <a:t>Switching Back to GitHub Copilot</a:t>
              </a:r>
              <a:endParaRPr sz="879" b="1">
                <a:solidFill>
                  <a:srgbClr val="111827"/>
                </a:solidFill>
                <a:latin typeface="Roboto"/>
                <a:ea typeface="Roboto"/>
                <a:cs typeface="Roboto"/>
                <a:sym typeface="Roboto"/>
              </a:endParaRPr>
            </a:p>
            <a:p>
              <a:pPr marL="0" lvl="0" indent="0" algn="l" rtl="0">
                <a:spcBef>
                  <a:spcPts val="0"/>
                </a:spcBef>
                <a:spcAft>
                  <a:spcPts val="0"/>
                </a:spcAft>
                <a:buNone/>
              </a:pPr>
              <a:r>
                <a:rPr lang="en" sz="800" b="0">
                  <a:solidFill>
                    <a:srgbClr val="4B5563"/>
                  </a:solidFill>
                  <a:latin typeface="Roboto"/>
                  <a:ea typeface="Roboto"/>
                  <a:cs typeface="Roboto"/>
                  <a:sym typeface="Roboto"/>
                </a:rPr>
                <a:t>Move all developers back to GitHub Copilot with clear updates explaining why.</a:t>
              </a:r>
              <a:endParaRPr sz="800" b="1">
                <a:solidFill>
                  <a:srgbClr val="111827"/>
                </a:solidFill>
                <a:latin typeface="Roboto"/>
                <a:ea typeface="Roboto"/>
                <a:cs typeface="Roboto"/>
                <a:sym typeface="Roboto"/>
              </a:endParaRPr>
            </a:p>
          </p:txBody>
        </p:sp>
      </p:grpSp>
      <p:grpSp>
        <p:nvGrpSpPr>
          <p:cNvPr id="130" name="Google Shape;130;p15"/>
          <p:cNvGrpSpPr/>
          <p:nvPr/>
        </p:nvGrpSpPr>
        <p:grpSpPr>
          <a:xfrm>
            <a:off x="4905375" y="3714750"/>
            <a:ext cx="3905400" cy="952500"/>
            <a:chOff x="0" y="0"/>
            <a:chExt cx="3905400" cy="952500"/>
          </a:xfrm>
        </p:grpSpPr>
        <p:sp>
          <p:nvSpPr>
            <p:cNvPr id="131" name="Google Shape;131;p15"/>
            <p:cNvSpPr/>
            <p:nvPr/>
          </p:nvSpPr>
          <p:spPr>
            <a:xfrm>
              <a:off x="0" y="0"/>
              <a:ext cx="3905400" cy="228600"/>
            </a:xfrm>
            <a:custGeom>
              <a:avLst/>
              <a:gdLst/>
              <a:ahLst/>
              <a:cxnLst/>
              <a:rect l="l" t="t" r="r" b="b"/>
              <a:pathLst>
                <a:path w="120000" h="120000" extrusionOk="0">
                  <a:moveTo>
                    <a:pt x="5854" y="0"/>
                  </a:moveTo>
                  <a:lnTo>
                    <a:pt x="120000" y="0"/>
                  </a:lnTo>
                  <a:lnTo>
                    <a:pt x="120000" y="120000"/>
                  </a:lnTo>
                  <a:lnTo>
                    <a:pt x="0" y="120000"/>
                  </a:lnTo>
                  <a:lnTo>
                    <a:pt x="5854" y="120000"/>
                  </a:lnTo>
                  <a:close/>
                </a:path>
              </a:pathLst>
            </a:custGeom>
            <a:solidFill>
              <a:srgbClr val="5C7C9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2" name="Google Shape;132;p15"/>
            <p:cNvSpPr txBox="1"/>
            <p:nvPr/>
          </p:nvSpPr>
          <p:spPr>
            <a:xfrm>
              <a:off x="333375" y="0"/>
              <a:ext cx="34290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786" b="1">
                  <a:solidFill>
                    <a:srgbClr val="FFFFFF"/>
                  </a:solidFill>
                  <a:latin typeface="Roboto"/>
                  <a:ea typeface="Roboto"/>
                  <a:cs typeface="Roboto"/>
                  <a:sym typeface="Roboto"/>
                </a:rPr>
                <a:t>SAVING OUR WORK</a:t>
              </a:r>
              <a:endParaRPr sz="786" b="1">
                <a:solidFill>
                  <a:srgbClr val="FFFFFF"/>
                </a:solidFill>
                <a:latin typeface="Roboto"/>
                <a:ea typeface="Roboto"/>
                <a:cs typeface="Roboto"/>
                <a:sym typeface="Roboto"/>
              </a:endParaRPr>
            </a:p>
          </p:txBody>
        </p:sp>
        <p:sp>
          <p:nvSpPr>
            <p:cNvPr id="133" name="Google Shape;133;p15"/>
            <p:cNvSpPr/>
            <p:nvPr/>
          </p:nvSpPr>
          <p:spPr>
            <a:xfrm>
              <a:off x="0" y="228600"/>
              <a:ext cx="3905400" cy="723900"/>
            </a:xfrm>
            <a:prstGeom prst="roundRect">
              <a:avLst>
                <a:gd name="adj" fmla="val 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34" name="Google Shape;134;p15"/>
            <p:cNvGrpSpPr/>
            <p:nvPr/>
          </p:nvGrpSpPr>
          <p:grpSpPr>
            <a:xfrm>
              <a:off x="142875" y="342900"/>
              <a:ext cx="476400" cy="476400"/>
              <a:chOff x="0" y="0"/>
              <a:chExt cx="476400" cy="476400"/>
            </a:xfrm>
          </p:grpSpPr>
          <p:sp>
            <p:nvSpPr>
              <p:cNvPr id="135" name="Google Shape;135;p15"/>
              <p:cNvSpPr/>
              <p:nvPr/>
            </p:nvSpPr>
            <p:spPr>
              <a:xfrm>
                <a:off x="0" y="0"/>
                <a:ext cx="476400" cy="476400"/>
              </a:xfrm>
              <a:prstGeom prst="roundRect">
                <a:avLst>
                  <a:gd name="adj" fmla="val 12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6" name="Google Shape;136;p15"/>
              <p:cNvSpPr/>
              <p:nvPr/>
            </p:nvSpPr>
            <p:spPr>
              <a:xfrm>
                <a:off x="123825" y="133350"/>
                <a:ext cx="228600" cy="76200"/>
              </a:xfrm>
              <a:prstGeom prst="ellipse">
                <a:avLst/>
              </a:prstGeom>
              <a:solidFill>
                <a:srgbClr val="000000">
                  <a:alpha val="0"/>
                </a:srgbClr>
              </a:solidFill>
              <a:ln w="19050" cap="flat" cmpd="sng">
                <a:solidFill>
                  <a:srgbClr val="47556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7" name="Google Shape;137;p15"/>
              <p:cNvSpPr/>
              <p:nvPr/>
            </p:nvSpPr>
            <p:spPr>
              <a:xfrm>
                <a:off x="123825" y="171450"/>
                <a:ext cx="228600" cy="162000"/>
              </a:xfrm>
              <a:custGeom>
                <a:avLst/>
                <a:gdLst/>
                <a:ahLst/>
                <a:cxnLst/>
                <a:rect l="l" t="t" r="r" b="b"/>
                <a:pathLst>
                  <a:path w="120000" h="120000" extrusionOk="0">
                    <a:moveTo>
                      <a:pt x="0" y="0"/>
                    </a:moveTo>
                    <a:lnTo>
                      <a:pt x="0" y="98824"/>
                    </a:lnTo>
                    <a:cubicBezTo>
                      <a:pt x="0" y="120000"/>
                      <a:pt x="120000" y="120000"/>
                      <a:pt x="120000" y="98824"/>
                    </a:cubicBezTo>
                    <a:lnTo>
                      <a:pt x="120000" y="0"/>
                    </a:lnTo>
                  </a:path>
                </a:pathLst>
              </a:custGeom>
              <a:solidFill>
                <a:srgbClr val="000000">
                  <a:alpha val="0"/>
                </a:srgbClr>
              </a:solidFill>
              <a:ln w="19050" cap="flat" cmpd="sng">
                <a:solidFill>
                  <a:srgbClr val="47556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8" name="Google Shape;138;p15"/>
              <p:cNvSpPr/>
              <p:nvPr/>
            </p:nvSpPr>
            <p:spPr>
              <a:xfrm>
                <a:off x="123825" y="238125"/>
                <a:ext cx="228600" cy="28500"/>
              </a:xfrm>
              <a:custGeom>
                <a:avLst/>
                <a:gdLst/>
                <a:ahLst/>
                <a:cxnLst/>
                <a:rect l="l" t="t" r="r" b="b"/>
                <a:pathLst>
                  <a:path w="120000" h="120000" extrusionOk="0">
                    <a:moveTo>
                      <a:pt x="0" y="0"/>
                    </a:moveTo>
                    <a:cubicBezTo>
                      <a:pt x="0" y="120000"/>
                      <a:pt x="120000" y="120000"/>
                      <a:pt x="120000" y="0"/>
                    </a:cubicBezTo>
                  </a:path>
                </a:pathLst>
              </a:custGeom>
              <a:solidFill>
                <a:srgbClr val="000000">
                  <a:alpha val="0"/>
                </a:srgbClr>
              </a:solidFill>
              <a:ln w="19050" cap="flat" cmpd="sng">
                <a:solidFill>
                  <a:srgbClr val="47556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39" name="Google Shape;139;p15"/>
            <p:cNvSpPr txBox="1"/>
            <p:nvPr/>
          </p:nvSpPr>
          <p:spPr>
            <a:xfrm>
              <a:off x="714375" y="285750"/>
              <a:ext cx="3048000" cy="619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79" b="1">
                  <a:solidFill>
                    <a:srgbClr val="111827"/>
                  </a:solidFill>
                  <a:latin typeface="Roboto"/>
                  <a:ea typeface="Roboto"/>
                  <a:cs typeface="Roboto"/>
                  <a:sym typeface="Roboto"/>
                </a:rPr>
                <a:t>Saving Logs &amp; Guides</a:t>
              </a:r>
              <a:endParaRPr sz="879" b="1">
                <a:solidFill>
                  <a:srgbClr val="111827"/>
                </a:solidFill>
                <a:latin typeface="Roboto"/>
                <a:ea typeface="Roboto"/>
                <a:cs typeface="Roboto"/>
                <a:sym typeface="Roboto"/>
              </a:endParaRPr>
            </a:p>
            <a:p>
              <a:pPr marL="0" lvl="0" indent="0" algn="l" rtl="0">
                <a:spcBef>
                  <a:spcPts val="0"/>
                </a:spcBef>
                <a:spcAft>
                  <a:spcPts val="0"/>
                </a:spcAft>
                <a:buNone/>
              </a:pPr>
              <a:r>
                <a:rPr lang="en" sz="800" b="0">
                  <a:solidFill>
                    <a:srgbClr val="4B5563"/>
                  </a:solidFill>
                  <a:latin typeface="Roboto"/>
                  <a:ea typeface="Roboto"/>
                  <a:cs typeface="Roboto"/>
                  <a:sym typeface="Roboto"/>
                </a:rPr>
                <a:t>Save all trial guides, system logs, and user feedback for future AI projects.</a:t>
              </a:r>
              <a:endParaRPr sz="800" b="1">
                <a:solidFill>
                  <a:srgbClr val="111827"/>
                </a:solidFill>
                <a:latin typeface="Roboto"/>
                <a:ea typeface="Roboto"/>
                <a:cs typeface="Roboto"/>
                <a:sym typeface="Roboto"/>
              </a:endParaRPr>
            </a:p>
          </p:txBody>
        </p:sp>
      </p:grpSp>
      <p:sp>
        <p:nvSpPr>
          <p:cNvPr id="140" name="Google Shape;140;p15"/>
          <p:cNvSpPr txBox="1"/>
          <p:nvPr/>
        </p:nvSpPr>
        <p:spPr>
          <a:xfrm>
            <a:off x="7905750" y="4905375"/>
            <a:ext cx="857400" cy="142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650">
                <a:solidFill>
                  <a:srgbClr val="9CA3AF"/>
                </a:solidFill>
                <a:latin typeface="Roboto"/>
                <a:ea typeface="Roboto"/>
                <a:cs typeface="Roboto"/>
                <a:sym typeface="Roboto"/>
              </a:rPr>
              <a:t>Gemini Notebook</a:t>
            </a:r>
            <a:endParaRPr sz="650">
              <a:solidFill>
                <a:srgbClr val="9CA3AF"/>
              </a:solidFill>
              <a:latin typeface="Roboto"/>
              <a:ea typeface="Roboto"/>
              <a:cs typeface="Roboto"/>
              <a:sym typeface="Roboto"/>
            </a:endParaRPr>
          </a:p>
        </p:txBody>
      </p:sp>
      <p:sp>
        <p:nvSpPr>
          <p:cNvPr id="141" name="Google Shape;141;p15"/>
          <p:cNvSpPr/>
          <p:nvPr/>
        </p:nvSpPr>
        <p:spPr>
          <a:xfrm>
            <a:off x="4095750" y="1238250"/>
            <a:ext cx="952500" cy="952500"/>
          </a:xfrm>
          <a:prstGeom prst="ellipse">
            <a:avLst/>
          </a:prstGeom>
          <a:solidFill>
            <a:srgbClr val="FFFFFF"/>
          </a:solidFill>
          <a:ln w="38100" cap="flat" cmpd="sng">
            <a:solidFill>
              <a:srgbClr val="A8DADC"/>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42" name="Google Shape;142;p15"/>
          <p:cNvPicPr preferRelativeResize="0"/>
          <p:nvPr/>
        </p:nvPicPr>
        <p:blipFill rotWithShape="1">
          <a:blip r:embed="rId7">
            <a:alphaModFix/>
          </a:blip>
          <a:srcRect/>
          <a:stretch/>
        </p:blipFill>
        <p:spPr>
          <a:xfrm>
            <a:off x="4176713" y="1323975"/>
            <a:ext cx="790500" cy="785700"/>
          </a:xfrm>
          <a:prstGeom prst="rect">
            <a:avLst/>
          </a:prstGeom>
          <a:noFill/>
          <a:ln>
            <a:noFill/>
          </a:ln>
        </p:spPr>
      </p:pic>
      <p:sp>
        <p:nvSpPr>
          <p:cNvPr id="143" name="Google Shape;143;p15"/>
          <p:cNvSpPr/>
          <p:nvPr/>
        </p:nvSpPr>
        <p:spPr>
          <a:xfrm>
            <a:off x="4362450" y="1504950"/>
            <a:ext cx="419100" cy="419100"/>
          </a:xfrm>
          <a:prstGeom prst="ellipse">
            <a:avLst/>
          </a:prstGeom>
          <a:solidFill>
            <a:srgbClr val="E6F4E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4" name="Google Shape;144;p15"/>
          <p:cNvSpPr/>
          <p:nvPr/>
        </p:nvSpPr>
        <p:spPr>
          <a:xfrm>
            <a:off x="4572000" y="1600200"/>
            <a:ext cx="76200" cy="152400"/>
          </a:xfrm>
          <a:custGeom>
            <a:avLst/>
            <a:gdLst/>
            <a:ahLst/>
            <a:cxnLst/>
            <a:rect l="l" t="t" r="r" b="b"/>
            <a:pathLst>
              <a:path w="120000" h="120000" extrusionOk="0">
                <a:moveTo>
                  <a:pt x="0" y="0"/>
                </a:moveTo>
                <a:lnTo>
                  <a:pt x="0" y="90000"/>
                </a:lnTo>
                <a:lnTo>
                  <a:pt x="120000" y="120000"/>
                </a:lnTo>
              </a:path>
            </a:pathLst>
          </a:custGeom>
          <a:solidFill>
            <a:srgbClr val="000000"/>
          </a:solidFill>
          <a:ln w="19050" cap="rnd" cmpd="sng">
            <a:solidFill>
              <a:srgbClr val="1E8E3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5" name="Google Shape;145;p15"/>
          <p:cNvSpPr txBox="1"/>
          <p:nvPr/>
        </p:nvSpPr>
        <p:spPr>
          <a:xfrm>
            <a:off x="4000500" y="2238375"/>
            <a:ext cx="1143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86" b="1">
                <a:solidFill>
                  <a:srgbClr val="1F2937"/>
                </a:solidFill>
                <a:latin typeface="Roboto"/>
                <a:ea typeface="Roboto"/>
                <a:cs typeface="Roboto"/>
                <a:sym typeface="Roboto"/>
              </a:rPr>
              <a:t>DECISION DATE:</a:t>
            </a:r>
            <a:br>
              <a:rPr lang="en" sz="786" b="1">
                <a:solidFill>
                  <a:srgbClr val="1F2937"/>
                </a:solidFill>
                <a:latin typeface="Roboto"/>
                <a:ea typeface="Roboto"/>
                <a:cs typeface="Roboto"/>
                <a:sym typeface="Roboto"/>
              </a:rPr>
            </a:br>
            <a:r>
              <a:rPr lang="en" sz="786" b="1">
                <a:solidFill>
                  <a:srgbClr val="1F2937"/>
                </a:solidFill>
                <a:latin typeface="Roboto"/>
                <a:ea typeface="Roboto"/>
                <a:cs typeface="Roboto"/>
                <a:sym typeface="Roboto"/>
              </a:rPr>
              <a:t>EARLY DECEMBER</a:t>
            </a:r>
            <a:endParaRPr sz="786" b="1">
              <a:solidFill>
                <a:srgbClr val="1F2937"/>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16" title="AI_Assistant_Strategic_Outcome_Scenarios.png"/>
          <p:cNvPicPr preferRelativeResize="0"/>
          <p:nvPr/>
        </p:nvPicPr>
        <p:blipFill>
          <a:blip r:embed="rId3">
            <a:alphaModFix/>
          </a:blip>
          <a:stretch>
            <a:fillRect/>
          </a:stretch>
        </p:blipFill>
        <p:spPr>
          <a:xfrm>
            <a:off x="152400" y="152400"/>
            <a:ext cx="8669870" cy="48387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4"/>
        <p:cNvGrpSpPr/>
        <p:nvPr/>
      </p:nvGrpSpPr>
      <p:grpSpPr>
        <a:xfrm>
          <a:off x="0" y="0"/>
          <a:ext cx="0" cy="0"/>
          <a:chOff x="0" y="0"/>
          <a:chExt cx="0" cy="0"/>
        </a:xfrm>
      </p:grpSpPr>
      <p:sp>
        <p:nvSpPr>
          <p:cNvPr id="155" name="Google Shape;155;p17"/>
          <p:cNvSpPr txBox="1"/>
          <p:nvPr/>
        </p:nvSpPr>
        <p:spPr>
          <a:xfrm>
            <a:off x="285750" y="190500"/>
            <a:ext cx="85725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800" b="1">
                <a:solidFill>
                  <a:srgbClr val="111827"/>
                </a:solidFill>
                <a:latin typeface="Roboto"/>
                <a:ea typeface="Roboto"/>
                <a:cs typeface="Roboto"/>
                <a:sym typeface="Roboto"/>
              </a:rPr>
              <a:t>Operationalising the AI Assistant Pilot: Strategic Outcome Scenarios</a:t>
            </a:r>
            <a:endParaRPr sz="1800" b="1">
              <a:solidFill>
                <a:srgbClr val="111827"/>
              </a:solidFill>
              <a:latin typeface="Roboto"/>
              <a:ea typeface="Roboto"/>
              <a:cs typeface="Roboto"/>
              <a:sym typeface="Roboto"/>
            </a:endParaRPr>
          </a:p>
        </p:txBody>
      </p:sp>
      <p:sp>
        <p:nvSpPr>
          <p:cNvPr id="156" name="Google Shape;156;p17"/>
          <p:cNvSpPr txBox="1"/>
          <p:nvPr/>
        </p:nvSpPr>
        <p:spPr>
          <a:xfrm>
            <a:off x="285750" y="495300"/>
            <a:ext cx="8572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8" b="0">
                <a:solidFill>
                  <a:srgbClr val="4B5563"/>
                </a:solidFill>
                <a:latin typeface="Roboto"/>
                <a:ea typeface="Roboto"/>
                <a:cs typeface="Roboto"/>
                <a:sym typeface="Roboto"/>
              </a:rPr>
              <a:t>The Claude AI Pilot faces five potential operational scenarios approaching the formal evaluation gateway. Each pathway defines ownership across governance, commercial licensing, support, and change management to ensure zero operational gap for the 100-licence cap.</a:t>
            </a:r>
            <a:endParaRPr sz="698" b="0">
              <a:solidFill>
                <a:srgbClr val="4B5563"/>
              </a:solidFill>
              <a:latin typeface="Roboto"/>
              <a:ea typeface="Roboto"/>
              <a:cs typeface="Roboto"/>
              <a:sym typeface="Roboto"/>
            </a:endParaRPr>
          </a:p>
        </p:txBody>
      </p:sp>
      <p:grpSp>
        <p:nvGrpSpPr>
          <p:cNvPr id="157" name="Google Shape;157;p17"/>
          <p:cNvGrpSpPr/>
          <p:nvPr/>
        </p:nvGrpSpPr>
        <p:grpSpPr>
          <a:xfrm>
            <a:off x="285750" y="809625"/>
            <a:ext cx="1619100" cy="2190900"/>
            <a:chOff x="0" y="0"/>
            <a:chExt cx="1619100" cy="2190900"/>
          </a:xfrm>
        </p:grpSpPr>
        <p:sp>
          <p:nvSpPr>
            <p:cNvPr id="158" name="Google Shape;158;p17"/>
            <p:cNvSpPr/>
            <p:nvPr/>
          </p:nvSpPr>
          <p:spPr>
            <a:xfrm>
              <a:off x="0" y="0"/>
              <a:ext cx="1619100" cy="2190900"/>
            </a:xfrm>
            <a:prstGeom prst="roundRect">
              <a:avLst>
                <a:gd name="adj" fmla="val 352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9" name="Google Shape;159;p17"/>
            <p:cNvSpPr/>
            <p:nvPr/>
          </p:nvSpPr>
          <p:spPr>
            <a:xfrm>
              <a:off x="0" y="0"/>
              <a:ext cx="1619100" cy="304800"/>
            </a:xfrm>
            <a:prstGeom prst="roundRect">
              <a:avLst>
                <a:gd name="adj" fmla="val 1875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0" name="Google Shape;160;p17"/>
            <p:cNvSpPr txBox="1"/>
            <p:nvPr/>
          </p:nvSpPr>
          <p:spPr>
            <a:xfrm>
              <a:off x="95250" y="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50" b="1">
                  <a:solidFill>
                    <a:srgbClr val="1E3A8A"/>
                  </a:solidFill>
                  <a:latin typeface="Roboto"/>
                  <a:ea typeface="Roboto"/>
                  <a:cs typeface="Roboto"/>
                  <a:sym typeface="Roboto"/>
                </a:rPr>
                <a:t>1. Full Adoption</a:t>
              </a:r>
              <a:endParaRPr sz="950" b="1">
                <a:solidFill>
                  <a:srgbClr val="1E3A8A"/>
                </a:solidFill>
                <a:latin typeface="Roboto"/>
                <a:ea typeface="Roboto"/>
                <a:cs typeface="Roboto"/>
                <a:sym typeface="Roboto"/>
              </a:endParaRPr>
            </a:p>
          </p:txBody>
        </p:sp>
        <p:sp>
          <p:nvSpPr>
            <p:cNvPr id="161" name="Google Shape;161;p17"/>
            <p:cNvSpPr txBox="1"/>
            <p:nvPr/>
          </p:nvSpPr>
          <p:spPr>
            <a:xfrm>
              <a:off x="95250" y="34290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Complete transition to Claude Code.</a:t>
              </a:r>
              <a:endParaRPr sz="694" b="0">
                <a:solidFill>
                  <a:srgbClr val="4B5563"/>
                </a:solidFill>
                <a:latin typeface="Roboto"/>
                <a:ea typeface="Roboto"/>
                <a:cs typeface="Roboto"/>
                <a:sym typeface="Roboto"/>
              </a:endParaRPr>
            </a:p>
          </p:txBody>
        </p:sp>
        <p:cxnSp>
          <p:nvCxnSpPr>
            <p:cNvPr id="162" name="Google Shape;162;p17"/>
            <p:cNvCxnSpPr/>
            <p:nvPr/>
          </p:nvCxnSpPr>
          <p:spPr>
            <a:xfrm>
              <a:off x="95250" y="685800"/>
              <a:ext cx="14289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163" name="Google Shape;163;p17"/>
            <p:cNvSpPr txBox="1"/>
            <p:nvPr/>
          </p:nvSpPr>
          <p:spPr>
            <a:xfrm>
              <a:off x="95250" y="7239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STRATEGIC DECISION</a:t>
              </a:r>
              <a:endParaRPr sz="694" b="1">
                <a:solidFill>
                  <a:srgbClr val="1E40AF"/>
                </a:solidFill>
                <a:latin typeface="Roboto"/>
                <a:ea typeface="Roboto"/>
                <a:cs typeface="Roboto"/>
                <a:sym typeface="Roboto"/>
              </a:endParaRPr>
            </a:p>
          </p:txBody>
        </p:sp>
        <p:sp>
          <p:nvSpPr>
            <p:cNvPr id="164" name="Google Shape;164;p17"/>
            <p:cNvSpPr txBox="1"/>
            <p:nvPr/>
          </p:nvSpPr>
          <p:spPr>
            <a:xfrm>
              <a:off x="95250" y="866775"/>
              <a:ext cx="14289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Deprecate GitHub Copilot; establish Claude Code as primary enterprise assistant.</a:t>
              </a:r>
              <a:endParaRPr sz="694" b="0">
                <a:solidFill>
                  <a:srgbClr val="4B5563"/>
                </a:solidFill>
                <a:latin typeface="Roboto"/>
                <a:ea typeface="Roboto"/>
                <a:cs typeface="Roboto"/>
                <a:sym typeface="Roboto"/>
              </a:endParaRPr>
            </a:p>
          </p:txBody>
        </p:sp>
        <p:sp>
          <p:nvSpPr>
            <p:cNvPr id="165" name="Google Shape;165;p17"/>
            <p:cNvSpPr txBox="1"/>
            <p:nvPr/>
          </p:nvSpPr>
          <p:spPr>
            <a:xfrm>
              <a:off x="95250" y="12192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GOVERNANCE</a:t>
              </a:r>
              <a:endParaRPr sz="694" b="1">
                <a:solidFill>
                  <a:srgbClr val="1E40AF"/>
                </a:solidFill>
                <a:latin typeface="Roboto"/>
                <a:ea typeface="Roboto"/>
                <a:cs typeface="Roboto"/>
                <a:sym typeface="Roboto"/>
              </a:endParaRPr>
            </a:p>
          </p:txBody>
        </p:sp>
        <p:sp>
          <p:nvSpPr>
            <p:cNvPr id="166" name="Google Shape;166;p17"/>
            <p:cNvSpPr txBox="1"/>
            <p:nvPr/>
          </p:nvSpPr>
          <p:spPr>
            <a:xfrm>
              <a:off x="95250" y="1362075"/>
              <a:ext cx="14289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Finalise Anthropic Master Services Agreement ahead of April deadline.</a:t>
              </a:r>
              <a:endParaRPr sz="694" b="0">
                <a:solidFill>
                  <a:srgbClr val="4B5563"/>
                </a:solidFill>
                <a:latin typeface="Roboto"/>
                <a:ea typeface="Roboto"/>
                <a:cs typeface="Roboto"/>
                <a:sym typeface="Roboto"/>
              </a:endParaRPr>
            </a:p>
          </p:txBody>
        </p:sp>
        <p:sp>
          <p:nvSpPr>
            <p:cNvPr id="167" name="Google Shape;167;p17"/>
            <p:cNvSpPr txBox="1"/>
            <p:nvPr/>
          </p:nvSpPr>
          <p:spPr>
            <a:xfrm>
              <a:off x="95250" y="17145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OPERATIONS</a:t>
              </a:r>
              <a:endParaRPr sz="694" b="1">
                <a:solidFill>
                  <a:srgbClr val="1E40AF"/>
                </a:solidFill>
                <a:latin typeface="Roboto"/>
                <a:ea typeface="Roboto"/>
                <a:cs typeface="Roboto"/>
                <a:sym typeface="Roboto"/>
              </a:endParaRPr>
            </a:p>
          </p:txBody>
        </p:sp>
        <p:sp>
          <p:nvSpPr>
            <p:cNvPr id="168" name="Google Shape;168;p17"/>
            <p:cNvSpPr txBox="1"/>
            <p:nvPr/>
          </p:nvSpPr>
          <p:spPr>
            <a:xfrm>
              <a:off x="95250" y="1857375"/>
              <a:ext cx="1428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Full Tier 1–3 operational handoff to Brad &amp; Jim's team.</a:t>
              </a:r>
              <a:endParaRPr sz="694" b="0">
                <a:solidFill>
                  <a:srgbClr val="4B5563"/>
                </a:solidFill>
                <a:latin typeface="Roboto"/>
                <a:ea typeface="Roboto"/>
                <a:cs typeface="Roboto"/>
                <a:sym typeface="Roboto"/>
              </a:endParaRPr>
            </a:p>
          </p:txBody>
        </p:sp>
      </p:grpSp>
      <p:grpSp>
        <p:nvGrpSpPr>
          <p:cNvPr id="169" name="Google Shape;169;p17"/>
          <p:cNvGrpSpPr/>
          <p:nvPr/>
        </p:nvGrpSpPr>
        <p:grpSpPr>
          <a:xfrm>
            <a:off x="2019300" y="809625"/>
            <a:ext cx="1619100" cy="2190900"/>
            <a:chOff x="0" y="0"/>
            <a:chExt cx="1619100" cy="2190900"/>
          </a:xfrm>
        </p:grpSpPr>
        <p:sp>
          <p:nvSpPr>
            <p:cNvPr id="170" name="Google Shape;170;p17"/>
            <p:cNvSpPr/>
            <p:nvPr/>
          </p:nvSpPr>
          <p:spPr>
            <a:xfrm>
              <a:off x="0" y="0"/>
              <a:ext cx="1619100" cy="2190900"/>
            </a:xfrm>
            <a:prstGeom prst="roundRect">
              <a:avLst>
                <a:gd name="adj" fmla="val 352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1" name="Google Shape;171;p17"/>
            <p:cNvSpPr/>
            <p:nvPr/>
          </p:nvSpPr>
          <p:spPr>
            <a:xfrm>
              <a:off x="0" y="0"/>
              <a:ext cx="1619100" cy="304800"/>
            </a:xfrm>
            <a:prstGeom prst="roundRect">
              <a:avLst>
                <a:gd name="adj" fmla="val 1875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2" name="Google Shape;172;p17"/>
            <p:cNvSpPr txBox="1"/>
            <p:nvPr/>
          </p:nvSpPr>
          <p:spPr>
            <a:xfrm>
              <a:off x="95250" y="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50" b="1">
                  <a:solidFill>
                    <a:srgbClr val="1E3A8A"/>
                  </a:solidFill>
                  <a:latin typeface="Roboto"/>
                  <a:ea typeface="Roboto"/>
                  <a:cs typeface="Roboto"/>
                  <a:sym typeface="Roboto"/>
                </a:rPr>
                <a:t>2. Hybrid Model</a:t>
              </a:r>
              <a:endParaRPr sz="950" b="1">
                <a:solidFill>
                  <a:srgbClr val="1E3A8A"/>
                </a:solidFill>
                <a:latin typeface="Roboto"/>
                <a:ea typeface="Roboto"/>
                <a:cs typeface="Roboto"/>
                <a:sym typeface="Roboto"/>
              </a:endParaRPr>
            </a:p>
          </p:txBody>
        </p:sp>
        <p:sp>
          <p:nvSpPr>
            <p:cNvPr id="173" name="Google Shape;173;p17"/>
            <p:cNvSpPr txBox="1"/>
            <p:nvPr/>
          </p:nvSpPr>
          <p:spPr>
            <a:xfrm>
              <a:off x="95250" y="34290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Split use cases &amp; domain allocation.</a:t>
              </a:r>
              <a:endParaRPr sz="694" b="0">
                <a:solidFill>
                  <a:srgbClr val="4B5563"/>
                </a:solidFill>
                <a:latin typeface="Roboto"/>
                <a:ea typeface="Roboto"/>
                <a:cs typeface="Roboto"/>
                <a:sym typeface="Roboto"/>
              </a:endParaRPr>
            </a:p>
          </p:txBody>
        </p:sp>
        <p:cxnSp>
          <p:nvCxnSpPr>
            <p:cNvPr id="174" name="Google Shape;174;p17"/>
            <p:cNvCxnSpPr/>
            <p:nvPr/>
          </p:nvCxnSpPr>
          <p:spPr>
            <a:xfrm>
              <a:off x="95250" y="685800"/>
              <a:ext cx="14289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175" name="Google Shape;175;p17"/>
            <p:cNvSpPr txBox="1"/>
            <p:nvPr/>
          </p:nvSpPr>
          <p:spPr>
            <a:xfrm>
              <a:off x="95250" y="7239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STRATEGIC DECISION</a:t>
              </a:r>
              <a:endParaRPr sz="694" b="1">
                <a:solidFill>
                  <a:srgbClr val="1E40AF"/>
                </a:solidFill>
                <a:latin typeface="Roboto"/>
                <a:ea typeface="Roboto"/>
                <a:cs typeface="Roboto"/>
                <a:sym typeface="Roboto"/>
              </a:endParaRPr>
            </a:p>
          </p:txBody>
        </p:sp>
        <p:sp>
          <p:nvSpPr>
            <p:cNvPr id="176" name="Google Shape;176;p17"/>
            <p:cNvSpPr txBox="1"/>
            <p:nvPr/>
          </p:nvSpPr>
          <p:spPr>
            <a:xfrm>
              <a:off x="95250" y="866775"/>
              <a:ext cx="14289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Restrict Claude to high-leverage tasks; standard dev stays on Copilot.</a:t>
              </a:r>
              <a:endParaRPr sz="694" b="0">
                <a:solidFill>
                  <a:srgbClr val="4B5563"/>
                </a:solidFill>
                <a:latin typeface="Roboto"/>
                <a:ea typeface="Roboto"/>
                <a:cs typeface="Roboto"/>
                <a:sym typeface="Roboto"/>
              </a:endParaRPr>
            </a:p>
          </p:txBody>
        </p:sp>
        <p:sp>
          <p:nvSpPr>
            <p:cNvPr id="177" name="Google Shape;177;p17"/>
            <p:cNvSpPr txBox="1"/>
            <p:nvPr/>
          </p:nvSpPr>
          <p:spPr>
            <a:xfrm>
              <a:off x="95250" y="12192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GOVERNANCE</a:t>
              </a:r>
              <a:endParaRPr sz="694" b="1">
                <a:solidFill>
                  <a:srgbClr val="1E40AF"/>
                </a:solidFill>
                <a:latin typeface="Roboto"/>
                <a:ea typeface="Roboto"/>
                <a:cs typeface="Roboto"/>
                <a:sym typeface="Roboto"/>
              </a:endParaRPr>
            </a:p>
          </p:txBody>
        </p:sp>
        <p:sp>
          <p:nvSpPr>
            <p:cNvPr id="178" name="Google Shape;178;p17"/>
            <p:cNvSpPr txBox="1"/>
            <p:nvPr/>
          </p:nvSpPr>
          <p:spPr>
            <a:xfrm>
              <a:off x="95250" y="1362075"/>
              <a:ext cx="14289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Capped commercial exposure; qualification criteria managed by Carrie &amp; Yannick.</a:t>
              </a:r>
              <a:endParaRPr sz="694" b="0">
                <a:solidFill>
                  <a:srgbClr val="4B5563"/>
                </a:solidFill>
                <a:latin typeface="Roboto"/>
                <a:ea typeface="Roboto"/>
                <a:cs typeface="Roboto"/>
                <a:sym typeface="Roboto"/>
              </a:endParaRPr>
            </a:p>
          </p:txBody>
        </p:sp>
        <p:sp>
          <p:nvSpPr>
            <p:cNvPr id="179" name="Google Shape;179;p17"/>
            <p:cNvSpPr txBox="1"/>
            <p:nvPr/>
          </p:nvSpPr>
          <p:spPr>
            <a:xfrm>
              <a:off x="95250" y="17145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OPERATIONS</a:t>
              </a:r>
              <a:endParaRPr sz="694" b="1">
                <a:solidFill>
                  <a:srgbClr val="1E40AF"/>
                </a:solidFill>
                <a:latin typeface="Roboto"/>
                <a:ea typeface="Roboto"/>
                <a:cs typeface="Roboto"/>
                <a:sym typeface="Roboto"/>
              </a:endParaRPr>
            </a:p>
          </p:txBody>
        </p:sp>
        <p:sp>
          <p:nvSpPr>
            <p:cNvPr id="180" name="Google Shape;180;p17"/>
            <p:cNvSpPr txBox="1"/>
            <p:nvPr/>
          </p:nvSpPr>
          <p:spPr>
            <a:xfrm>
              <a:off x="95250" y="1857375"/>
              <a:ext cx="1428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Concentrated Tier 2 power-user support.</a:t>
              </a:r>
              <a:endParaRPr sz="694" b="0">
                <a:solidFill>
                  <a:srgbClr val="4B5563"/>
                </a:solidFill>
                <a:latin typeface="Roboto"/>
                <a:ea typeface="Roboto"/>
                <a:cs typeface="Roboto"/>
                <a:sym typeface="Roboto"/>
              </a:endParaRPr>
            </a:p>
          </p:txBody>
        </p:sp>
      </p:grpSp>
      <p:grpSp>
        <p:nvGrpSpPr>
          <p:cNvPr id="181" name="Google Shape;181;p17"/>
          <p:cNvGrpSpPr/>
          <p:nvPr/>
        </p:nvGrpSpPr>
        <p:grpSpPr>
          <a:xfrm>
            <a:off x="3762375" y="809625"/>
            <a:ext cx="1619100" cy="2190900"/>
            <a:chOff x="0" y="0"/>
            <a:chExt cx="1619100" cy="2190900"/>
          </a:xfrm>
        </p:grpSpPr>
        <p:sp>
          <p:nvSpPr>
            <p:cNvPr id="182" name="Google Shape;182;p17"/>
            <p:cNvSpPr/>
            <p:nvPr/>
          </p:nvSpPr>
          <p:spPr>
            <a:xfrm>
              <a:off x="0" y="0"/>
              <a:ext cx="1619100" cy="2190900"/>
            </a:xfrm>
            <a:prstGeom prst="roundRect">
              <a:avLst>
                <a:gd name="adj" fmla="val 352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3" name="Google Shape;183;p17"/>
            <p:cNvSpPr/>
            <p:nvPr/>
          </p:nvSpPr>
          <p:spPr>
            <a:xfrm>
              <a:off x="0" y="0"/>
              <a:ext cx="1619100" cy="304800"/>
            </a:xfrm>
            <a:prstGeom prst="roundRect">
              <a:avLst>
                <a:gd name="adj" fmla="val 1875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4" name="Google Shape;184;p17"/>
            <p:cNvSpPr txBox="1"/>
            <p:nvPr/>
          </p:nvSpPr>
          <p:spPr>
            <a:xfrm>
              <a:off x="95250" y="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50" b="1">
                  <a:solidFill>
                    <a:srgbClr val="1E3A8A"/>
                  </a:solidFill>
                  <a:latin typeface="Roboto"/>
                  <a:ea typeface="Roboto"/>
                  <a:cs typeface="Roboto"/>
                  <a:sym typeface="Roboto"/>
                </a:rPr>
                <a:t>3. Dual-Track</a:t>
              </a:r>
              <a:endParaRPr sz="950" b="1">
                <a:solidFill>
                  <a:srgbClr val="1E3A8A"/>
                </a:solidFill>
                <a:latin typeface="Roboto"/>
                <a:ea typeface="Roboto"/>
                <a:cs typeface="Roboto"/>
                <a:sym typeface="Roboto"/>
              </a:endParaRPr>
            </a:p>
          </p:txBody>
        </p:sp>
        <p:sp>
          <p:nvSpPr>
            <p:cNvPr id="185" name="Google Shape;185;p17"/>
            <p:cNvSpPr txBox="1"/>
            <p:nvPr/>
          </p:nvSpPr>
          <p:spPr>
            <a:xfrm>
              <a:off x="95250" y="34290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Parallel primary &amp; secondary tooling.</a:t>
              </a:r>
              <a:endParaRPr sz="694" b="0">
                <a:solidFill>
                  <a:srgbClr val="4B5563"/>
                </a:solidFill>
                <a:latin typeface="Roboto"/>
                <a:ea typeface="Roboto"/>
                <a:cs typeface="Roboto"/>
                <a:sym typeface="Roboto"/>
              </a:endParaRPr>
            </a:p>
          </p:txBody>
        </p:sp>
        <p:cxnSp>
          <p:nvCxnSpPr>
            <p:cNvPr id="186" name="Google Shape;186;p17"/>
            <p:cNvCxnSpPr/>
            <p:nvPr/>
          </p:nvCxnSpPr>
          <p:spPr>
            <a:xfrm>
              <a:off x="95250" y="685800"/>
              <a:ext cx="14289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187" name="Google Shape;187;p17"/>
            <p:cNvSpPr txBox="1"/>
            <p:nvPr/>
          </p:nvSpPr>
          <p:spPr>
            <a:xfrm>
              <a:off x="95250" y="7239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STRATEGIC DECISION</a:t>
              </a:r>
              <a:endParaRPr sz="694" b="1">
                <a:solidFill>
                  <a:srgbClr val="1E40AF"/>
                </a:solidFill>
                <a:latin typeface="Roboto"/>
                <a:ea typeface="Roboto"/>
                <a:cs typeface="Roboto"/>
                <a:sym typeface="Roboto"/>
              </a:endParaRPr>
            </a:p>
          </p:txBody>
        </p:sp>
        <p:sp>
          <p:nvSpPr>
            <p:cNvPr id="188" name="Google Shape;188;p17"/>
            <p:cNvSpPr txBox="1"/>
            <p:nvPr/>
          </p:nvSpPr>
          <p:spPr>
            <a:xfrm>
              <a:off x="95250" y="866775"/>
              <a:ext cx="14289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Retain both tools in parallel; defined operational swimlanes.</a:t>
              </a:r>
              <a:endParaRPr sz="694" b="0">
                <a:solidFill>
                  <a:srgbClr val="4B5563"/>
                </a:solidFill>
                <a:latin typeface="Roboto"/>
                <a:ea typeface="Roboto"/>
                <a:cs typeface="Roboto"/>
                <a:sym typeface="Roboto"/>
              </a:endParaRPr>
            </a:p>
          </p:txBody>
        </p:sp>
        <p:sp>
          <p:nvSpPr>
            <p:cNvPr id="189" name="Google Shape;189;p17"/>
            <p:cNvSpPr txBox="1"/>
            <p:nvPr/>
          </p:nvSpPr>
          <p:spPr>
            <a:xfrm>
              <a:off x="95250" y="12192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GOVERNANCE</a:t>
              </a:r>
              <a:endParaRPr sz="694" b="1">
                <a:solidFill>
                  <a:srgbClr val="1E40AF"/>
                </a:solidFill>
                <a:latin typeface="Roboto"/>
                <a:ea typeface="Roboto"/>
                <a:cs typeface="Roboto"/>
                <a:sym typeface="Roboto"/>
              </a:endParaRPr>
            </a:p>
          </p:txBody>
        </p:sp>
        <p:sp>
          <p:nvSpPr>
            <p:cNvPr id="190" name="Google Shape;190;p17"/>
            <p:cNvSpPr txBox="1"/>
            <p:nvPr/>
          </p:nvSpPr>
          <p:spPr>
            <a:xfrm>
              <a:off x="95250" y="1362075"/>
              <a:ext cx="14289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Explicit usage guidelines published by Athena &amp; Sergey.</a:t>
              </a:r>
              <a:endParaRPr sz="694" b="0">
                <a:solidFill>
                  <a:srgbClr val="4B5563"/>
                </a:solidFill>
                <a:latin typeface="Roboto"/>
                <a:ea typeface="Roboto"/>
                <a:cs typeface="Roboto"/>
                <a:sym typeface="Roboto"/>
              </a:endParaRPr>
            </a:p>
          </p:txBody>
        </p:sp>
        <p:sp>
          <p:nvSpPr>
            <p:cNvPr id="191" name="Google Shape;191;p17"/>
            <p:cNvSpPr txBox="1"/>
            <p:nvPr/>
          </p:nvSpPr>
          <p:spPr>
            <a:xfrm>
              <a:off x="95250" y="17145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OPERATIONS</a:t>
              </a:r>
              <a:endParaRPr sz="694" b="1">
                <a:solidFill>
                  <a:srgbClr val="1E40AF"/>
                </a:solidFill>
                <a:latin typeface="Roboto"/>
                <a:ea typeface="Roboto"/>
                <a:cs typeface="Roboto"/>
                <a:sym typeface="Roboto"/>
              </a:endParaRPr>
            </a:p>
          </p:txBody>
        </p:sp>
        <p:sp>
          <p:nvSpPr>
            <p:cNvPr id="192" name="Google Shape;192;p17"/>
            <p:cNvSpPr txBox="1"/>
            <p:nvPr/>
          </p:nvSpPr>
          <p:spPr>
            <a:xfrm>
              <a:off x="95250" y="1857375"/>
              <a:ext cx="1428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Dual-product runbooks &amp; integrated telemetry.</a:t>
              </a:r>
              <a:endParaRPr sz="694" b="0">
                <a:solidFill>
                  <a:srgbClr val="4B5563"/>
                </a:solidFill>
                <a:latin typeface="Roboto"/>
                <a:ea typeface="Roboto"/>
                <a:cs typeface="Roboto"/>
                <a:sym typeface="Roboto"/>
              </a:endParaRPr>
            </a:p>
          </p:txBody>
        </p:sp>
      </p:grpSp>
      <p:grpSp>
        <p:nvGrpSpPr>
          <p:cNvPr id="193" name="Google Shape;193;p17"/>
          <p:cNvGrpSpPr/>
          <p:nvPr/>
        </p:nvGrpSpPr>
        <p:grpSpPr>
          <a:xfrm>
            <a:off x="5495925" y="809625"/>
            <a:ext cx="1619100" cy="2190900"/>
            <a:chOff x="0" y="0"/>
            <a:chExt cx="1619100" cy="2190900"/>
          </a:xfrm>
        </p:grpSpPr>
        <p:sp>
          <p:nvSpPr>
            <p:cNvPr id="194" name="Google Shape;194;p17"/>
            <p:cNvSpPr/>
            <p:nvPr/>
          </p:nvSpPr>
          <p:spPr>
            <a:xfrm>
              <a:off x="0" y="0"/>
              <a:ext cx="1619100" cy="2190900"/>
            </a:xfrm>
            <a:prstGeom prst="roundRect">
              <a:avLst>
                <a:gd name="adj" fmla="val 352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5" name="Google Shape;195;p17"/>
            <p:cNvSpPr/>
            <p:nvPr/>
          </p:nvSpPr>
          <p:spPr>
            <a:xfrm>
              <a:off x="0" y="0"/>
              <a:ext cx="1619100" cy="304800"/>
            </a:xfrm>
            <a:prstGeom prst="roundRect">
              <a:avLst>
                <a:gd name="adj" fmla="val 1875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6" name="Google Shape;196;p17"/>
            <p:cNvSpPr txBox="1"/>
            <p:nvPr/>
          </p:nvSpPr>
          <p:spPr>
            <a:xfrm>
              <a:off x="95250" y="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50" b="1">
                  <a:solidFill>
                    <a:srgbClr val="1E3A8A"/>
                  </a:solidFill>
                  <a:latin typeface="Roboto"/>
                  <a:ea typeface="Roboto"/>
                  <a:cs typeface="Roboto"/>
                  <a:sym typeface="Roboto"/>
                </a:rPr>
                <a:t>4. Complete Rejection</a:t>
              </a:r>
              <a:endParaRPr sz="950" b="1">
                <a:solidFill>
                  <a:srgbClr val="1E3A8A"/>
                </a:solidFill>
                <a:latin typeface="Roboto"/>
                <a:ea typeface="Roboto"/>
                <a:cs typeface="Roboto"/>
                <a:sym typeface="Roboto"/>
              </a:endParaRPr>
            </a:p>
          </p:txBody>
        </p:sp>
        <p:sp>
          <p:nvSpPr>
            <p:cNvPr id="197" name="Google Shape;197;p17"/>
            <p:cNvSpPr txBox="1"/>
            <p:nvPr/>
          </p:nvSpPr>
          <p:spPr>
            <a:xfrm>
              <a:off x="95250" y="34290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Clean sunset &amp; return to Copilot.</a:t>
              </a:r>
              <a:endParaRPr sz="694" b="0">
                <a:solidFill>
                  <a:srgbClr val="4B5563"/>
                </a:solidFill>
                <a:latin typeface="Roboto"/>
                <a:ea typeface="Roboto"/>
                <a:cs typeface="Roboto"/>
                <a:sym typeface="Roboto"/>
              </a:endParaRPr>
            </a:p>
          </p:txBody>
        </p:sp>
        <p:cxnSp>
          <p:nvCxnSpPr>
            <p:cNvPr id="198" name="Google Shape;198;p17"/>
            <p:cNvCxnSpPr/>
            <p:nvPr/>
          </p:nvCxnSpPr>
          <p:spPr>
            <a:xfrm>
              <a:off x="95250" y="685800"/>
              <a:ext cx="14289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199" name="Google Shape;199;p17"/>
            <p:cNvSpPr txBox="1"/>
            <p:nvPr/>
          </p:nvSpPr>
          <p:spPr>
            <a:xfrm>
              <a:off x="95250" y="7239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STRATEGIC DECISION</a:t>
              </a:r>
              <a:endParaRPr sz="694" b="1">
                <a:solidFill>
                  <a:srgbClr val="1E40AF"/>
                </a:solidFill>
                <a:latin typeface="Roboto"/>
                <a:ea typeface="Roboto"/>
                <a:cs typeface="Roboto"/>
                <a:sym typeface="Roboto"/>
              </a:endParaRPr>
            </a:p>
          </p:txBody>
        </p:sp>
        <p:sp>
          <p:nvSpPr>
            <p:cNvPr id="200" name="Google Shape;200;p17"/>
            <p:cNvSpPr txBox="1"/>
            <p:nvPr/>
          </p:nvSpPr>
          <p:spPr>
            <a:xfrm>
              <a:off x="95250" y="866775"/>
              <a:ext cx="14289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Discontinue Claude Code; restore 100% of developers to Copilot.</a:t>
              </a:r>
              <a:endParaRPr sz="694" b="0">
                <a:solidFill>
                  <a:srgbClr val="4B5563"/>
                </a:solidFill>
                <a:latin typeface="Roboto"/>
                <a:ea typeface="Roboto"/>
                <a:cs typeface="Roboto"/>
                <a:sym typeface="Roboto"/>
              </a:endParaRPr>
            </a:p>
          </p:txBody>
        </p:sp>
        <p:sp>
          <p:nvSpPr>
            <p:cNvPr id="201" name="Google Shape;201;p17"/>
            <p:cNvSpPr txBox="1"/>
            <p:nvPr/>
          </p:nvSpPr>
          <p:spPr>
            <a:xfrm>
              <a:off x="95250" y="12192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OFFBOARDING</a:t>
              </a:r>
              <a:endParaRPr sz="694" b="1">
                <a:solidFill>
                  <a:srgbClr val="1E40AF"/>
                </a:solidFill>
                <a:latin typeface="Roboto"/>
                <a:ea typeface="Roboto"/>
                <a:cs typeface="Roboto"/>
                <a:sym typeface="Roboto"/>
              </a:endParaRPr>
            </a:p>
          </p:txBody>
        </p:sp>
        <p:sp>
          <p:nvSpPr>
            <p:cNvPr id="202" name="Google Shape;202;p17"/>
            <p:cNvSpPr txBox="1"/>
            <p:nvPr/>
          </p:nvSpPr>
          <p:spPr>
            <a:xfrm>
              <a:off x="95250" y="1362075"/>
              <a:ext cx="14289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30-day soft landing, deploying prompt export tools.</a:t>
              </a:r>
              <a:endParaRPr sz="694" b="0">
                <a:solidFill>
                  <a:srgbClr val="4B5563"/>
                </a:solidFill>
                <a:latin typeface="Roboto"/>
                <a:ea typeface="Roboto"/>
                <a:cs typeface="Roboto"/>
                <a:sym typeface="Roboto"/>
              </a:endParaRPr>
            </a:p>
          </p:txBody>
        </p:sp>
        <p:sp>
          <p:nvSpPr>
            <p:cNvPr id="203" name="Google Shape;203;p17"/>
            <p:cNvSpPr txBox="1"/>
            <p:nvPr/>
          </p:nvSpPr>
          <p:spPr>
            <a:xfrm>
              <a:off x="95250" y="17145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ASSET SALVAGING</a:t>
              </a:r>
              <a:endParaRPr sz="694" b="1">
                <a:solidFill>
                  <a:srgbClr val="1E40AF"/>
                </a:solidFill>
                <a:latin typeface="Roboto"/>
                <a:ea typeface="Roboto"/>
                <a:cs typeface="Roboto"/>
                <a:sym typeface="Roboto"/>
              </a:endParaRPr>
            </a:p>
          </p:txBody>
        </p:sp>
        <p:sp>
          <p:nvSpPr>
            <p:cNvPr id="204" name="Google Shape;204;p17"/>
            <p:cNvSpPr txBox="1"/>
            <p:nvPr/>
          </p:nvSpPr>
          <p:spPr>
            <a:xfrm>
              <a:off x="95250" y="1857375"/>
              <a:ext cx="1428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Repurpose telemetry &amp; MCP connectors into PR bots.</a:t>
              </a:r>
              <a:endParaRPr sz="694" b="0">
                <a:solidFill>
                  <a:srgbClr val="4B5563"/>
                </a:solidFill>
                <a:latin typeface="Roboto"/>
                <a:ea typeface="Roboto"/>
                <a:cs typeface="Roboto"/>
                <a:sym typeface="Roboto"/>
              </a:endParaRPr>
            </a:p>
          </p:txBody>
        </p:sp>
      </p:grpSp>
      <p:grpSp>
        <p:nvGrpSpPr>
          <p:cNvPr id="205" name="Google Shape;205;p17"/>
          <p:cNvGrpSpPr/>
          <p:nvPr/>
        </p:nvGrpSpPr>
        <p:grpSpPr>
          <a:xfrm>
            <a:off x="7239000" y="809625"/>
            <a:ext cx="1619100" cy="2190900"/>
            <a:chOff x="0" y="0"/>
            <a:chExt cx="1619100" cy="2190900"/>
          </a:xfrm>
        </p:grpSpPr>
        <p:sp>
          <p:nvSpPr>
            <p:cNvPr id="206" name="Google Shape;206;p17"/>
            <p:cNvSpPr/>
            <p:nvPr/>
          </p:nvSpPr>
          <p:spPr>
            <a:xfrm>
              <a:off x="0" y="0"/>
              <a:ext cx="1619100" cy="2190900"/>
            </a:xfrm>
            <a:prstGeom prst="roundRect">
              <a:avLst>
                <a:gd name="adj" fmla="val 352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7" name="Google Shape;207;p17"/>
            <p:cNvSpPr/>
            <p:nvPr/>
          </p:nvSpPr>
          <p:spPr>
            <a:xfrm>
              <a:off x="0" y="0"/>
              <a:ext cx="1619100" cy="304800"/>
            </a:xfrm>
            <a:prstGeom prst="roundRect">
              <a:avLst>
                <a:gd name="adj" fmla="val 1875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8" name="Google Shape;208;p17"/>
            <p:cNvSpPr txBox="1"/>
            <p:nvPr/>
          </p:nvSpPr>
          <p:spPr>
            <a:xfrm>
              <a:off x="95250" y="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50" b="1">
                  <a:solidFill>
                    <a:srgbClr val="1E3A8A"/>
                  </a:solidFill>
                  <a:latin typeface="Roboto"/>
                  <a:ea typeface="Roboto"/>
                  <a:cs typeface="Roboto"/>
                  <a:sym typeface="Roboto"/>
                </a:rPr>
                <a:t>5. Extending Pilot</a:t>
              </a:r>
              <a:endParaRPr sz="950" b="1">
                <a:solidFill>
                  <a:srgbClr val="1E3A8A"/>
                </a:solidFill>
                <a:latin typeface="Roboto"/>
                <a:ea typeface="Roboto"/>
                <a:cs typeface="Roboto"/>
                <a:sym typeface="Roboto"/>
              </a:endParaRPr>
            </a:p>
          </p:txBody>
        </p:sp>
        <p:sp>
          <p:nvSpPr>
            <p:cNvPr id="209" name="Google Shape;209;p17"/>
            <p:cNvSpPr txBox="1"/>
            <p:nvPr/>
          </p:nvSpPr>
          <p:spPr>
            <a:xfrm>
              <a:off x="95250" y="34290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Delayed decision &amp; seat freeze.</a:t>
              </a:r>
              <a:endParaRPr sz="694" b="0">
                <a:solidFill>
                  <a:srgbClr val="4B5563"/>
                </a:solidFill>
                <a:latin typeface="Roboto"/>
                <a:ea typeface="Roboto"/>
                <a:cs typeface="Roboto"/>
                <a:sym typeface="Roboto"/>
              </a:endParaRPr>
            </a:p>
          </p:txBody>
        </p:sp>
        <p:cxnSp>
          <p:nvCxnSpPr>
            <p:cNvPr id="210" name="Google Shape;210;p17"/>
            <p:cNvCxnSpPr/>
            <p:nvPr/>
          </p:nvCxnSpPr>
          <p:spPr>
            <a:xfrm>
              <a:off x="95250" y="685800"/>
              <a:ext cx="14289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211" name="Google Shape;211;p17"/>
            <p:cNvSpPr txBox="1"/>
            <p:nvPr/>
          </p:nvSpPr>
          <p:spPr>
            <a:xfrm>
              <a:off x="95250" y="7239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STRATEGIC DECISION</a:t>
              </a:r>
              <a:endParaRPr sz="694" b="1">
                <a:solidFill>
                  <a:srgbClr val="1E40AF"/>
                </a:solidFill>
                <a:latin typeface="Roboto"/>
                <a:ea typeface="Roboto"/>
                <a:cs typeface="Roboto"/>
                <a:sym typeface="Roboto"/>
              </a:endParaRPr>
            </a:p>
          </p:txBody>
        </p:sp>
        <p:sp>
          <p:nvSpPr>
            <p:cNvPr id="212" name="Google Shape;212;p17"/>
            <p:cNvSpPr txBox="1"/>
            <p:nvPr/>
          </p:nvSpPr>
          <p:spPr>
            <a:xfrm>
              <a:off x="95250" y="866775"/>
              <a:ext cx="14289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Proof-of-scale freeze capped at current 100 seats beyond Dec 1.</a:t>
              </a:r>
              <a:endParaRPr sz="694" b="0">
                <a:solidFill>
                  <a:srgbClr val="4B5563"/>
                </a:solidFill>
                <a:latin typeface="Roboto"/>
                <a:ea typeface="Roboto"/>
                <a:cs typeface="Roboto"/>
                <a:sym typeface="Roboto"/>
              </a:endParaRPr>
            </a:p>
          </p:txBody>
        </p:sp>
        <p:sp>
          <p:nvSpPr>
            <p:cNvPr id="213" name="Google Shape;213;p17"/>
            <p:cNvSpPr txBox="1"/>
            <p:nvPr/>
          </p:nvSpPr>
          <p:spPr>
            <a:xfrm>
              <a:off x="95250" y="12192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OPERATIONS</a:t>
              </a:r>
              <a:endParaRPr sz="694" b="1">
                <a:solidFill>
                  <a:srgbClr val="1E40AF"/>
                </a:solidFill>
                <a:latin typeface="Roboto"/>
                <a:ea typeface="Roboto"/>
                <a:cs typeface="Roboto"/>
                <a:sym typeface="Roboto"/>
              </a:endParaRPr>
            </a:p>
          </p:txBody>
        </p:sp>
        <p:sp>
          <p:nvSpPr>
            <p:cNvPr id="214" name="Google Shape;214;p17"/>
            <p:cNvSpPr txBox="1"/>
            <p:nvPr/>
          </p:nvSpPr>
          <p:spPr>
            <a:xfrm>
              <a:off x="95250" y="1362075"/>
              <a:ext cx="14289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30 to 45-day support load testing under Brad's team.</a:t>
              </a:r>
              <a:endParaRPr sz="694" b="0">
                <a:solidFill>
                  <a:srgbClr val="4B5563"/>
                </a:solidFill>
                <a:latin typeface="Roboto"/>
                <a:ea typeface="Roboto"/>
                <a:cs typeface="Roboto"/>
                <a:sym typeface="Roboto"/>
              </a:endParaRPr>
            </a:p>
          </p:txBody>
        </p:sp>
        <p:sp>
          <p:nvSpPr>
            <p:cNvPr id="215" name="Google Shape;215;p17"/>
            <p:cNvSpPr txBox="1"/>
            <p:nvPr/>
          </p:nvSpPr>
          <p:spPr>
            <a:xfrm>
              <a:off x="95250" y="17145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GOVERNANCE RISK</a:t>
              </a:r>
              <a:endParaRPr sz="694" b="1">
                <a:solidFill>
                  <a:srgbClr val="1E40AF"/>
                </a:solidFill>
                <a:latin typeface="Roboto"/>
                <a:ea typeface="Roboto"/>
                <a:cs typeface="Roboto"/>
                <a:sym typeface="Roboto"/>
              </a:endParaRPr>
            </a:p>
          </p:txBody>
        </p:sp>
        <p:sp>
          <p:nvSpPr>
            <p:cNvPr id="216" name="Google Shape;216;p17"/>
            <p:cNvSpPr txBox="1"/>
            <p:nvPr/>
          </p:nvSpPr>
          <p:spPr>
            <a:xfrm>
              <a:off x="95250" y="1857375"/>
              <a:ext cx="1428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0">
                  <a:solidFill>
                    <a:srgbClr val="4B5563"/>
                  </a:solidFill>
                  <a:latin typeface="Roboto"/>
                  <a:ea typeface="Roboto"/>
                  <a:cs typeface="Roboto"/>
                  <a:sym typeface="Roboto"/>
                </a:rPr>
                <a:t>Active management of procurement &amp; MRM review pipelines.</a:t>
              </a:r>
              <a:endParaRPr sz="694" b="0">
                <a:solidFill>
                  <a:srgbClr val="4B5563"/>
                </a:solidFill>
                <a:latin typeface="Roboto"/>
                <a:ea typeface="Roboto"/>
                <a:cs typeface="Roboto"/>
                <a:sym typeface="Roboto"/>
              </a:endParaRPr>
            </a:p>
          </p:txBody>
        </p:sp>
      </p:grpSp>
      <p:grpSp>
        <p:nvGrpSpPr>
          <p:cNvPr id="217" name="Google Shape;217;p17"/>
          <p:cNvGrpSpPr/>
          <p:nvPr/>
        </p:nvGrpSpPr>
        <p:grpSpPr>
          <a:xfrm>
            <a:off x="285750" y="3143250"/>
            <a:ext cx="8572500" cy="1762200"/>
            <a:chOff x="0" y="0"/>
            <a:chExt cx="8572500" cy="1762200"/>
          </a:xfrm>
        </p:grpSpPr>
        <p:sp>
          <p:nvSpPr>
            <p:cNvPr id="218" name="Google Shape;218;p17"/>
            <p:cNvSpPr/>
            <p:nvPr/>
          </p:nvSpPr>
          <p:spPr>
            <a:xfrm>
              <a:off x="0" y="0"/>
              <a:ext cx="8572500" cy="1762200"/>
            </a:xfrm>
            <a:prstGeom prst="roundRect">
              <a:avLst>
                <a:gd name="adj" fmla="val 3243"/>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17"/>
            <p:cNvSpPr/>
            <p:nvPr/>
          </p:nvSpPr>
          <p:spPr>
            <a:xfrm>
              <a:off x="0" y="0"/>
              <a:ext cx="8572500" cy="285900"/>
            </a:xfrm>
            <a:prstGeom prst="roundRect">
              <a:avLst>
                <a:gd name="adj" fmla="val 2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0" name="Google Shape;220;p17"/>
            <p:cNvSpPr txBox="1"/>
            <p:nvPr/>
          </p:nvSpPr>
          <p:spPr>
            <a:xfrm>
              <a:off x="142875" y="0"/>
              <a:ext cx="82869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50" b="1">
                  <a:solidFill>
                    <a:srgbClr val="FFFFFF"/>
                  </a:solidFill>
                  <a:latin typeface="Roboto"/>
                  <a:ea typeface="Roboto"/>
                  <a:cs typeface="Roboto"/>
                  <a:sym typeface="Roboto"/>
                </a:rPr>
                <a:t>Operational Responsibilities Matrix Across Scenarios</a:t>
              </a:r>
              <a:endParaRPr sz="950" b="1">
                <a:solidFill>
                  <a:srgbClr val="FFFFFF"/>
                </a:solidFill>
                <a:latin typeface="Roboto"/>
                <a:ea typeface="Roboto"/>
                <a:cs typeface="Roboto"/>
                <a:sym typeface="Roboto"/>
              </a:endParaRPr>
            </a:p>
          </p:txBody>
        </p:sp>
        <p:sp>
          <p:nvSpPr>
            <p:cNvPr id="221" name="Google Shape;221;p17"/>
            <p:cNvSpPr/>
            <p:nvPr/>
          </p:nvSpPr>
          <p:spPr>
            <a:xfrm>
              <a:off x="0" y="285750"/>
              <a:ext cx="8572500" cy="2286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2" name="Google Shape;222;p17"/>
            <p:cNvSpPr txBox="1"/>
            <p:nvPr/>
          </p:nvSpPr>
          <p:spPr>
            <a:xfrm>
              <a:off x="142875" y="285750"/>
              <a:ext cx="1333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0F172A"/>
                  </a:solidFill>
                  <a:latin typeface="Roboto"/>
                  <a:ea typeface="Roboto"/>
                  <a:cs typeface="Roboto"/>
                  <a:sym typeface="Roboto"/>
                </a:rPr>
                <a:t>Scenario Pathway</a:t>
              </a:r>
              <a:endParaRPr sz="850" b="1">
                <a:solidFill>
                  <a:srgbClr val="0F172A"/>
                </a:solidFill>
                <a:latin typeface="Roboto"/>
                <a:ea typeface="Roboto"/>
                <a:cs typeface="Roboto"/>
                <a:sym typeface="Roboto"/>
              </a:endParaRPr>
            </a:p>
          </p:txBody>
        </p:sp>
        <p:sp>
          <p:nvSpPr>
            <p:cNvPr id="223" name="Google Shape;223;p17"/>
            <p:cNvSpPr txBox="1"/>
            <p:nvPr/>
          </p:nvSpPr>
          <p:spPr>
            <a:xfrm>
              <a:off x="1524000" y="285750"/>
              <a:ext cx="1714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0F172A"/>
                  </a:solidFill>
                  <a:latin typeface="Roboto"/>
                  <a:ea typeface="Roboto"/>
                  <a:cs typeface="Roboto"/>
                  <a:sym typeface="Roboto"/>
                </a:rPr>
                <a:t>Commercial &amp; Governance Lead</a:t>
              </a:r>
              <a:endParaRPr sz="850" b="1">
                <a:solidFill>
                  <a:srgbClr val="0F172A"/>
                </a:solidFill>
                <a:latin typeface="Roboto"/>
                <a:ea typeface="Roboto"/>
                <a:cs typeface="Roboto"/>
                <a:sym typeface="Roboto"/>
              </a:endParaRPr>
            </a:p>
          </p:txBody>
        </p:sp>
        <p:sp>
          <p:nvSpPr>
            <p:cNvPr id="224" name="Google Shape;224;p17"/>
            <p:cNvSpPr txBox="1"/>
            <p:nvPr/>
          </p:nvSpPr>
          <p:spPr>
            <a:xfrm>
              <a:off x="3238500" y="285750"/>
              <a:ext cx="19050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0F172A"/>
                  </a:solidFill>
                  <a:latin typeface="Roboto"/>
                  <a:ea typeface="Roboto"/>
                  <a:cs typeface="Roboto"/>
                  <a:sym typeface="Roboto"/>
                </a:rPr>
                <a:t>Primary Support Owner</a:t>
              </a:r>
              <a:endParaRPr sz="850" b="1">
                <a:solidFill>
                  <a:srgbClr val="0F172A"/>
                </a:solidFill>
                <a:latin typeface="Roboto"/>
                <a:ea typeface="Roboto"/>
                <a:cs typeface="Roboto"/>
                <a:sym typeface="Roboto"/>
              </a:endParaRPr>
            </a:p>
          </p:txBody>
        </p:sp>
        <p:sp>
          <p:nvSpPr>
            <p:cNvPr id="225" name="Google Shape;225;p17"/>
            <p:cNvSpPr txBox="1"/>
            <p:nvPr/>
          </p:nvSpPr>
          <p:spPr>
            <a:xfrm>
              <a:off x="5143500" y="285750"/>
              <a:ext cx="1714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0F172A"/>
                  </a:solidFill>
                  <a:latin typeface="Roboto"/>
                  <a:ea typeface="Roboto"/>
                  <a:cs typeface="Roboto"/>
                  <a:sym typeface="Roboto"/>
                </a:rPr>
                <a:t>Key Stakeholders</a:t>
              </a:r>
              <a:endParaRPr sz="850" b="1">
                <a:solidFill>
                  <a:srgbClr val="0F172A"/>
                </a:solidFill>
                <a:latin typeface="Roboto"/>
                <a:ea typeface="Roboto"/>
                <a:cs typeface="Roboto"/>
                <a:sym typeface="Roboto"/>
              </a:endParaRPr>
            </a:p>
          </p:txBody>
        </p:sp>
        <p:sp>
          <p:nvSpPr>
            <p:cNvPr id="226" name="Google Shape;226;p17"/>
            <p:cNvSpPr txBox="1"/>
            <p:nvPr/>
          </p:nvSpPr>
          <p:spPr>
            <a:xfrm>
              <a:off x="6858000" y="285750"/>
              <a:ext cx="15717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0F172A"/>
                  </a:solidFill>
                  <a:latin typeface="Roboto"/>
                  <a:ea typeface="Roboto"/>
                  <a:cs typeface="Roboto"/>
                  <a:sym typeface="Roboto"/>
                </a:rPr>
                <a:t>Core Focus / Constraint</a:t>
              </a:r>
              <a:endParaRPr sz="850" b="1">
                <a:solidFill>
                  <a:srgbClr val="0F172A"/>
                </a:solidFill>
                <a:latin typeface="Roboto"/>
                <a:ea typeface="Roboto"/>
                <a:cs typeface="Roboto"/>
                <a:sym typeface="Roboto"/>
              </a:endParaRPr>
            </a:p>
          </p:txBody>
        </p:sp>
        <p:cxnSp>
          <p:nvCxnSpPr>
            <p:cNvPr id="227" name="Google Shape;227;p17"/>
            <p:cNvCxnSpPr/>
            <p:nvPr/>
          </p:nvCxnSpPr>
          <p:spPr>
            <a:xfrm>
              <a:off x="0" y="514350"/>
              <a:ext cx="8572500" cy="0"/>
            </a:xfrm>
            <a:prstGeom prst="straightConnector1">
              <a:avLst/>
            </a:prstGeom>
            <a:solidFill>
              <a:srgbClr val="FFFFFF"/>
            </a:solidFill>
            <a:ln w="9525" cap="flat" cmpd="sng">
              <a:solidFill>
                <a:srgbClr val="E2E8F0"/>
              </a:solidFill>
              <a:prstDash val="solid"/>
              <a:round/>
              <a:headEnd type="none" w="sm" len="sm"/>
              <a:tailEnd type="none" w="sm" len="sm"/>
            </a:ln>
          </p:spPr>
        </p:cxnSp>
        <p:grpSp>
          <p:nvGrpSpPr>
            <p:cNvPr id="228" name="Google Shape;228;p17"/>
            <p:cNvGrpSpPr/>
            <p:nvPr/>
          </p:nvGrpSpPr>
          <p:grpSpPr>
            <a:xfrm>
              <a:off x="142875" y="514350"/>
              <a:ext cx="8286825" cy="247800"/>
              <a:chOff x="142875" y="0"/>
              <a:chExt cx="8286825" cy="247800"/>
            </a:xfrm>
          </p:grpSpPr>
          <p:sp>
            <p:nvSpPr>
              <p:cNvPr id="229" name="Google Shape;229;p17"/>
              <p:cNvSpPr txBox="1"/>
              <p:nvPr/>
            </p:nvSpPr>
            <p:spPr>
              <a:xfrm>
                <a:off x="142875" y="0"/>
                <a:ext cx="1333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F172A"/>
                    </a:solidFill>
                    <a:latin typeface="Roboto"/>
                    <a:ea typeface="Roboto"/>
                    <a:cs typeface="Roboto"/>
                    <a:sym typeface="Roboto"/>
                  </a:rPr>
                  <a:t>1. Full Adoption</a:t>
                </a:r>
                <a:endParaRPr sz="800" b="1">
                  <a:solidFill>
                    <a:srgbClr val="0F172A"/>
                  </a:solidFill>
                  <a:latin typeface="Roboto"/>
                  <a:ea typeface="Roboto"/>
                  <a:cs typeface="Roboto"/>
                  <a:sym typeface="Roboto"/>
                </a:endParaRPr>
              </a:p>
            </p:txBody>
          </p:sp>
          <p:sp>
            <p:nvSpPr>
              <p:cNvPr id="230" name="Google Shape;230;p17"/>
              <p:cNvSpPr txBox="1"/>
              <p:nvPr/>
            </p:nvSpPr>
            <p:spPr>
              <a:xfrm>
                <a:off x="15240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Enterprise MSA (Dave / Anthropic)</a:t>
                </a:r>
                <a:endParaRPr sz="800" b="0">
                  <a:solidFill>
                    <a:srgbClr val="334155"/>
                  </a:solidFill>
                  <a:latin typeface="Roboto"/>
                  <a:ea typeface="Roboto"/>
                  <a:cs typeface="Roboto"/>
                  <a:sym typeface="Roboto"/>
                </a:endParaRPr>
              </a:p>
            </p:txBody>
          </p:sp>
          <p:sp>
            <p:nvSpPr>
              <p:cNvPr id="231" name="Google Shape;231;p17"/>
              <p:cNvSpPr txBox="1"/>
              <p:nvPr/>
            </p:nvSpPr>
            <p:spPr>
              <a:xfrm>
                <a:off x="3238500" y="0"/>
                <a:ext cx="19050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Brad &amp; Jim (Tier 1–3 Support)</a:t>
                </a:r>
                <a:endParaRPr sz="800" b="0">
                  <a:solidFill>
                    <a:srgbClr val="334155"/>
                  </a:solidFill>
                  <a:latin typeface="Roboto"/>
                  <a:ea typeface="Roboto"/>
                  <a:cs typeface="Roboto"/>
                  <a:sym typeface="Roboto"/>
                </a:endParaRPr>
              </a:p>
            </p:txBody>
          </p:sp>
          <p:sp>
            <p:nvSpPr>
              <p:cNvPr id="232" name="Google Shape;232;p17"/>
              <p:cNvSpPr txBox="1"/>
              <p:nvPr/>
            </p:nvSpPr>
            <p:spPr>
              <a:xfrm>
                <a:off x="51435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Yannick, Brad, Carrie</a:t>
                </a:r>
                <a:endParaRPr sz="800" b="0">
                  <a:solidFill>
                    <a:srgbClr val="334155"/>
                  </a:solidFill>
                  <a:latin typeface="Roboto"/>
                  <a:ea typeface="Roboto"/>
                  <a:cs typeface="Roboto"/>
                  <a:sym typeface="Roboto"/>
                </a:endParaRPr>
              </a:p>
            </p:txBody>
          </p:sp>
          <p:sp>
            <p:nvSpPr>
              <p:cNvPr id="233" name="Google Shape;233;p17"/>
              <p:cNvSpPr txBox="1"/>
              <p:nvPr/>
            </p:nvSpPr>
            <p:spPr>
              <a:xfrm>
                <a:off x="6858000" y="0"/>
                <a:ext cx="15717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Phase out Copilot; seat reclamation</a:t>
                </a:r>
                <a:endParaRPr sz="800" b="0">
                  <a:solidFill>
                    <a:srgbClr val="334155"/>
                  </a:solidFill>
                  <a:latin typeface="Roboto"/>
                  <a:ea typeface="Roboto"/>
                  <a:cs typeface="Roboto"/>
                  <a:sym typeface="Roboto"/>
                </a:endParaRPr>
              </a:p>
            </p:txBody>
          </p:sp>
        </p:grpSp>
        <p:cxnSp>
          <p:nvCxnSpPr>
            <p:cNvPr id="234" name="Google Shape;234;p17"/>
            <p:cNvCxnSpPr/>
            <p:nvPr/>
          </p:nvCxnSpPr>
          <p:spPr>
            <a:xfrm>
              <a:off x="0" y="76200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235" name="Google Shape;235;p17"/>
            <p:cNvGrpSpPr/>
            <p:nvPr/>
          </p:nvGrpSpPr>
          <p:grpSpPr>
            <a:xfrm>
              <a:off x="142875" y="762000"/>
              <a:ext cx="8286825" cy="247800"/>
              <a:chOff x="142875" y="0"/>
              <a:chExt cx="8286825" cy="247800"/>
            </a:xfrm>
          </p:grpSpPr>
          <p:sp>
            <p:nvSpPr>
              <p:cNvPr id="236" name="Google Shape;236;p17"/>
              <p:cNvSpPr txBox="1"/>
              <p:nvPr/>
            </p:nvSpPr>
            <p:spPr>
              <a:xfrm>
                <a:off x="142875" y="0"/>
                <a:ext cx="1333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F172A"/>
                    </a:solidFill>
                    <a:latin typeface="Roboto"/>
                    <a:ea typeface="Roboto"/>
                    <a:cs typeface="Roboto"/>
                    <a:sym typeface="Roboto"/>
                  </a:rPr>
                  <a:t>2. Hybrid Model</a:t>
                </a:r>
                <a:endParaRPr sz="800" b="1">
                  <a:solidFill>
                    <a:srgbClr val="0F172A"/>
                  </a:solidFill>
                  <a:latin typeface="Roboto"/>
                  <a:ea typeface="Roboto"/>
                  <a:cs typeface="Roboto"/>
                  <a:sym typeface="Roboto"/>
                </a:endParaRPr>
              </a:p>
            </p:txBody>
          </p:sp>
          <p:sp>
            <p:nvSpPr>
              <p:cNvPr id="237" name="Google Shape;237;p17"/>
              <p:cNvSpPr txBox="1"/>
              <p:nvPr/>
            </p:nvSpPr>
            <p:spPr>
              <a:xfrm>
                <a:off x="15240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Carrie &amp; Yannick (Domain Criteria)</a:t>
                </a:r>
                <a:endParaRPr sz="800" b="0">
                  <a:solidFill>
                    <a:srgbClr val="334155"/>
                  </a:solidFill>
                  <a:latin typeface="Roboto"/>
                  <a:ea typeface="Roboto"/>
                  <a:cs typeface="Roboto"/>
                  <a:sym typeface="Roboto"/>
                </a:endParaRPr>
              </a:p>
            </p:txBody>
          </p:sp>
          <p:sp>
            <p:nvSpPr>
              <p:cNvPr id="238" name="Google Shape;238;p17"/>
              <p:cNvSpPr txBox="1"/>
              <p:nvPr/>
            </p:nvSpPr>
            <p:spPr>
              <a:xfrm>
                <a:off x="3238500" y="0"/>
                <a:ext cx="19050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Power-User Squads (Tier 2 Focus)</a:t>
                </a:r>
                <a:endParaRPr sz="800" b="0">
                  <a:solidFill>
                    <a:srgbClr val="334155"/>
                  </a:solidFill>
                  <a:latin typeface="Roboto"/>
                  <a:ea typeface="Roboto"/>
                  <a:cs typeface="Roboto"/>
                  <a:sym typeface="Roboto"/>
                </a:endParaRPr>
              </a:p>
            </p:txBody>
          </p:sp>
          <p:sp>
            <p:nvSpPr>
              <p:cNvPr id="239" name="Google Shape;239;p17"/>
              <p:cNvSpPr txBox="1"/>
              <p:nvPr/>
            </p:nvSpPr>
            <p:spPr>
              <a:xfrm>
                <a:off x="51435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Carrie, Yannick, Brad</a:t>
                </a:r>
                <a:endParaRPr sz="800" b="0">
                  <a:solidFill>
                    <a:srgbClr val="334155"/>
                  </a:solidFill>
                  <a:latin typeface="Roboto"/>
                  <a:ea typeface="Roboto"/>
                  <a:cs typeface="Roboto"/>
                  <a:sym typeface="Roboto"/>
                </a:endParaRPr>
              </a:p>
            </p:txBody>
          </p:sp>
          <p:sp>
            <p:nvSpPr>
              <p:cNvPr id="240" name="Google Shape;240;p17"/>
              <p:cNvSpPr txBox="1"/>
              <p:nvPr/>
            </p:nvSpPr>
            <p:spPr>
              <a:xfrm>
                <a:off x="6858000" y="0"/>
                <a:ext cx="15717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Capped spend; targeted RDI</a:t>
                </a:r>
                <a:endParaRPr sz="800" b="0">
                  <a:solidFill>
                    <a:srgbClr val="334155"/>
                  </a:solidFill>
                  <a:latin typeface="Roboto"/>
                  <a:ea typeface="Roboto"/>
                  <a:cs typeface="Roboto"/>
                  <a:sym typeface="Roboto"/>
                </a:endParaRPr>
              </a:p>
            </p:txBody>
          </p:sp>
        </p:grpSp>
        <p:cxnSp>
          <p:nvCxnSpPr>
            <p:cNvPr id="241" name="Google Shape;241;p17"/>
            <p:cNvCxnSpPr/>
            <p:nvPr/>
          </p:nvCxnSpPr>
          <p:spPr>
            <a:xfrm>
              <a:off x="0" y="100965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242" name="Google Shape;242;p17"/>
            <p:cNvGrpSpPr/>
            <p:nvPr/>
          </p:nvGrpSpPr>
          <p:grpSpPr>
            <a:xfrm>
              <a:off x="142875" y="1009650"/>
              <a:ext cx="8286825" cy="247800"/>
              <a:chOff x="142875" y="0"/>
              <a:chExt cx="8286825" cy="247800"/>
            </a:xfrm>
          </p:grpSpPr>
          <p:sp>
            <p:nvSpPr>
              <p:cNvPr id="243" name="Google Shape;243;p17"/>
              <p:cNvSpPr txBox="1"/>
              <p:nvPr/>
            </p:nvSpPr>
            <p:spPr>
              <a:xfrm>
                <a:off x="142875" y="0"/>
                <a:ext cx="1333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F172A"/>
                    </a:solidFill>
                    <a:latin typeface="Roboto"/>
                    <a:ea typeface="Roboto"/>
                    <a:cs typeface="Roboto"/>
                    <a:sym typeface="Roboto"/>
                  </a:rPr>
                  <a:t>3. Dual-Track</a:t>
                </a:r>
                <a:endParaRPr sz="800" b="1">
                  <a:solidFill>
                    <a:srgbClr val="0F172A"/>
                  </a:solidFill>
                  <a:latin typeface="Roboto"/>
                  <a:ea typeface="Roboto"/>
                  <a:cs typeface="Roboto"/>
                  <a:sym typeface="Roboto"/>
                </a:endParaRPr>
              </a:p>
            </p:txBody>
          </p:sp>
          <p:sp>
            <p:nvSpPr>
              <p:cNvPr id="244" name="Google Shape;244;p17"/>
              <p:cNvSpPr txBox="1"/>
              <p:nvPr/>
            </p:nvSpPr>
            <p:spPr>
              <a:xfrm>
                <a:off x="15240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Athena &amp; Sergey (Usage Guidelines)</a:t>
                </a:r>
                <a:endParaRPr sz="800" b="0">
                  <a:solidFill>
                    <a:srgbClr val="334155"/>
                  </a:solidFill>
                  <a:latin typeface="Roboto"/>
                  <a:ea typeface="Roboto"/>
                  <a:cs typeface="Roboto"/>
                  <a:sym typeface="Roboto"/>
                </a:endParaRPr>
              </a:p>
            </p:txBody>
          </p:sp>
          <p:sp>
            <p:nvSpPr>
              <p:cNvPr id="245" name="Google Shape;245;p17"/>
              <p:cNvSpPr txBox="1"/>
              <p:nvPr/>
            </p:nvSpPr>
            <p:spPr>
              <a:xfrm>
                <a:off x="3238500" y="0"/>
                <a:ext cx="19050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Brad's Team (Dual-Product Runbooks)</a:t>
                </a:r>
                <a:endParaRPr sz="800" b="0">
                  <a:solidFill>
                    <a:srgbClr val="334155"/>
                  </a:solidFill>
                  <a:latin typeface="Roboto"/>
                  <a:ea typeface="Roboto"/>
                  <a:cs typeface="Roboto"/>
                  <a:sym typeface="Roboto"/>
                </a:endParaRPr>
              </a:p>
            </p:txBody>
          </p:sp>
          <p:sp>
            <p:nvSpPr>
              <p:cNvPr id="246" name="Google Shape;246;p17"/>
              <p:cNvSpPr txBox="1"/>
              <p:nvPr/>
            </p:nvSpPr>
            <p:spPr>
              <a:xfrm>
                <a:off x="51435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Athena, Sergey (GetDX)</a:t>
                </a:r>
                <a:endParaRPr sz="800" b="0">
                  <a:solidFill>
                    <a:srgbClr val="334155"/>
                  </a:solidFill>
                  <a:latin typeface="Roboto"/>
                  <a:ea typeface="Roboto"/>
                  <a:cs typeface="Roboto"/>
                  <a:sym typeface="Roboto"/>
                </a:endParaRPr>
              </a:p>
            </p:txBody>
          </p:sp>
          <p:sp>
            <p:nvSpPr>
              <p:cNvPr id="247" name="Google Shape;247;p17"/>
              <p:cNvSpPr txBox="1"/>
              <p:nvPr/>
            </p:nvSpPr>
            <p:spPr>
              <a:xfrm>
                <a:off x="6858000" y="0"/>
                <a:ext cx="15717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Complementary tooling; Inline vs CLI</a:t>
                </a:r>
                <a:endParaRPr sz="800" b="0">
                  <a:solidFill>
                    <a:srgbClr val="334155"/>
                  </a:solidFill>
                  <a:latin typeface="Roboto"/>
                  <a:ea typeface="Roboto"/>
                  <a:cs typeface="Roboto"/>
                  <a:sym typeface="Roboto"/>
                </a:endParaRPr>
              </a:p>
            </p:txBody>
          </p:sp>
        </p:grpSp>
        <p:cxnSp>
          <p:nvCxnSpPr>
            <p:cNvPr id="248" name="Google Shape;248;p17"/>
            <p:cNvCxnSpPr/>
            <p:nvPr/>
          </p:nvCxnSpPr>
          <p:spPr>
            <a:xfrm>
              <a:off x="0" y="125730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249" name="Google Shape;249;p17"/>
            <p:cNvGrpSpPr/>
            <p:nvPr/>
          </p:nvGrpSpPr>
          <p:grpSpPr>
            <a:xfrm>
              <a:off x="142875" y="1257300"/>
              <a:ext cx="8286825" cy="247800"/>
              <a:chOff x="142875" y="0"/>
              <a:chExt cx="8286825" cy="247800"/>
            </a:xfrm>
          </p:grpSpPr>
          <p:sp>
            <p:nvSpPr>
              <p:cNvPr id="250" name="Google Shape;250;p17"/>
              <p:cNvSpPr txBox="1"/>
              <p:nvPr/>
            </p:nvSpPr>
            <p:spPr>
              <a:xfrm>
                <a:off x="142875" y="0"/>
                <a:ext cx="1333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F172A"/>
                    </a:solidFill>
                    <a:latin typeface="Roboto"/>
                    <a:ea typeface="Roboto"/>
                    <a:cs typeface="Roboto"/>
                    <a:sym typeface="Roboto"/>
                  </a:rPr>
                  <a:t>4. Complete Rejection</a:t>
                </a:r>
                <a:endParaRPr sz="800" b="1">
                  <a:solidFill>
                    <a:srgbClr val="0F172A"/>
                  </a:solidFill>
                  <a:latin typeface="Roboto"/>
                  <a:ea typeface="Roboto"/>
                  <a:cs typeface="Roboto"/>
                  <a:sym typeface="Roboto"/>
                </a:endParaRPr>
              </a:p>
            </p:txBody>
          </p:sp>
          <p:sp>
            <p:nvSpPr>
              <p:cNvPr id="251" name="Google Shape;251;p17"/>
              <p:cNvSpPr txBox="1"/>
              <p:nvPr/>
            </p:nvSpPr>
            <p:spPr>
              <a:xfrm>
                <a:off x="15240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Offboard Seats / Sunset Contract</a:t>
                </a:r>
                <a:endParaRPr sz="800" b="0">
                  <a:solidFill>
                    <a:srgbClr val="334155"/>
                  </a:solidFill>
                  <a:latin typeface="Roboto"/>
                  <a:ea typeface="Roboto"/>
                  <a:cs typeface="Roboto"/>
                  <a:sym typeface="Roboto"/>
                </a:endParaRPr>
              </a:p>
            </p:txBody>
          </p:sp>
          <p:sp>
            <p:nvSpPr>
              <p:cNvPr id="252" name="Google Shape;252;p17"/>
              <p:cNvSpPr txBox="1"/>
              <p:nvPr/>
            </p:nvSpPr>
            <p:spPr>
              <a:xfrm>
                <a:off x="3238500" y="0"/>
                <a:ext cx="19050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Ops Team (Context Migration)</a:t>
                </a:r>
                <a:endParaRPr sz="800" b="0">
                  <a:solidFill>
                    <a:srgbClr val="334155"/>
                  </a:solidFill>
                  <a:latin typeface="Roboto"/>
                  <a:ea typeface="Roboto"/>
                  <a:cs typeface="Roboto"/>
                  <a:sym typeface="Roboto"/>
                </a:endParaRPr>
              </a:p>
            </p:txBody>
          </p:sp>
          <p:sp>
            <p:nvSpPr>
              <p:cNvPr id="253" name="Google Shape;253;p17"/>
              <p:cNvSpPr txBox="1"/>
              <p:nvPr/>
            </p:nvSpPr>
            <p:spPr>
              <a:xfrm>
                <a:off x="51435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Sergey (Telemetry Pivot), Brad</a:t>
                </a:r>
                <a:endParaRPr sz="800" b="0">
                  <a:solidFill>
                    <a:srgbClr val="334155"/>
                  </a:solidFill>
                  <a:latin typeface="Roboto"/>
                  <a:ea typeface="Roboto"/>
                  <a:cs typeface="Roboto"/>
                  <a:sym typeface="Roboto"/>
                </a:endParaRPr>
              </a:p>
            </p:txBody>
          </p:sp>
          <p:sp>
            <p:nvSpPr>
              <p:cNvPr id="254" name="Google Shape;254;p17"/>
              <p:cNvSpPr txBox="1"/>
              <p:nvPr/>
            </p:nvSpPr>
            <p:spPr>
              <a:xfrm>
                <a:off x="6858000" y="0"/>
                <a:ext cx="15717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30-day soft landing; PR bot pivot</a:t>
                </a:r>
                <a:endParaRPr sz="800" b="0">
                  <a:solidFill>
                    <a:srgbClr val="334155"/>
                  </a:solidFill>
                  <a:latin typeface="Roboto"/>
                  <a:ea typeface="Roboto"/>
                  <a:cs typeface="Roboto"/>
                  <a:sym typeface="Roboto"/>
                </a:endParaRPr>
              </a:p>
            </p:txBody>
          </p:sp>
        </p:grpSp>
        <p:cxnSp>
          <p:nvCxnSpPr>
            <p:cNvPr id="255" name="Google Shape;255;p17"/>
            <p:cNvCxnSpPr/>
            <p:nvPr/>
          </p:nvCxnSpPr>
          <p:spPr>
            <a:xfrm>
              <a:off x="0" y="150495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256" name="Google Shape;256;p17"/>
            <p:cNvGrpSpPr/>
            <p:nvPr/>
          </p:nvGrpSpPr>
          <p:grpSpPr>
            <a:xfrm>
              <a:off x="142875" y="1504950"/>
              <a:ext cx="8286825" cy="247800"/>
              <a:chOff x="142875" y="0"/>
              <a:chExt cx="8286825" cy="247800"/>
            </a:xfrm>
          </p:grpSpPr>
          <p:sp>
            <p:nvSpPr>
              <p:cNvPr id="257" name="Google Shape;257;p17"/>
              <p:cNvSpPr txBox="1"/>
              <p:nvPr/>
            </p:nvSpPr>
            <p:spPr>
              <a:xfrm>
                <a:off x="142875" y="0"/>
                <a:ext cx="1333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F172A"/>
                    </a:solidFill>
                    <a:latin typeface="Roboto"/>
                    <a:ea typeface="Roboto"/>
                    <a:cs typeface="Roboto"/>
                    <a:sym typeface="Roboto"/>
                  </a:rPr>
                  <a:t>5. Extending Pilot</a:t>
                </a:r>
                <a:endParaRPr sz="800" b="1">
                  <a:solidFill>
                    <a:srgbClr val="0F172A"/>
                  </a:solidFill>
                  <a:latin typeface="Roboto"/>
                  <a:ea typeface="Roboto"/>
                  <a:cs typeface="Roboto"/>
                  <a:sym typeface="Roboto"/>
                </a:endParaRPr>
              </a:p>
            </p:txBody>
          </p:sp>
          <p:sp>
            <p:nvSpPr>
              <p:cNvPr id="258" name="Google Shape;258;p17"/>
              <p:cNvSpPr txBox="1"/>
              <p:nvPr/>
            </p:nvSpPr>
            <p:spPr>
              <a:xfrm>
                <a:off x="15240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Anthropic Procurement &amp; MRM Lead</a:t>
                </a:r>
                <a:endParaRPr sz="800" b="0">
                  <a:solidFill>
                    <a:srgbClr val="334155"/>
                  </a:solidFill>
                  <a:latin typeface="Roboto"/>
                  <a:ea typeface="Roboto"/>
                  <a:cs typeface="Roboto"/>
                  <a:sym typeface="Roboto"/>
                </a:endParaRPr>
              </a:p>
            </p:txBody>
          </p:sp>
          <p:sp>
            <p:nvSpPr>
              <p:cNvPr id="259" name="Google Shape;259;p17"/>
              <p:cNvSpPr txBox="1"/>
              <p:nvPr/>
            </p:nvSpPr>
            <p:spPr>
              <a:xfrm>
                <a:off x="3238500" y="0"/>
                <a:ext cx="19050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Brad's Team (Load Testing Triage)</a:t>
                </a:r>
                <a:endParaRPr sz="800" b="0">
                  <a:solidFill>
                    <a:srgbClr val="334155"/>
                  </a:solidFill>
                  <a:latin typeface="Roboto"/>
                  <a:ea typeface="Roboto"/>
                  <a:cs typeface="Roboto"/>
                  <a:sym typeface="Roboto"/>
                </a:endParaRPr>
              </a:p>
            </p:txBody>
          </p:sp>
          <p:sp>
            <p:nvSpPr>
              <p:cNvPr id="260" name="Google Shape;260;p17"/>
              <p:cNvSpPr txBox="1"/>
              <p:nvPr/>
            </p:nvSpPr>
            <p:spPr>
              <a:xfrm>
                <a:off x="51435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Brad (Ops Load Test), Sergey</a:t>
                </a:r>
                <a:endParaRPr sz="800" b="0">
                  <a:solidFill>
                    <a:srgbClr val="334155"/>
                  </a:solidFill>
                  <a:latin typeface="Roboto"/>
                  <a:ea typeface="Roboto"/>
                  <a:cs typeface="Roboto"/>
                  <a:sym typeface="Roboto"/>
                </a:endParaRPr>
              </a:p>
            </p:txBody>
          </p:sp>
          <p:sp>
            <p:nvSpPr>
              <p:cNvPr id="261" name="Google Shape;261;p17"/>
              <p:cNvSpPr txBox="1"/>
              <p:nvPr/>
            </p:nvSpPr>
            <p:spPr>
              <a:xfrm>
                <a:off x="6858000" y="0"/>
                <a:ext cx="15717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100-seat cap freeze; 30–45 day trial</a:t>
                </a:r>
                <a:endParaRPr sz="800" b="0">
                  <a:solidFill>
                    <a:srgbClr val="334155"/>
                  </a:solidFill>
                  <a:latin typeface="Roboto"/>
                  <a:ea typeface="Roboto"/>
                  <a:cs typeface="Roboto"/>
                  <a:sym typeface="Roboto"/>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65"/>
        <p:cNvGrpSpPr/>
        <p:nvPr/>
      </p:nvGrpSpPr>
      <p:grpSpPr>
        <a:xfrm>
          <a:off x="0" y="0"/>
          <a:ext cx="0" cy="0"/>
          <a:chOff x="0" y="0"/>
          <a:chExt cx="0" cy="0"/>
        </a:xfrm>
      </p:grpSpPr>
      <p:sp>
        <p:nvSpPr>
          <p:cNvPr id="266" name="Google Shape;266;p18"/>
          <p:cNvSpPr txBox="1"/>
          <p:nvPr/>
        </p:nvSpPr>
        <p:spPr>
          <a:xfrm>
            <a:off x="285750" y="190500"/>
            <a:ext cx="85725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1800" b="1" i="0">
                <a:solidFill>
                  <a:srgbClr val="111827"/>
                </a:solidFill>
                <a:latin typeface="Roboto"/>
                <a:ea typeface="Roboto"/>
                <a:cs typeface="Roboto"/>
                <a:sym typeface="Roboto"/>
              </a:rPr>
              <a:t>AI Assistant Pilot: What Happens Next? (5 Possible Scenarios)</a:t>
            </a:r>
            <a:endParaRPr sz="1800" b="1" i="0">
              <a:solidFill>
                <a:srgbClr val="111827"/>
              </a:solidFill>
              <a:latin typeface="Roboto"/>
              <a:ea typeface="Roboto"/>
              <a:cs typeface="Roboto"/>
              <a:sym typeface="Roboto"/>
            </a:endParaRPr>
          </a:p>
        </p:txBody>
      </p:sp>
      <p:sp>
        <p:nvSpPr>
          <p:cNvPr id="267" name="Google Shape;267;p18"/>
          <p:cNvSpPr txBox="1"/>
          <p:nvPr/>
        </p:nvSpPr>
        <p:spPr>
          <a:xfrm>
            <a:off x="285750" y="495300"/>
            <a:ext cx="85725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8" b="0" i="0">
                <a:solidFill>
                  <a:srgbClr val="4B5563"/>
                </a:solidFill>
                <a:latin typeface="Roboto"/>
                <a:ea typeface="Roboto"/>
                <a:cs typeface="Roboto"/>
                <a:sym typeface="Roboto"/>
              </a:rPr>
              <a:t>We are deciding the future of the Claude AI pilot. Depending on the final review, here is how team ownership, licensing, technical support, and tool changes will work across 5 potential pathways for our 100-user limit.</a:t>
            </a:r>
            <a:endParaRPr sz="698" b="0" i="0">
              <a:solidFill>
                <a:srgbClr val="4B5563"/>
              </a:solidFill>
              <a:latin typeface="Roboto"/>
              <a:ea typeface="Roboto"/>
              <a:cs typeface="Roboto"/>
              <a:sym typeface="Roboto"/>
            </a:endParaRPr>
          </a:p>
        </p:txBody>
      </p:sp>
      <p:grpSp>
        <p:nvGrpSpPr>
          <p:cNvPr id="268" name="Google Shape;268;p18"/>
          <p:cNvGrpSpPr/>
          <p:nvPr/>
        </p:nvGrpSpPr>
        <p:grpSpPr>
          <a:xfrm>
            <a:off x="285750" y="809625"/>
            <a:ext cx="1619100" cy="2190900"/>
            <a:chOff x="0" y="0"/>
            <a:chExt cx="1619100" cy="2190900"/>
          </a:xfrm>
        </p:grpSpPr>
        <p:sp>
          <p:nvSpPr>
            <p:cNvPr id="269" name="Google Shape;269;p18"/>
            <p:cNvSpPr/>
            <p:nvPr/>
          </p:nvSpPr>
          <p:spPr>
            <a:xfrm>
              <a:off x="0" y="0"/>
              <a:ext cx="1619100" cy="2190900"/>
            </a:xfrm>
            <a:prstGeom prst="roundRect">
              <a:avLst>
                <a:gd name="adj" fmla="val 352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0" name="Google Shape;270;p18"/>
            <p:cNvSpPr/>
            <p:nvPr/>
          </p:nvSpPr>
          <p:spPr>
            <a:xfrm>
              <a:off x="0" y="0"/>
              <a:ext cx="1619100" cy="304800"/>
            </a:xfrm>
            <a:prstGeom prst="roundRect">
              <a:avLst>
                <a:gd name="adj" fmla="val 1875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 name="Google Shape;271;p18"/>
            <p:cNvSpPr txBox="1"/>
            <p:nvPr/>
          </p:nvSpPr>
          <p:spPr>
            <a:xfrm>
              <a:off x="95250" y="0"/>
              <a:ext cx="1428900" cy="304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950" b="1" i="0">
                  <a:solidFill>
                    <a:srgbClr val="1E3A8A"/>
                  </a:solidFill>
                  <a:latin typeface="Roboto"/>
                  <a:ea typeface="Roboto"/>
                  <a:cs typeface="Roboto"/>
                  <a:sym typeface="Roboto"/>
                </a:rPr>
                <a:t>1. Full Adoption</a:t>
              </a:r>
              <a:endParaRPr sz="950" b="1" i="0">
                <a:solidFill>
                  <a:srgbClr val="1E3A8A"/>
                </a:solidFill>
                <a:latin typeface="Roboto"/>
                <a:ea typeface="Roboto"/>
                <a:cs typeface="Roboto"/>
                <a:sym typeface="Roboto"/>
              </a:endParaRPr>
            </a:p>
          </p:txBody>
        </p:sp>
        <p:sp>
          <p:nvSpPr>
            <p:cNvPr id="272" name="Google Shape;272;p18"/>
            <p:cNvSpPr txBox="1"/>
            <p:nvPr/>
          </p:nvSpPr>
          <p:spPr>
            <a:xfrm>
              <a:off x="95250" y="342900"/>
              <a:ext cx="1428900" cy="304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Switch 100% to Claude Code.</a:t>
              </a:r>
              <a:endParaRPr sz="694" b="0" i="0">
                <a:solidFill>
                  <a:srgbClr val="4B5563"/>
                </a:solidFill>
                <a:latin typeface="Roboto"/>
                <a:ea typeface="Roboto"/>
                <a:cs typeface="Roboto"/>
                <a:sym typeface="Roboto"/>
              </a:endParaRPr>
            </a:p>
          </p:txBody>
        </p:sp>
        <p:cxnSp>
          <p:nvCxnSpPr>
            <p:cNvPr id="273" name="Google Shape;273;p18"/>
            <p:cNvCxnSpPr/>
            <p:nvPr/>
          </p:nvCxnSpPr>
          <p:spPr>
            <a:xfrm>
              <a:off x="95250" y="685800"/>
              <a:ext cx="14289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274" name="Google Shape;274;p18"/>
            <p:cNvSpPr txBox="1"/>
            <p:nvPr/>
          </p:nvSpPr>
          <p:spPr>
            <a:xfrm>
              <a:off x="95250" y="7239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STRATEGIC DECISION</a:t>
              </a:r>
              <a:endParaRPr sz="694" b="1">
                <a:solidFill>
                  <a:srgbClr val="1E40AF"/>
                </a:solidFill>
                <a:latin typeface="Roboto"/>
                <a:ea typeface="Roboto"/>
                <a:cs typeface="Roboto"/>
                <a:sym typeface="Roboto"/>
              </a:endParaRPr>
            </a:p>
          </p:txBody>
        </p:sp>
        <p:sp>
          <p:nvSpPr>
            <p:cNvPr id="275" name="Google Shape;275;p18"/>
            <p:cNvSpPr txBox="1"/>
            <p:nvPr/>
          </p:nvSpPr>
          <p:spPr>
            <a:xfrm>
              <a:off x="95250" y="866775"/>
              <a:ext cx="1428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Replace GitHub Copilot; make Claude Code our main company tool.</a:t>
              </a:r>
              <a:endParaRPr sz="694" b="0" i="0">
                <a:solidFill>
                  <a:srgbClr val="4B5563"/>
                </a:solidFill>
                <a:latin typeface="Roboto"/>
                <a:ea typeface="Roboto"/>
                <a:cs typeface="Roboto"/>
                <a:sym typeface="Roboto"/>
              </a:endParaRPr>
            </a:p>
          </p:txBody>
        </p:sp>
        <p:sp>
          <p:nvSpPr>
            <p:cNvPr id="276" name="Google Shape;276;p18"/>
            <p:cNvSpPr txBox="1"/>
            <p:nvPr/>
          </p:nvSpPr>
          <p:spPr>
            <a:xfrm>
              <a:off x="95250" y="12192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GOVERNANCE</a:t>
              </a:r>
              <a:endParaRPr sz="694" b="1">
                <a:solidFill>
                  <a:srgbClr val="1E40AF"/>
                </a:solidFill>
                <a:latin typeface="Roboto"/>
                <a:ea typeface="Roboto"/>
                <a:cs typeface="Roboto"/>
                <a:sym typeface="Roboto"/>
              </a:endParaRPr>
            </a:p>
          </p:txBody>
        </p:sp>
        <p:sp>
          <p:nvSpPr>
            <p:cNvPr id="277" name="Google Shape;277;p18"/>
            <p:cNvSpPr txBox="1"/>
            <p:nvPr/>
          </p:nvSpPr>
          <p:spPr>
            <a:xfrm>
              <a:off x="95250" y="1362075"/>
              <a:ext cx="1428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Finalize the long-term contract with Anthropic before April.</a:t>
              </a:r>
              <a:endParaRPr sz="694" b="0" i="0">
                <a:solidFill>
                  <a:srgbClr val="4B5563"/>
                </a:solidFill>
                <a:latin typeface="Roboto"/>
                <a:ea typeface="Roboto"/>
                <a:cs typeface="Roboto"/>
                <a:sym typeface="Roboto"/>
              </a:endParaRPr>
            </a:p>
          </p:txBody>
        </p:sp>
        <p:sp>
          <p:nvSpPr>
            <p:cNvPr id="278" name="Google Shape;278;p18"/>
            <p:cNvSpPr txBox="1"/>
            <p:nvPr/>
          </p:nvSpPr>
          <p:spPr>
            <a:xfrm>
              <a:off x="95250" y="17145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OPERATIONS</a:t>
              </a:r>
              <a:endParaRPr sz="694" b="1">
                <a:solidFill>
                  <a:srgbClr val="1E40AF"/>
                </a:solidFill>
                <a:latin typeface="Roboto"/>
                <a:ea typeface="Roboto"/>
                <a:cs typeface="Roboto"/>
                <a:sym typeface="Roboto"/>
              </a:endParaRPr>
            </a:p>
          </p:txBody>
        </p:sp>
        <p:sp>
          <p:nvSpPr>
            <p:cNvPr id="279" name="Google Shape;279;p18"/>
            <p:cNvSpPr txBox="1"/>
            <p:nvPr/>
          </p:nvSpPr>
          <p:spPr>
            <a:xfrm>
              <a:off x="95250" y="1857375"/>
              <a:ext cx="14289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Hand over all tech support to Brad &amp; Jim's team.</a:t>
              </a:r>
              <a:endParaRPr sz="694" b="0" i="0">
                <a:solidFill>
                  <a:srgbClr val="4B5563"/>
                </a:solidFill>
                <a:latin typeface="Roboto"/>
                <a:ea typeface="Roboto"/>
                <a:cs typeface="Roboto"/>
                <a:sym typeface="Roboto"/>
              </a:endParaRPr>
            </a:p>
          </p:txBody>
        </p:sp>
      </p:grpSp>
      <p:grpSp>
        <p:nvGrpSpPr>
          <p:cNvPr id="280" name="Google Shape;280;p18"/>
          <p:cNvGrpSpPr/>
          <p:nvPr/>
        </p:nvGrpSpPr>
        <p:grpSpPr>
          <a:xfrm>
            <a:off x="2019300" y="809625"/>
            <a:ext cx="1619100" cy="2190900"/>
            <a:chOff x="0" y="0"/>
            <a:chExt cx="1619100" cy="2190900"/>
          </a:xfrm>
        </p:grpSpPr>
        <p:sp>
          <p:nvSpPr>
            <p:cNvPr id="281" name="Google Shape;281;p18"/>
            <p:cNvSpPr/>
            <p:nvPr/>
          </p:nvSpPr>
          <p:spPr>
            <a:xfrm>
              <a:off x="0" y="0"/>
              <a:ext cx="1619100" cy="2190900"/>
            </a:xfrm>
            <a:prstGeom prst="roundRect">
              <a:avLst>
                <a:gd name="adj" fmla="val 352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2" name="Google Shape;282;p18"/>
            <p:cNvSpPr/>
            <p:nvPr/>
          </p:nvSpPr>
          <p:spPr>
            <a:xfrm>
              <a:off x="0" y="0"/>
              <a:ext cx="1619100" cy="304800"/>
            </a:xfrm>
            <a:prstGeom prst="roundRect">
              <a:avLst>
                <a:gd name="adj" fmla="val 1875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3" name="Google Shape;283;p18"/>
            <p:cNvSpPr txBox="1"/>
            <p:nvPr/>
          </p:nvSpPr>
          <p:spPr>
            <a:xfrm>
              <a:off x="95250" y="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50" b="1">
                  <a:solidFill>
                    <a:srgbClr val="1E3A8A"/>
                  </a:solidFill>
                  <a:latin typeface="Roboto"/>
                  <a:ea typeface="Roboto"/>
                  <a:cs typeface="Roboto"/>
                  <a:sym typeface="Roboto"/>
                </a:rPr>
                <a:t>2. Hybrid Model</a:t>
              </a:r>
              <a:endParaRPr sz="950" b="1">
                <a:solidFill>
                  <a:srgbClr val="1E3A8A"/>
                </a:solidFill>
                <a:latin typeface="Roboto"/>
                <a:ea typeface="Roboto"/>
                <a:cs typeface="Roboto"/>
                <a:sym typeface="Roboto"/>
              </a:endParaRPr>
            </a:p>
          </p:txBody>
        </p:sp>
        <p:sp>
          <p:nvSpPr>
            <p:cNvPr id="284" name="Google Shape;284;p18"/>
            <p:cNvSpPr txBox="1"/>
            <p:nvPr/>
          </p:nvSpPr>
          <p:spPr>
            <a:xfrm>
              <a:off x="95250" y="342900"/>
              <a:ext cx="1428900" cy="304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Split tools by task and team.</a:t>
              </a:r>
              <a:endParaRPr sz="694" b="0" i="0">
                <a:solidFill>
                  <a:srgbClr val="4B5563"/>
                </a:solidFill>
                <a:latin typeface="Roboto"/>
                <a:ea typeface="Roboto"/>
                <a:cs typeface="Roboto"/>
                <a:sym typeface="Roboto"/>
              </a:endParaRPr>
            </a:p>
          </p:txBody>
        </p:sp>
        <p:cxnSp>
          <p:nvCxnSpPr>
            <p:cNvPr id="285" name="Google Shape;285;p18"/>
            <p:cNvCxnSpPr/>
            <p:nvPr/>
          </p:nvCxnSpPr>
          <p:spPr>
            <a:xfrm>
              <a:off x="95250" y="685800"/>
              <a:ext cx="14289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286" name="Google Shape;286;p18"/>
            <p:cNvSpPr txBox="1"/>
            <p:nvPr/>
          </p:nvSpPr>
          <p:spPr>
            <a:xfrm>
              <a:off x="95250" y="7239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STRATEGIC DECISION</a:t>
              </a:r>
              <a:endParaRPr sz="694" b="1">
                <a:solidFill>
                  <a:srgbClr val="1E40AF"/>
                </a:solidFill>
                <a:latin typeface="Roboto"/>
                <a:ea typeface="Roboto"/>
                <a:cs typeface="Roboto"/>
                <a:sym typeface="Roboto"/>
              </a:endParaRPr>
            </a:p>
          </p:txBody>
        </p:sp>
        <p:sp>
          <p:nvSpPr>
            <p:cNvPr id="287" name="Google Shape;287;p18"/>
            <p:cNvSpPr txBox="1"/>
            <p:nvPr/>
          </p:nvSpPr>
          <p:spPr>
            <a:xfrm>
              <a:off x="95250" y="866775"/>
              <a:ext cx="1428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Use Claude for complex tasks; keep Copilot for general coding.</a:t>
              </a:r>
              <a:endParaRPr sz="694" b="0" i="0">
                <a:solidFill>
                  <a:srgbClr val="4B5563"/>
                </a:solidFill>
                <a:latin typeface="Roboto"/>
                <a:ea typeface="Roboto"/>
                <a:cs typeface="Roboto"/>
                <a:sym typeface="Roboto"/>
              </a:endParaRPr>
            </a:p>
          </p:txBody>
        </p:sp>
        <p:sp>
          <p:nvSpPr>
            <p:cNvPr id="288" name="Google Shape;288;p18"/>
            <p:cNvSpPr txBox="1"/>
            <p:nvPr/>
          </p:nvSpPr>
          <p:spPr>
            <a:xfrm>
              <a:off x="95250" y="12192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GOVERNANCE</a:t>
              </a:r>
              <a:endParaRPr sz="694" b="1">
                <a:solidFill>
                  <a:srgbClr val="1E40AF"/>
                </a:solidFill>
                <a:latin typeface="Roboto"/>
                <a:ea typeface="Roboto"/>
                <a:cs typeface="Roboto"/>
                <a:sym typeface="Roboto"/>
              </a:endParaRPr>
            </a:p>
          </p:txBody>
        </p:sp>
        <p:sp>
          <p:nvSpPr>
            <p:cNvPr id="289" name="Google Shape;289;p18"/>
            <p:cNvSpPr txBox="1"/>
            <p:nvPr/>
          </p:nvSpPr>
          <p:spPr>
            <a:xfrm>
              <a:off x="95250" y="1362075"/>
              <a:ext cx="1428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Cap costs; Carrie &amp; Yannick set rules for who gets Claude access.</a:t>
              </a:r>
              <a:endParaRPr sz="694" b="0" i="0">
                <a:solidFill>
                  <a:srgbClr val="4B5563"/>
                </a:solidFill>
                <a:latin typeface="Roboto"/>
                <a:ea typeface="Roboto"/>
                <a:cs typeface="Roboto"/>
                <a:sym typeface="Roboto"/>
              </a:endParaRPr>
            </a:p>
          </p:txBody>
        </p:sp>
        <p:sp>
          <p:nvSpPr>
            <p:cNvPr id="290" name="Google Shape;290;p18"/>
            <p:cNvSpPr txBox="1"/>
            <p:nvPr/>
          </p:nvSpPr>
          <p:spPr>
            <a:xfrm>
              <a:off x="95250" y="17145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OPERATIONS</a:t>
              </a:r>
              <a:endParaRPr sz="694" b="1">
                <a:solidFill>
                  <a:srgbClr val="1E40AF"/>
                </a:solidFill>
                <a:latin typeface="Roboto"/>
                <a:ea typeface="Roboto"/>
                <a:cs typeface="Roboto"/>
                <a:sym typeface="Roboto"/>
              </a:endParaRPr>
            </a:p>
          </p:txBody>
        </p:sp>
        <p:sp>
          <p:nvSpPr>
            <p:cNvPr id="291" name="Google Shape;291;p18"/>
            <p:cNvSpPr txBox="1"/>
            <p:nvPr/>
          </p:nvSpPr>
          <p:spPr>
            <a:xfrm>
              <a:off x="95250" y="1857375"/>
              <a:ext cx="14289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Focused support for power users.</a:t>
              </a:r>
              <a:endParaRPr sz="694" b="0" i="0">
                <a:solidFill>
                  <a:srgbClr val="4B5563"/>
                </a:solidFill>
                <a:latin typeface="Roboto"/>
                <a:ea typeface="Roboto"/>
                <a:cs typeface="Roboto"/>
                <a:sym typeface="Roboto"/>
              </a:endParaRPr>
            </a:p>
          </p:txBody>
        </p:sp>
      </p:grpSp>
      <p:grpSp>
        <p:nvGrpSpPr>
          <p:cNvPr id="292" name="Google Shape;292;p18"/>
          <p:cNvGrpSpPr/>
          <p:nvPr/>
        </p:nvGrpSpPr>
        <p:grpSpPr>
          <a:xfrm>
            <a:off x="3762375" y="809625"/>
            <a:ext cx="1619100" cy="2190900"/>
            <a:chOff x="0" y="0"/>
            <a:chExt cx="1619100" cy="2190900"/>
          </a:xfrm>
        </p:grpSpPr>
        <p:sp>
          <p:nvSpPr>
            <p:cNvPr id="293" name="Google Shape;293;p18"/>
            <p:cNvSpPr/>
            <p:nvPr/>
          </p:nvSpPr>
          <p:spPr>
            <a:xfrm>
              <a:off x="0" y="0"/>
              <a:ext cx="1619100" cy="2190900"/>
            </a:xfrm>
            <a:prstGeom prst="roundRect">
              <a:avLst>
                <a:gd name="adj" fmla="val 352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4" name="Google Shape;294;p18"/>
            <p:cNvSpPr/>
            <p:nvPr/>
          </p:nvSpPr>
          <p:spPr>
            <a:xfrm>
              <a:off x="0" y="0"/>
              <a:ext cx="1619100" cy="304800"/>
            </a:xfrm>
            <a:prstGeom prst="roundRect">
              <a:avLst>
                <a:gd name="adj" fmla="val 1875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5" name="Google Shape;295;p18"/>
            <p:cNvSpPr txBox="1"/>
            <p:nvPr/>
          </p:nvSpPr>
          <p:spPr>
            <a:xfrm>
              <a:off x="95250" y="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50" b="1">
                  <a:solidFill>
                    <a:srgbClr val="1E3A8A"/>
                  </a:solidFill>
                  <a:latin typeface="Roboto"/>
                  <a:ea typeface="Roboto"/>
                  <a:cs typeface="Roboto"/>
                  <a:sym typeface="Roboto"/>
                </a:rPr>
                <a:t>3. Dual-Track</a:t>
              </a:r>
              <a:endParaRPr sz="950" b="1">
                <a:solidFill>
                  <a:srgbClr val="1E3A8A"/>
                </a:solidFill>
                <a:latin typeface="Roboto"/>
                <a:ea typeface="Roboto"/>
                <a:cs typeface="Roboto"/>
                <a:sym typeface="Roboto"/>
              </a:endParaRPr>
            </a:p>
          </p:txBody>
        </p:sp>
        <p:sp>
          <p:nvSpPr>
            <p:cNvPr id="296" name="Google Shape;296;p18"/>
            <p:cNvSpPr txBox="1"/>
            <p:nvPr/>
          </p:nvSpPr>
          <p:spPr>
            <a:xfrm>
              <a:off x="95250" y="342900"/>
              <a:ext cx="1428900" cy="304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Keep both tools side-by-side.</a:t>
              </a:r>
              <a:endParaRPr sz="694" b="0" i="0">
                <a:solidFill>
                  <a:srgbClr val="4B5563"/>
                </a:solidFill>
                <a:latin typeface="Roboto"/>
                <a:ea typeface="Roboto"/>
                <a:cs typeface="Roboto"/>
                <a:sym typeface="Roboto"/>
              </a:endParaRPr>
            </a:p>
          </p:txBody>
        </p:sp>
        <p:cxnSp>
          <p:nvCxnSpPr>
            <p:cNvPr id="297" name="Google Shape;297;p18"/>
            <p:cNvCxnSpPr/>
            <p:nvPr/>
          </p:nvCxnSpPr>
          <p:spPr>
            <a:xfrm>
              <a:off x="95250" y="685800"/>
              <a:ext cx="14289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298" name="Google Shape;298;p18"/>
            <p:cNvSpPr txBox="1"/>
            <p:nvPr/>
          </p:nvSpPr>
          <p:spPr>
            <a:xfrm>
              <a:off x="95250" y="7239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STRATEGIC DECISION</a:t>
              </a:r>
              <a:endParaRPr sz="694" b="1">
                <a:solidFill>
                  <a:srgbClr val="1E40AF"/>
                </a:solidFill>
                <a:latin typeface="Roboto"/>
                <a:ea typeface="Roboto"/>
                <a:cs typeface="Roboto"/>
                <a:sym typeface="Roboto"/>
              </a:endParaRPr>
            </a:p>
          </p:txBody>
        </p:sp>
        <p:sp>
          <p:nvSpPr>
            <p:cNvPr id="299" name="Google Shape;299;p18"/>
            <p:cNvSpPr txBox="1"/>
            <p:nvPr/>
          </p:nvSpPr>
          <p:spPr>
            <a:xfrm>
              <a:off x="95250" y="866775"/>
              <a:ext cx="1428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Keep both active; define clear rules for when to use each.</a:t>
              </a:r>
              <a:endParaRPr sz="694" b="0" i="0">
                <a:solidFill>
                  <a:srgbClr val="4B5563"/>
                </a:solidFill>
                <a:latin typeface="Roboto"/>
                <a:ea typeface="Roboto"/>
                <a:cs typeface="Roboto"/>
                <a:sym typeface="Roboto"/>
              </a:endParaRPr>
            </a:p>
          </p:txBody>
        </p:sp>
        <p:sp>
          <p:nvSpPr>
            <p:cNvPr id="300" name="Google Shape;300;p18"/>
            <p:cNvSpPr txBox="1"/>
            <p:nvPr/>
          </p:nvSpPr>
          <p:spPr>
            <a:xfrm>
              <a:off x="95250" y="12192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GOVERNANCE</a:t>
              </a:r>
              <a:endParaRPr sz="694" b="1">
                <a:solidFill>
                  <a:srgbClr val="1E40AF"/>
                </a:solidFill>
                <a:latin typeface="Roboto"/>
                <a:ea typeface="Roboto"/>
                <a:cs typeface="Roboto"/>
                <a:sym typeface="Roboto"/>
              </a:endParaRPr>
            </a:p>
          </p:txBody>
        </p:sp>
        <p:sp>
          <p:nvSpPr>
            <p:cNvPr id="301" name="Google Shape;301;p18"/>
            <p:cNvSpPr txBox="1"/>
            <p:nvPr/>
          </p:nvSpPr>
          <p:spPr>
            <a:xfrm>
              <a:off x="95250" y="1362075"/>
              <a:ext cx="1428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Publish exact usage guidelines from Athena &amp; Sergey.</a:t>
              </a:r>
              <a:endParaRPr sz="694" b="0" i="0">
                <a:solidFill>
                  <a:srgbClr val="4B5563"/>
                </a:solidFill>
                <a:latin typeface="Roboto"/>
                <a:ea typeface="Roboto"/>
                <a:cs typeface="Roboto"/>
                <a:sym typeface="Roboto"/>
              </a:endParaRPr>
            </a:p>
          </p:txBody>
        </p:sp>
        <p:sp>
          <p:nvSpPr>
            <p:cNvPr id="302" name="Google Shape;302;p18"/>
            <p:cNvSpPr txBox="1"/>
            <p:nvPr/>
          </p:nvSpPr>
          <p:spPr>
            <a:xfrm>
              <a:off x="95250" y="17145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OPERATIONS</a:t>
              </a:r>
              <a:endParaRPr sz="694" b="1">
                <a:solidFill>
                  <a:srgbClr val="1E40AF"/>
                </a:solidFill>
                <a:latin typeface="Roboto"/>
                <a:ea typeface="Roboto"/>
                <a:cs typeface="Roboto"/>
                <a:sym typeface="Roboto"/>
              </a:endParaRPr>
            </a:p>
          </p:txBody>
        </p:sp>
        <p:sp>
          <p:nvSpPr>
            <p:cNvPr id="303" name="Google Shape;303;p18"/>
            <p:cNvSpPr txBox="1"/>
            <p:nvPr/>
          </p:nvSpPr>
          <p:spPr>
            <a:xfrm>
              <a:off x="95250" y="1857375"/>
              <a:ext cx="14289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Create guides and tracking for both products.</a:t>
              </a:r>
              <a:endParaRPr sz="694" b="0" i="0">
                <a:solidFill>
                  <a:srgbClr val="4B5563"/>
                </a:solidFill>
                <a:latin typeface="Roboto"/>
                <a:ea typeface="Roboto"/>
                <a:cs typeface="Roboto"/>
                <a:sym typeface="Roboto"/>
              </a:endParaRPr>
            </a:p>
          </p:txBody>
        </p:sp>
      </p:grpSp>
      <p:grpSp>
        <p:nvGrpSpPr>
          <p:cNvPr id="304" name="Google Shape;304;p18"/>
          <p:cNvGrpSpPr/>
          <p:nvPr/>
        </p:nvGrpSpPr>
        <p:grpSpPr>
          <a:xfrm>
            <a:off x="5495925" y="809625"/>
            <a:ext cx="1619100" cy="2190900"/>
            <a:chOff x="0" y="0"/>
            <a:chExt cx="1619100" cy="2190900"/>
          </a:xfrm>
        </p:grpSpPr>
        <p:sp>
          <p:nvSpPr>
            <p:cNvPr id="305" name="Google Shape;305;p18"/>
            <p:cNvSpPr/>
            <p:nvPr/>
          </p:nvSpPr>
          <p:spPr>
            <a:xfrm>
              <a:off x="0" y="0"/>
              <a:ext cx="1619100" cy="2190900"/>
            </a:xfrm>
            <a:prstGeom prst="roundRect">
              <a:avLst>
                <a:gd name="adj" fmla="val 352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6" name="Google Shape;306;p18"/>
            <p:cNvSpPr/>
            <p:nvPr/>
          </p:nvSpPr>
          <p:spPr>
            <a:xfrm>
              <a:off x="0" y="0"/>
              <a:ext cx="1619100" cy="304800"/>
            </a:xfrm>
            <a:prstGeom prst="roundRect">
              <a:avLst>
                <a:gd name="adj" fmla="val 1875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7" name="Google Shape;307;p18"/>
            <p:cNvSpPr txBox="1"/>
            <p:nvPr/>
          </p:nvSpPr>
          <p:spPr>
            <a:xfrm>
              <a:off x="95250" y="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50" b="1">
                  <a:solidFill>
                    <a:srgbClr val="1E3A8A"/>
                  </a:solidFill>
                  <a:latin typeface="Roboto"/>
                  <a:ea typeface="Roboto"/>
                  <a:cs typeface="Roboto"/>
                  <a:sym typeface="Roboto"/>
                </a:rPr>
                <a:t>4. Complete Rejection</a:t>
              </a:r>
              <a:endParaRPr sz="950" b="1">
                <a:solidFill>
                  <a:srgbClr val="1E3A8A"/>
                </a:solidFill>
                <a:latin typeface="Roboto"/>
                <a:ea typeface="Roboto"/>
                <a:cs typeface="Roboto"/>
                <a:sym typeface="Roboto"/>
              </a:endParaRPr>
            </a:p>
          </p:txBody>
        </p:sp>
        <p:sp>
          <p:nvSpPr>
            <p:cNvPr id="308" name="Google Shape;308;p18"/>
            <p:cNvSpPr txBox="1"/>
            <p:nvPr/>
          </p:nvSpPr>
          <p:spPr>
            <a:xfrm>
              <a:off x="95250" y="342900"/>
              <a:ext cx="1428900" cy="304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Cancel Claude and return to Copilot.</a:t>
              </a:r>
              <a:endParaRPr sz="694" b="0" i="0">
                <a:solidFill>
                  <a:srgbClr val="4B5563"/>
                </a:solidFill>
                <a:latin typeface="Roboto"/>
                <a:ea typeface="Roboto"/>
                <a:cs typeface="Roboto"/>
                <a:sym typeface="Roboto"/>
              </a:endParaRPr>
            </a:p>
          </p:txBody>
        </p:sp>
        <p:cxnSp>
          <p:nvCxnSpPr>
            <p:cNvPr id="309" name="Google Shape;309;p18"/>
            <p:cNvCxnSpPr/>
            <p:nvPr/>
          </p:nvCxnSpPr>
          <p:spPr>
            <a:xfrm>
              <a:off x="95250" y="685800"/>
              <a:ext cx="14289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310" name="Google Shape;310;p18"/>
            <p:cNvSpPr txBox="1"/>
            <p:nvPr/>
          </p:nvSpPr>
          <p:spPr>
            <a:xfrm>
              <a:off x="95250" y="7239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STRATEGIC DECISION</a:t>
              </a:r>
              <a:endParaRPr sz="694" b="1">
                <a:solidFill>
                  <a:srgbClr val="1E40AF"/>
                </a:solidFill>
                <a:latin typeface="Roboto"/>
                <a:ea typeface="Roboto"/>
                <a:cs typeface="Roboto"/>
                <a:sym typeface="Roboto"/>
              </a:endParaRPr>
            </a:p>
          </p:txBody>
        </p:sp>
        <p:sp>
          <p:nvSpPr>
            <p:cNvPr id="311" name="Google Shape;311;p18"/>
            <p:cNvSpPr txBox="1"/>
            <p:nvPr/>
          </p:nvSpPr>
          <p:spPr>
            <a:xfrm>
              <a:off x="95250" y="866775"/>
              <a:ext cx="1428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Stop Claude Code; return 100% of developers to Copilot.</a:t>
              </a:r>
              <a:endParaRPr sz="694" b="0" i="0">
                <a:solidFill>
                  <a:srgbClr val="4B5563"/>
                </a:solidFill>
                <a:latin typeface="Roboto"/>
                <a:ea typeface="Roboto"/>
                <a:cs typeface="Roboto"/>
                <a:sym typeface="Roboto"/>
              </a:endParaRPr>
            </a:p>
          </p:txBody>
        </p:sp>
        <p:sp>
          <p:nvSpPr>
            <p:cNvPr id="312" name="Google Shape;312;p18"/>
            <p:cNvSpPr txBox="1"/>
            <p:nvPr/>
          </p:nvSpPr>
          <p:spPr>
            <a:xfrm>
              <a:off x="95250" y="12192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OFFBOARDING</a:t>
              </a:r>
              <a:endParaRPr sz="694" b="1">
                <a:solidFill>
                  <a:srgbClr val="1E40AF"/>
                </a:solidFill>
                <a:latin typeface="Roboto"/>
                <a:ea typeface="Roboto"/>
                <a:cs typeface="Roboto"/>
                <a:sym typeface="Roboto"/>
              </a:endParaRPr>
            </a:p>
          </p:txBody>
        </p:sp>
        <p:sp>
          <p:nvSpPr>
            <p:cNvPr id="313" name="Google Shape;313;p18"/>
            <p:cNvSpPr txBox="1"/>
            <p:nvPr/>
          </p:nvSpPr>
          <p:spPr>
            <a:xfrm>
              <a:off x="95250" y="1362075"/>
              <a:ext cx="1428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Provide a 30-day graceful exit with prompt-saving tools.</a:t>
              </a:r>
              <a:endParaRPr sz="694" b="0" i="0">
                <a:solidFill>
                  <a:srgbClr val="4B5563"/>
                </a:solidFill>
                <a:latin typeface="Roboto"/>
                <a:ea typeface="Roboto"/>
                <a:cs typeface="Roboto"/>
                <a:sym typeface="Roboto"/>
              </a:endParaRPr>
            </a:p>
          </p:txBody>
        </p:sp>
        <p:sp>
          <p:nvSpPr>
            <p:cNvPr id="314" name="Google Shape;314;p18"/>
            <p:cNvSpPr txBox="1"/>
            <p:nvPr/>
          </p:nvSpPr>
          <p:spPr>
            <a:xfrm>
              <a:off x="95250" y="17145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ASSET SALVAGING</a:t>
              </a:r>
              <a:endParaRPr sz="694" b="1">
                <a:solidFill>
                  <a:srgbClr val="1E40AF"/>
                </a:solidFill>
                <a:latin typeface="Roboto"/>
                <a:ea typeface="Roboto"/>
                <a:cs typeface="Roboto"/>
                <a:sym typeface="Roboto"/>
              </a:endParaRPr>
            </a:p>
          </p:txBody>
        </p:sp>
        <p:sp>
          <p:nvSpPr>
            <p:cNvPr id="315" name="Google Shape;315;p18"/>
            <p:cNvSpPr txBox="1"/>
            <p:nvPr/>
          </p:nvSpPr>
          <p:spPr>
            <a:xfrm>
              <a:off x="95250" y="1857375"/>
              <a:ext cx="14289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Turn built tools and connectors into automated PR bots.</a:t>
              </a:r>
              <a:endParaRPr sz="694" b="0" i="0">
                <a:solidFill>
                  <a:srgbClr val="4B5563"/>
                </a:solidFill>
                <a:latin typeface="Roboto"/>
                <a:ea typeface="Roboto"/>
                <a:cs typeface="Roboto"/>
                <a:sym typeface="Roboto"/>
              </a:endParaRPr>
            </a:p>
          </p:txBody>
        </p:sp>
      </p:grpSp>
      <p:grpSp>
        <p:nvGrpSpPr>
          <p:cNvPr id="316" name="Google Shape;316;p18"/>
          <p:cNvGrpSpPr/>
          <p:nvPr/>
        </p:nvGrpSpPr>
        <p:grpSpPr>
          <a:xfrm>
            <a:off x="7239000" y="809625"/>
            <a:ext cx="1619100" cy="2190900"/>
            <a:chOff x="0" y="0"/>
            <a:chExt cx="1619100" cy="2190900"/>
          </a:xfrm>
        </p:grpSpPr>
        <p:sp>
          <p:nvSpPr>
            <p:cNvPr id="317" name="Google Shape;317;p18"/>
            <p:cNvSpPr/>
            <p:nvPr/>
          </p:nvSpPr>
          <p:spPr>
            <a:xfrm>
              <a:off x="0" y="0"/>
              <a:ext cx="1619100" cy="2190900"/>
            </a:xfrm>
            <a:prstGeom prst="roundRect">
              <a:avLst>
                <a:gd name="adj" fmla="val 352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8" name="Google Shape;318;p18"/>
            <p:cNvSpPr/>
            <p:nvPr/>
          </p:nvSpPr>
          <p:spPr>
            <a:xfrm>
              <a:off x="0" y="0"/>
              <a:ext cx="1619100" cy="304800"/>
            </a:xfrm>
            <a:prstGeom prst="roundRect">
              <a:avLst>
                <a:gd name="adj" fmla="val 18750"/>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9" name="Google Shape;319;p18"/>
            <p:cNvSpPr txBox="1"/>
            <p:nvPr/>
          </p:nvSpPr>
          <p:spPr>
            <a:xfrm>
              <a:off x="95250" y="0"/>
              <a:ext cx="1428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50" b="1">
                  <a:solidFill>
                    <a:srgbClr val="1E3A8A"/>
                  </a:solidFill>
                  <a:latin typeface="Roboto"/>
                  <a:ea typeface="Roboto"/>
                  <a:cs typeface="Roboto"/>
                  <a:sym typeface="Roboto"/>
                </a:rPr>
                <a:t>5. Extending Pilot</a:t>
              </a:r>
              <a:endParaRPr sz="950" b="1">
                <a:solidFill>
                  <a:srgbClr val="1E3A8A"/>
                </a:solidFill>
                <a:latin typeface="Roboto"/>
                <a:ea typeface="Roboto"/>
                <a:cs typeface="Roboto"/>
                <a:sym typeface="Roboto"/>
              </a:endParaRPr>
            </a:p>
          </p:txBody>
        </p:sp>
        <p:sp>
          <p:nvSpPr>
            <p:cNvPr id="320" name="Google Shape;320;p18"/>
            <p:cNvSpPr txBox="1"/>
            <p:nvPr/>
          </p:nvSpPr>
          <p:spPr>
            <a:xfrm>
              <a:off x="95250" y="342900"/>
              <a:ext cx="1428900" cy="304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Delay decision &amp; freeze seat count.</a:t>
              </a:r>
              <a:endParaRPr sz="694" b="0" i="0">
                <a:solidFill>
                  <a:srgbClr val="4B5563"/>
                </a:solidFill>
                <a:latin typeface="Roboto"/>
                <a:ea typeface="Roboto"/>
                <a:cs typeface="Roboto"/>
                <a:sym typeface="Roboto"/>
              </a:endParaRPr>
            </a:p>
          </p:txBody>
        </p:sp>
        <p:cxnSp>
          <p:nvCxnSpPr>
            <p:cNvPr id="321" name="Google Shape;321;p18"/>
            <p:cNvCxnSpPr/>
            <p:nvPr/>
          </p:nvCxnSpPr>
          <p:spPr>
            <a:xfrm>
              <a:off x="95250" y="685800"/>
              <a:ext cx="14289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322" name="Google Shape;322;p18"/>
            <p:cNvSpPr txBox="1"/>
            <p:nvPr/>
          </p:nvSpPr>
          <p:spPr>
            <a:xfrm>
              <a:off x="95250" y="7239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STRATEGIC DECISION</a:t>
              </a:r>
              <a:endParaRPr sz="694" b="1">
                <a:solidFill>
                  <a:srgbClr val="1E40AF"/>
                </a:solidFill>
                <a:latin typeface="Roboto"/>
                <a:ea typeface="Roboto"/>
                <a:cs typeface="Roboto"/>
                <a:sym typeface="Roboto"/>
              </a:endParaRPr>
            </a:p>
          </p:txBody>
        </p:sp>
        <p:sp>
          <p:nvSpPr>
            <p:cNvPr id="323" name="Google Shape;323;p18"/>
            <p:cNvSpPr txBox="1"/>
            <p:nvPr/>
          </p:nvSpPr>
          <p:spPr>
            <a:xfrm>
              <a:off x="95250" y="866775"/>
              <a:ext cx="1428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Freeze user count at 100 seats past Dec 1 while evaluating.</a:t>
              </a:r>
              <a:endParaRPr sz="694" b="0" i="0">
                <a:solidFill>
                  <a:srgbClr val="4B5563"/>
                </a:solidFill>
                <a:latin typeface="Roboto"/>
                <a:ea typeface="Roboto"/>
                <a:cs typeface="Roboto"/>
                <a:sym typeface="Roboto"/>
              </a:endParaRPr>
            </a:p>
          </p:txBody>
        </p:sp>
        <p:sp>
          <p:nvSpPr>
            <p:cNvPr id="324" name="Google Shape;324;p18"/>
            <p:cNvSpPr txBox="1"/>
            <p:nvPr/>
          </p:nvSpPr>
          <p:spPr>
            <a:xfrm>
              <a:off x="95250" y="12192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OPERATIONS</a:t>
              </a:r>
              <a:endParaRPr sz="694" b="1">
                <a:solidFill>
                  <a:srgbClr val="1E40AF"/>
                </a:solidFill>
                <a:latin typeface="Roboto"/>
                <a:ea typeface="Roboto"/>
                <a:cs typeface="Roboto"/>
                <a:sym typeface="Roboto"/>
              </a:endParaRPr>
            </a:p>
          </p:txBody>
        </p:sp>
        <p:sp>
          <p:nvSpPr>
            <p:cNvPr id="325" name="Google Shape;325;p18"/>
            <p:cNvSpPr txBox="1"/>
            <p:nvPr/>
          </p:nvSpPr>
          <p:spPr>
            <a:xfrm>
              <a:off x="95250" y="1362075"/>
              <a:ext cx="1428900" cy="333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Run 30 to 45 days of heavy support testing under Brad's team.</a:t>
              </a:r>
              <a:endParaRPr sz="694" b="0" i="0">
                <a:solidFill>
                  <a:srgbClr val="4B5563"/>
                </a:solidFill>
                <a:latin typeface="Roboto"/>
                <a:ea typeface="Roboto"/>
                <a:cs typeface="Roboto"/>
                <a:sym typeface="Roboto"/>
              </a:endParaRPr>
            </a:p>
          </p:txBody>
        </p:sp>
        <p:sp>
          <p:nvSpPr>
            <p:cNvPr id="326" name="Google Shape;326;p18"/>
            <p:cNvSpPr txBox="1"/>
            <p:nvPr/>
          </p:nvSpPr>
          <p:spPr>
            <a:xfrm>
              <a:off x="95250" y="1714500"/>
              <a:ext cx="14289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94" b="1">
                  <a:solidFill>
                    <a:srgbClr val="1E40AF"/>
                  </a:solidFill>
                  <a:latin typeface="Roboto"/>
                  <a:ea typeface="Roboto"/>
                  <a:cs typeface="Roboto"/>
                  <a:sym typeface="Roboto"/>
                </a:rPr>
                <a:t>GOVERNANCE RISK</a:t>
              </a:r>
              <a:endParaRPr sz="694" b="1">
                <a:solidFill>
                  <a:srgbClr val="1E40AF"/>
                </a:solidFill>
                <a:latin typeface="Roboto"/>
                <a:ea typeface="Roboto"/>
                <a:cs typeface="Roboto"/>
                <a:sym typeface="Roboto"/>
              </a:endParaRPr>
            </a:p>
          </p:txBody>
        </p:sp>
        <p:sp>
          <p:nvSpPr>
            <p:cNvPr id="327" name="Google Shape;327;p18"/>
            <p:cNvSpPr txBox="1"/>
            <p:nvPr/>
          </p:nvSpPr>
          <p:spPr>
            <a:xfrm>
              <a:off x="95250" y="1857375"/>
              <a:ext cx="14289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694" b="0" i="0">
                  <a:solidFill>
                    <a:srgbClr val="4B5563"/>
                  </a:solidFill>
                  <a:latin typeface="Roboto"/>
                  <a:ea typeface="Roboto"/>
                  <a:cs typeface="Roboto"/>
                  <a:sym typeface="Roboto"/>
                </a:rPr>
                <a:t>Manage purchasing and risk approval timelines closely.</a:t>
              </a:r>
              <a:endParaRPr sz="694" b="0" i="0">
                <a:solidFill>
                  <a:srgbClr val="4B5563"/>
                </a:solidFill>
                <a:latin typeface="Roboto"/>
                <a:ea typeface="Roboto"/>
                <a:cs typeface="Roboto"/>
                <a:sym typeface="Roboto"/>
              </a:endParaRPr>
            </a:p>
          </p:txBody>
        </p:sp>
      </p:grpSp>
      <p:grpSp>
        <p:nvGrpSpPr>
          <p:cNvPr id="328" name="Google Shape;328;p18"/>
          <p:cNvGrpSpPr/>
          <p:nvPr/>
        </p:nvGrpSpPr>
        <p:grpSpPr>
          <a:xfrm>
            <a:off x="285750" y="3143250"/>
            <a:ext cx="8572500" cy="1762200"/>
            <a:chOff x="0" y="0"/>
            <a:chExt cx="8572500" cy="1762200"/>
          </a:xfrm>
        </p:grpSpPr>
        <p:sp>
          <p:nvSpPr>
            <p:cNvPr id="329" name="Google Shape;329;p18"/>
            <p:cNvSpPr/>
            <p:nvPr/>
          </p:nvSpPr>
          <p:spPr>
            <a:xfrm>
              <a:off x="0" y="0"/>
              <a:ext cx="8572500" cy="1762200"/>
            </a:xfrm>
            <a:prstGeom prst="roundRect">
              <a:avLst>
                <a:gd name="adj" fmla="val 3243"/>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0" name="Google Shape;330;p18"/>
            <p:cNvSpPr/>
            <p:nvPr/>
          </p:nvSpPr>
          <p:spPr>
            <a:xfrm>
              <a:off x="0" y="0"/>
              <a:ext cx="8572500" cy="285900"/>
            </a:xfrm>
            <a:prstGeom prst="roundRect">
              <a:avLst>
                <a:gd name="adj" fmla="val 20000"/>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1" name="Google Shape;331;p18"/>
            <p:cNvSpPr txBox="1"/>
            <p:nvPr/>
          </p:nvSpPr>
          <p:spPr>
            <a:xfrm>
              <a:off x="142875" y="0"/>
              <a:ext cx="82869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950" b="1" i="0">
                  <a:solidFill>
                    <a:srgbClr val="FFFFFF"/>
                  </a:solidFill>
                  <a:latin typeface="Roboto"/>
                  <a:ea typeface="Roboto"/>
                  <a:cs typeface="Roboto"/>
                  <a:sym typeface="Roboto"/>
                </a:rPr>
                <a:t>Who Does What in Each Scenario</a:t>
              </a:r>
              <a:endParaRPr sz="950" b="1" i="0">
                <a:solidFill>
                  <a:srgbClr val="FFFFFF"/>
                </a:solidFill>
                <a:latin typeface="Roboto"/>
                <a:ea typeface="Roboto"/>
                <a:cs typeface="Roboto"/>
                <a:sym typeface="Roboto"/>
              </a:endParaRPr>
            </a:p>
          </p:txBody>
        </p:sp>
        <p:sp>
          <p:nvSpPr>
            <p:cNvPr id="332" name="Google Shape;332;p18"/>
            <p:cNvSpPr/>
            <p:nvPr/>
          </p:nvSpPr>
          <p:spPr>
            <a:xfrm>
              <a:off x="0" y="285750"/>
              <a:ext cx="8572500" cy="2286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3" name="Google Shape;333;p18"/>
            <p:cNvSpPr txBox="1"/>
            <p:nvPr/>
          </p:nvSpPr>
          <p:spPr>
            <a:xfrm>
              <a:off x="142875" y="285750"/>
              <a:ext cx="1333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0F172A"/>
                  </a:solidFill>
                  <a:latin typeface="Roboto"/>
                  <a:ea typeface="Roboto"/>
                  <a:cs typeface="Roboto"/>
                  <a:sym typeface="Roboto"/>
                </a:rPr>
                <a:t>Scenario Pathway</a:t>
              </a:r>
              <a:endParaRPr sz="850" b="1">
                <a:solidFill>
                  <a:srgbClr val="0F172A"/>
                </a:solidFill>
                <a:latin typeface="Roboto"/>
                <a:ea typeface="Roboto"/>
                <a:cs typeface="Roboto"/>
                <a:sym typeface="Roboto"/>
              </a:endParaRPr>
            </a:p>
          </p:txBody>
        </p:sp>
        <p:sp>
          <p:nvSpPr>
            <p:cNvPr id="334" name="Google Shape;334;p18"/>
            <p:cNvSpPr txBox="1"/>
            <p:nvPr/>
          </p:nvSpPr>
          <p:spPr>
            <a:xfrm>
              <a:off x="1524000" y="285750"/>
              <a:ext cx="17145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50" b="1" i="0">
                  <a:solidFill>
                    <a:srgbClr val="0F172A"/>
                  </a:solidFill>
                  <a:latin typeface="Roboto"/>
                  <a:ea typeface="Roboto"/>
                  <a:cs typeface="Roboto"/>
                  <a:sym typeface="Roboto"/>
                </a:rPr>
                <a:t>Legal &amp; Business Lead</a:t>
              </a:r>
              <a:endParaRPr sz="850" b="1" i="0">
                <a:solidFill>
                  <a:srgbClr val="0F172A"/>
                </a:solidFill>
                <a:latin typeface="Roboto"/>
                <a:ea typeface="Roboto"/>
                <a:cs typeface="Roboto"/>
                <a:sym typeface="Roboto"/>
              </a:endParaRPr>
            </a:p>
          </p:txBody>
        </p:sp>
        <p:sp>
          <p:nvSpPr>
            <p:cNvPr id="335" name="Google Shape;335;p18"/>
            <p:cNvSpPr txBox="1"/>
            <p:nvPr/>
          </p:nvSpPr>
          <p:spPr>
            <a:xfrm>
              <a:off x="3238500" y="285750"/>
              <a:ext cx="19050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50" b="1" i="0">
                  <a:solidFill>
                    <a:srgbClr val="0F172A"/>
                  </a:solidFill>
                  <a:latin typeface="Roboto"/>
                  <a:ea typeface="Roboto"/>
                  <a:cs typeface="Roboto"/>
                  <a:sym typeface="Roboto"/>
                </a:rPr>
                <a:t>Support Lead</a:t>
              </a:r>
              <a:endParaRPr sz="850" b="1" i="0">
                <a:solidFill>
                  <a:srgbClr val="0F172A"/>
                </a:solidFill>
                <a:latin typeface="Roboto"/>
                <a:ea typeface="Roboto"/>
                <a:cs typeface="Roboto"/>
                <a:sym typeface="Roboto"/>
              </a:endParaRPr>
            </a:p>
          </p:txBody>
        </p:sp>
        <p:sp>
          <p:nvSpPr>
            <p:cNvPr id="336" name="Google Shape;336;p18"/>
            <p:cNvSpPr txBox="1"/>
            <p:nvPr/>
          </p:nvSpPr>
          <p:spPr>
            <a:xfrm>
              <a:off x="5143500" y="285750"/>
              <a:ext cx="17145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50" b="1" i="0">
                  <a:solidFill>
                    <a:srgbClr val="0F172A"/>
                  </a:solidFill>
                  <a:latin typeface="Roboto"/>
                  <a:ea typeface="Roboto"/>
                  <a:cs typeface="Roboto"/>
                  <a:sym typeface="Roboto"/>
                </a:rPr>
                <a:t>Key People Involved</a:t>
              </a:r>
              <a:endParaRPr sz="850" b="1" i="0">
                <a:solidFill>
                  <a:srgbClr val="0F172A"/>
                </a:solidFill>
                <a:latin typeface="Roboto"/>
                <a:ea typeface="Roboto"/>
                <a:cs typeface="Roboto"/>
                <a:sym typeface="Roboto"/>
              </a:endParaRPr>
            </a:p>
          </p:txBody>
        </p:sp>
        <p:sp>
          <p:nvSpPr>
            <p:cNvPr id="337" name="Google Shape;337;p18"/>
            <p:cNvSpPr txBox="1"/>
            <p:nvPr/>
          </p:nvSpPr>
          <p:spPr>
            <a:xfrm>
              <a:off x="6858000" y="285750"/>
              <a:ext cx="1571700" cy="2286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50" b="1" i="0">
                  <a:solidFill>
                    <a:srgbClr val="0F172A"/>
                  </a:solidFill>
                  <a:latin typeface="Roboto"/>
                  <a:ea typeface="Roboto"/>
                  <a:cs typeface="Roboto"/>
                  <a:sym typeface="Roboto"/>
                </a:rPr>
                <a:t>Main Goal / Limitation</a:t>
              </a:r>
              <a:endParaRPr sz="850" b="1" i="0">
                <a:solidFill>
                  <a:srgbClr val="0F172A"/>
                </a:solidFill>
                <a:latin typeface="Roboto"/>
                <a:ea typeface="Roboto"/>
                <a:cs typeface="Roboto"/>
                <a:sym typeface="Roboto"/>
              </a:endParaRPr>
            </a:p>
          </p:txBody>
        </p:sp>
        <p:cxnSp>
          <p:nvCxnSpPr>
            <p:cNvPr id="338" name="Google Shape;338;p18"/>
            <p:cNvCxnSpPr/>
            <p:nvPr/>
          </p:nvCxnSpPr>
          <p:spPr>
            <a:xfrm>
              <a:off x="0" y="514350"/>
              <a:ext cx="8572500" cy="0"/>
            </a:xfrm>
            <a:prstGeom prst="straightConnector1">
              <a:avLst/>
            </a:prstGeom>
            <a:solidFill>
              <a:srgbClr val="FFFFFF"/>
            </a:solidFill>
            <a:ln w="9525" cap="flat" cmpd="sng">
              <a:solidFill>
                <a:srgbClr val="E2E8F0"/>
              </a:solidFill>
              <a:prstDash val="solid"/>
              <a:round/>
              <a:headEnd type="none" w="sm" len="sm"/>
              <a:tailEnd type="none" w="sm" len="sm"/>
            </a:ln>
          </p:spPr>
        </p:cxnSp>
        <p:grpSp>
          <p:nvGrpSpPr>
            <p:cNvPr id="339" name="Google Shape;339;p18"/>
            <p:cNvGrpSpPr/>
            <p:nvPr/>
          </p:nvGrpSpPr>
          <p:grpSpPr>
            <a:xfrm>
              <a:off x="142875" y="514350"/>
              <a:ext cx="8286825" cy="247800"/>
              <a:chOff x="142875" y="0"/>
              <a:chExt cx="8286825" cy="247800"/>
            </a:xfrm>
          </p:grpSpPr>
          <p:sp>
            <p:nvSpPr>
              <p:cNvPr id="340" name="Google Shape;340;p18"/>
              <p:cNvSpPr txBox="1"/>
              <p:nvPr/>
            </p:nvSpPr>
            <p:spPr>
              <a:xfrm>
                <a:off x="142875" y="0"/>
                <a:ext cx="1333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F172A"/>
                    </a:solidFill>
                    <a:latin typeface="Roboto"/>
                    <a:ea typeface="Roboto"/>
                    <a:cs typeface="Roboto"/>
                    <a:sym typeface="Roboto"/>
                  </a:rPr>
                  <a:t>1. Full Adoption</a:t>
                </a:r>
                <a:endParaRPr sz="800" b="1">
                  <a:solidFill>
                    <a:srgbClr val="0F172A"/>
                  </a:solidFill>
                  <a:latin typeface="Roboto"/>
                  <a:ea typeface="Roboto"/>
                  <a:cs typeface="Roboto"/>
                  <a:sym typeface="Roboto"/>
                </a:endParaRPr>
              </a:p>
            </p:txBody>
          </p:sp>
          <p:sp>
            <p:nvSpPr>
              <p:cNvPr id="341" name="Google Shape;341;p18"/>
              <p:cNvSpPr txBox="1"/>
              <p:nvPr/>
            </p:nvSpPr>
            <p:spPr>
              <a:xfrm>
                <a:off x="15240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Enterprise MSA (Dave / Anthropic)</a:t>
                </a:r>
                <a:endParaRPr sz="800" b="0">
                  <a:solidFill>
                    <a:srgbClr val="334155"/>
                  </a:solidFill>
                  <a:latin typeface="Roboto"/>
                  <a:ea typeface="Roboto"/>
                  <a:cs typeface="Roboto"/>
                  <a:sym typeface="Roboto"/>
                </a:endParaRPr>
              </a:p>
            </p:txBody>
          </p:sp>
          <p:sp>
            <p:nvSpPr>
              <p:cNvPr id="342" name="Google Shape;342;p18"/>
              <p:cNvSpPr txBox="1"/>
              <p:nvPr/>
            </p:nvSpPr>
            <p:spPr>
              <a:xfrm>
                <a:off x="3238500" y="0"/>
                <a:ext cx="19050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Brad &amp; Jim (Tier 1–3 Support)</a:t>
                </a:r>
                <a:endParaRPr sz="800" b="0">
                  <a:solidFill>
                    <a:srgbClr val="334155"/>
                  </a:solidFill>
                  <a:latin typeface="Roboto"/>
                  <a:ea typeface="Roboto"/>
                  <a:cs typeface="Roboto"/>
                  <a:sym typeface="Roboto"/>
                </a:endParaRPr>
              </a:p>
            </p:txBody>
          </p:sp>
          <p:sp>
            <p:nvSpPr>
              <p:cNvPr id="343" name="Google Shape;343;p18"/>
              <p:cNvSpPr txBox="1"/>
              <p:nvPr/>
            </p:nvSpPr>
            <p:spPr>
              <a:xfrm>
                <a:off x="51435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Yannick, Brad, Carrie</a:t>
                </a:r>
                <a:endParaRPr sz="800" b="0">
                  <a:solidFill>
                    <a:srgbClr val="334155"/>
                  </a:solidFill>
                  <a:latin typeface="Roboto"/>
                  <a:ea typeface="Roboto"/>
                  <a:cs typeface="Roboto"/>
                  <a:sym typeface="Roboto"/>
                </a:endParaRPr>
              </a:p>
            </p:txBody>
          </p:sp>
          <p:sp>
            <p:nvSpPr>
              <p:cNvPr id="344" name="Google Shape;344;p18"/>
              <p:cNvSpPr txBox="1"/>
              <p:nvPr/>
            </p:nvSpPr>
            <p:spPr>
              <a:xfrm>
                <a:off x="6858000" y="0"/>
                <a:ext cx="15717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00" b="0" i="0">
                    <a:solidFill>
                      <a:srgbClr val="334155"/>
                    </a:solidFill>
                    <a:latin typeface="Roboto"/>
                    <a:ea typeface="Roboto"/>
                    <a:cs typeface="Roboto"/>
                    <a:sym typeface="Roboto"/>
                  </a:rPr>
                  <a:t>Phase out Copilot; reclaim licenses</a:t>
                </a:r>
                <a:endParaRPr sz="800" b="0" i="0">
                  <a:solidFill>
                    <a:srgbClr val="334155"/>
                  </a:solidFill>
                  <a:latin typeface="Roboto"/>
                  <a:ea typeface="Roboto"/>
                  <a:cs typeface="Roboto"/>
                  <a:sym typeface="Roboto"/>
                </a:endParaRPr>
              </a:p>
            </p:txBody>
          </p:sp>
        </p:grpSp>
        <p:cxnSp>
          <p:nvCxnSpPr>
            <p:cNvPr id="345" name="Google Shape;345;p18"/>
            <p:cNvCxnSpPr/>
            <p:nvPr/>
          </p:nvCxnSpPr>
          <p:spPr>
            <a:xfrm>
              <a:off x="0" y="76200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46" name="Google Shape;346;p18"/>
            <p:cNvGrpSpPr/>
            <p:nvPr/>
          </p:nvGrpSpPr>
          <p:grpSpPr>
            <a:xfrm>
              <a:off x="142875" y="762000"/>
              <a:ext cx="8286825" cy="247800"/>
              <a:chOff x="142875" y="0"/>
              <a:chExt cx="8286825" cy="247800"/>
            </a:xfrm>
          </p:grpSpPr>
          <p:sp>
            <p:nvSpPr>
              <p:cNvPr id="347" name="Google Shape;347;p18"/>
              <p:cNvSpPr txBox="1"/>
              <p:nvPr/>
            </p:nvSpPr>
            <p:spPr>
              <a:xfrm>
                <a:off x="142875" y="0"/>
                <a:ext cx="1333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F172A"/>
                    </a:solidFill>
                    <a:latin typeface="Roboto"/>
                    <a:ea typeface="Roboto"/>
                    <a:cs typeface="Roboto"/>
                    <a:sym typeface="Roboto"/>
                  </a:rPr>
                  <a:t>2. Hybrid Model</a:t>
                </a:r>
                <a:endParaRPr sz="800" b="1">
                  <a:solidFill>
                    <a:srgbClr val="0F172A"/>
                  </a:solidFill>
                  <a:latin typeface="Roboto"/>
                  <a:ea typeface="Roboto"/>
                  <a:cs typeface="Roboto"/>
                  <a:sym typeface="Roboto"/>
                </a:endParaRPr>
              </a:p>
            </p:txBody>
          </p:sp>
          <p:sp>
            <p:nvSpPr>
              <p:cNvPr id="348" name="Google Shape;348;p18"/>
              <p:cNvSpPr txBox="1"/>
              <p:nvPr/>
            </p:nvSpPr>
            <p:spPr>
              <a:xfrm>
                <a:off x="1524000" y="0"/>
                <a:ext cx="17145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00" b="0" i="0">
                    <a:solidFill>
                      <a:srgbClr val="334155"/>
                    </a:solidFill>
                    <a:latin typeface="Roboto"/>
                    <a:ea typeface="Roboto"/>
                    <a:cs typeface="Roboto"/>
                    <a:sym typeface="Roboto"/>
                  </a:rPr>
                  <a:t>Carrie &amp; Yannick (Access Rules)</a:t>
                </a:r>
                <a:endParaRPr sz="800" b="0" i="0">
                  <a:solidFill>
                    <a:srgbClr val="334155"/>
                  </a:solidFill>
                  <a:latin typeface="Roboto"/>
                  <a:ea typeface="Roboto"/>
                  <a:cs typeface="Roboto"/>
                  <a:sym typeface="Roboto"/>
                </a:endParaRPr>
              </a:p>
            </p:txBody>
          </p:sp>
          <p:sp>
            <p:nvSpPr>
              <p:cNvPr id="349" name="Google Shape;349;p18"/>
              <p:cNvSpPr txBox="1"/>
              <p:nvPr/>
            </p:nvSpPr>
            <p:spPr>
              <a:xfrm>
                <a:off x="3238500" y="0"/>
                <a:ext cx="19050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Power-User Squads (Tier 2 Focus)</a:t>
                </a:r>
                <a:endParaRPr sz="800" b="0">
                  <a:solidFill>
                    <a:srgbClr val="334155"/>
                  </a:solidFill>
                  <a:latin typeface="Roboto"/>
                  <a:ea typeface="Roboto"/>
                  <a:cs typeface="Roboto"/>
                  <a:sym typeface="Roboto"/>
                </a:endParaRPr>
              </a:p>
            </p:txBody>
          </p:sp>
          <p:sp>
            <p:nvSpPr>
              <p:cNvPr id="350" name="Google Shape;350;p18"/>
              <p:cNvSpPr txBox="1"/>
              <p:nvPr/>
            </p:nvSpPr>
            <p:spPr>
              <a:xfrm>
                <a:off x="51435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Carrie, Yannick, Brad</a:t>
                </a:r>
                <a:endParaRPr sz="800" b="0">
                  <a:solidFill>
                    <a:srgbClr val="334155"/>
                  </a:solidFill>
                  <a:latin typeface="Roboto"/>
                  <a:ea typeface="Roboto"/>
                  <a:cs typeface="Roboto"/>
                  <a:sym typeface="Roboto"/>
                </a:endParaRPr>
              </a:p>
            </p:txBody>
          </p:sp>
          <p:sp>
            <p:nvSpPr>
              <p:cNvPr id="351" name="Google Shape;351;p18"/>
              <p:cNvSpPr txBox="1"/>
              <p:nvPr/>
            </p:nvSpPr>
            <p:spPr>
              <a:xfrm>
                <a:off x="6858000" y="0"/>
                <a:ext cx="15717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00" b="0" i="0">
                    <a:solidFill>
                      <a:srgbClr val="334155"/>
                    </a:solidFill>
                    <a:latin typeface="Roboto"/>
                    <a:ea typeface="Roboto"/>
                    <a:cs typeface="Roboto"/>
                    <a:sym typeface="Roboto"/>
                  </a:rPr>
                  <a:t>Cap spending; focus on high-impact areas</a:t>
                </a:r>
                <a:endParaRPr sz="800" b="0" i="0">
                  <a:solidFill>
                    <a:srgbClr val="334155"/>
                  </a:solidFill>
                  <a:latin typeface="Roboto"/>
                  <a:ea typeface="Roboto"/>
                  <a:cs typeface="Roboto"/>
                  <a:sym typeface="Roboto"/>
                </a:endParaRPr>
              </a:p>
            </p:txBody>
          </p:sp>
        </p:grpSp>
        <p:cxnSp>
          <p:nvCxnSpPr>
            <p:cNvPr id="352" name="Google Shape;352;p18"/>
            <p:cNvCxnSpPr/>
            <p:nvPr/>
          </p:nvCxnSpPr>
          <p:spPr>
            <a:xfrm>
              <a:off x="0" y="100965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53" name="Google Shape;353;p18"/>
            <p:cNvGrpSpPr/>
            <p:nvPr/>
          </p:nvGrpSpPr>
          <p:grpSpPr>
            <a:xfrm>
              <a:off x="142875" y="1009650"/>
              <a:ext cx="8286825" cy="247800"/>
              <a:chOff x="142875" y="0"/>
              <a:chExt cx="8286825" cy="247800"/>
            </a:xfrm>
          </p:grpSpPr>
          <p:sp>
            <p:nvSpPr>
              <p:cNvPr id="354" name="Google Shape;354;p18"/>
              <p:cNvSpPr txBox="1"/>
              <p:nvPr/>
            </p:nvSpPr>
            <p:spPr>
              <a:xfrm>
                <a:off x="142875" y="0"/>
                <a:ext cx="1333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F172A"/>
                    </a:solidFill>
                    <a:latin typeface="Roboto"/>
                    <a:ea typeface="Roboto"/>
                    <a:cs typeface="Roboto"/>
                    <a:sym typeface="Roboto"/>
                  </a:rPr>
                  <a:t>3. Dual-Track</a:t>
                </a:r>
                <a:endParaRPr sz="800" b="1">
                  <a:solidFill>
                    <a:srgbClr val="0F172A"/>
                  </a:solidFill>
                  <a:latin typeface="Roboto"/>
                  <a:ea typeface="Roboto"/>
                  <a:cs typeface="Roboto"/>
                  <a:sym typeface="Roboto"/>
                </a:endParaRPr>
              </a:p>
            </p:txBody>
          </p:sp>
          <p:sp>
            <p:nvSpPr>
              <p:cNvPr id="355" name="Google Shape;355;p18"/>
              <p:cNvSpPr txBox="1"/>
              <p:nvPr/>
            </p:nvSpPr>
            <p:spPr>
              <a:xfrm>
                <a:off x="1524000" y="0"/>
                <a:ext cx="17145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00" b="0" i="0">
                    <a:solidFill>
                      <a:srgbClr val="334155"/>
                    </a:solidFill>
                    <a:latin typeface="Roboto"/>
                    <a:ea typeface="Roboto"/>
                    <a:cs typeface="Roboto"/>
                    <a:sym typeface="Roboto"/>
                  </a:rPr>
                  <a:t>Athena &amp; Sergey (Usage Rules)</a:t>
                </a:r>
                <a:endParaRPr sz="800" b="0" i="0">
                  <a:solidFill>
                    <a:srgbClr val="334155"/>
                  </a:solidFill>
                  <a:latin typeface="Roboto"/>
                  <a:ea typeface="Roboto"/>
                  <a:cs typeface="Roboto"/>
                  <a:sym typeface="Roboto"/>
                </a:endParaRPr>
              </a:p>
            </p:txBody>
          </p:sp>
          <p:sp>
            <p:nvSpPr>
              <p:cNvPr id="356" name="Google Shape;356;p18"/>
              <p:cNvSpPr txBox="1"/>
              <p:nvPr/>
            </p:nvSpPr>
            <p:spPr>
              <a:xfrm>
                <a:off x="3238500" y="0"/>
                <a:ext cx="19050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Brad's Team (Dual-Product Runbooks)</a:t>
                </a:r>
                <a:endParaRPr sz="800" b="0">
                  <a:solidFill>
                    <a:srgbClr val="334155"/>
                  </a:solidFill>
                  <a:latin typeface="Roboto"/>
                  <a:ea typeface="Roboto"/>
                  <a:cs typeface="Roboto"/>
                  <a:sym typeface="Roboto"/>
                </a:endParaRPr>
              </a:p>
            </p:txBody>
          </p:sp>
          <p:sp>
            <p:nvSpPr>
              <p:cNvPr id="357" name="Google Shape;357;p18"/>
              <p:cNvSpPr txBox="1"/>
              <p:nvPr/>
            </p:nvSpPr>
            <p:spPr>
              <a:xfrm>
                <a:off x="51435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Athena, Sergey (GetDX)</a:t>
                </a:r>
                <a:endParaRPr sz="800" b="0">
                  <a:solidFill>
                    <a:srgbClr val="334155"/>
                  </a:solidFill>
                  <a:latin typeface="Roboto"/>
                  <a:ea typeface="Roboto"/>
                  <a:cs typeface="Roboto"/>
                  <a:sym typeface="Roboto"/>
                </a:endParaRPr>
              </a:p>
            </p:txBody>
          </p:sp>
          <p:sp>
            <p:nvSpPr>
              <p:cNvPr id="358" name="Google Shape;358;p18"/>
              <p:cNvSpPr txBox="1"/>
              <p:nvPr/>
            </p:nvSpPr>
            <p:spPr>
              <a:xfrm>
                <a:off x="6858000" y="0"/>
                <a:ext cx="15717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00" b="0" i="0">
                    <a:solidFill>
                      <a:srgbClr val="334155"/>
                    </a:solidFill>
                    <a:latin typeface="Roboto"/>
                    <a:ea typeface="Roboto"/>
                    <a:cs typeface="Roboto"/>
                    <a:sym typeface="Roboto"/>
                  </a:rPr>
                  <a:t>Tools complement each other; terminal vs inline</a:t>
                </a:r>
                <a:endParaRPr sz="800" b="0" i="0">
                  <a:solidFill>
                    <a:srgbClr val="334155"/>
                  </a:solidFill>
                  <a:latin typeface="Roboto"/>
                  <a:ea typeface="Roboto"/>
                  <a:cs typeface="Roboto"/>
                  <a:sym typeface="Roboto"/>
                </a:endParaRPr>
              </a:p>
            </p:txBody>
          </p:sp>
        </p:grpSp>
        <p:cxnSp>
          <p:nvCxnSpPr>
            <p:cNvPr id="359" name="Google Shape;359;p18"/>
            <p:cNvCxnSpPr/>
            <p:nvPr/>
          </p:nvCxnSpPr>
          <p:spPr>
            <a:xfrm>
              <a:off x="0" y="125730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60" name="Google Shape;360;p18"/>
            <p:cNvGrpSpPr/>
            <p:nvPr/>
          </p:nvGrpSpPr>
          <p:grpSpPr>
            <a:xfrm>
              <a:off x="142875" y="1257300"/>
              <a:ext cx="8286825" cy="247800"/>
              <a:chOff x="142875" y="0"/>
              <a:chExt cx="8286825" cy="247800"/>
            </a:xfrm>
          </p:grpSpPr>
          <p:sp>
            <p:nvSpPr>
              <p:cNvPr id="361" name="Google Shape;361;p18"/>
              <p:cNvSpPr txBox="1"/>
              <p:nvPr/>
            </p:nvSpPr>
            <p:spPr>
              <a:xfrm>
                <a:off x="142875" y="0"/>
                <a:ext cx="1333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F172A"/>
                    </a:solidFill>
                    <a:latin typeface="Roboto"/>
                    <a:ea typeface="Roboto"/>
                    <a:cs typeface="Roboto"/>
                    <a:sym typeface="Roboto"/>
                  </a:rPr>
                  <a:t>4. Complete Rejection</a:t>
                </a:r>
                <a:endParaRPr sz="800" b="1">
                  <a:solidFill>
                    <a:srgbClr val="0F172A"/>
                  </a:solidFill>
                  <a:latin typeface="Roboto"/>
                  <a:ea typeface="Roboto"/>
                  <a:cs typeface="Roboto"/>
                  <a:sym typeface="Roboto"/>
                </a:endParaRPr>
              </a:p>
            </p:txBody>
          </p:sp>
          <p:sp>
            <p:nvSpPr>
              <p:cNvPr id="362" name="Google Shape;362;p18"/>
              <p:cNvSpPr txBox="1"/>
              <p:nvPr/>
            </p:nvSpPr>
            <p:spPr>
              <a:xfrm>
                <a:off x="1524000" y="0"/>
                <a:ext cx="17145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00" b="0" i="0">
                    <a:solidFill>
                      <a:srgbClr val="334155"/>
                    </a:solidFill>
                    <a:latin typeface="Roboto"/>
                    <a:ea typeface="Roboto"/>
                    <a:cs typeface="Roboto"/>
                    <a:sym typeface="Roboto"/>
                  </a:rPr>
                  <a:t>Account Offboarding / End Contract</a:t>
                </a:r>
                <a:endParaRPr sz="800" b="0" i="0">
                  <a:solidFill>
                    <a:srgbClr val="334155"/>
                  </a:solidFill>
                  <a:latin typeface="Roboto"/>
                  <a:ea typeface="Roboto"/>
                  <a:cs typeface="Roboto"/>
                  <a:sym typeface="Roboto"/>
                </a:endParaRPr>
              </a:p>
            </p:txBody>
          </p:sp>
          <p:sp>
            <p:nvSpPr>
              <p:cNvPr id="363" name="Google Shape;363;p18"/>
              <p:cNvSpPr txBox="1"/>
              <p:nvPr/>
            </p:nvSpPr>
            <p:spPr>
              <a:xfrm>
                <a:off x="3238500" y="0"/>
                <a:ext cx="19050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00" b="0" i="0">
                    <a:solidFill>
                      <a:srgbClr val="334155"/>
                    </a:solidFill>
                    <a:latin typeface="Roboto"/>
                    <a:ea typeface="Roboto"/>
                    <a:cs typeface="Roboto"/>
                    <a:sym typeface="Roboto"/>
                  </a:rPr>
                  <a:t>Ops Team (Data Migration)</a:t>
                </a:r>
                <a:endParaRPr sz="800" b="0" i="0">
                  <a:solidFill>
                    <a:srgbClr val="334155"/>
                  </a:solidFill>
                  <a:latin typeface="Roboto"/>
                  <a:ea typeface="Roboto"/>
                  <a:cs typeface="Roboto"/>
                  <a:sym typeface="Roboto"/>
                </a:endParaRPr>
              </a:p>
            </p:txBody>
          </p:sp>
          <p:sp>
            <p:nvSpPr>
              <p:cNvPr id="364" name="Google Shape;364;p18"/>
              <p:cNvSpPr txBox="1"/>
              <p:nvPr/>
            </p:nvSpPr>
            <p:spPr>
              <a:xfrm>
                <a:off x="51435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Sergey (Telemetry Pivot), Brad</a:t>
                </a:r>
                <a:endParaRPr sz="800" b="0">
                  <a:solidFill>
                    <a:srgbClr val="334155"/>
                  </a:solidFill>
                  <a:latin typeface="Roboto"/>
                  <a:ea typeface="Roboto"/>
                  <a:cs typeface="Roboto"/>
                  <a:sym typeface="Roboto"/>
                </a:endParaRPr>
              </a:p>
            </p:txBody>
          </p:sp>
          <p:sp>
            <p:nvSpPr>
              <p:cNvPr id="365" name="Google Shape;365;p18"/>
              <p:cNvSpPr txBox="1"/>
              <p:nvPr/>
            </p:nvSpPr>
            <p:spPr>
              <a:xfrm>
                <a:off x="6858000" y="0"/>
                <a:ext cx="15717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00" b="0" i="0">
                    <a:solidFill>
                      <a:srgbClr val="334155"/>
                    </a:solidFill>
                    <a:latin typeface="Roboto"/>
                    <a:ea typeface="Roboto"/>
                    <a:cs typeface="Roboto"/>
                    <a:sym typeface="Roboto"/>
                  </a:rPr>
                  <a:t>30-day smooth transition; reuse tools as bots</a:t>
                </a:r>
                <a:endParaRPr sz="800" b="0" i="0">
                  <a:solidFill>
                    <a:srgbClr val="334155"/>
                  </a:solidFill>
                  <a:latin typeface="Roboto"/>
                  <a:ea typeface="Roboto"/>
                  <a:cs typeface="Roboto"/>
                  <a:sym typeface="Roboto"/>
                </a:endParaRPr>
              </a:p>
            </p:txBody>
          </p:sp>
        </p:grpSp>
        <p:cxnSp>
          <p:nvCxnSpPr>
            <p:cNvPr id="366" name="Google Shape;366;p18"/>
            <p:cNvCxnSpPr/>
            <p:nvPr/>
          </p:nvCxnSpPr>
          <p:spPr>
            <a:xfrm>
              <a:off x="0" y="150495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367" name="Google Shape;367;p18"/>
            <p:cNvGrpSpPr/>
            <p:nvPr/>
          </p:nvGrpSpPr>
          <p:grpSpPr>
            <a:xfrm>
              <a:off x="142875" y="1504950"/>
              <a:ext cx="8286825" cy="247800"/>
              <a:chOff x="142875" y="0"/>
              <a:chExt cx="8286825" cy="247800"/>
            </a:xfrm>
          </p:grpSpPr>
          <p:sp>
            <p:nvSpPr>
              <p:cNvPr id="368" name="Google Shape;368;p18"/>
              <p:cNvSpPr txBox="1"/>
              <p:nvPr/>
            </p:nvSpPr>
            <p:spPr>
              <a:xfrm>
                <a:off x="142875" y="0"/>
                <a:ext cx="1333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F172A"/>
                    </a:solidFill>
                    <a:latin typeface="Roboto"/>
                    <a:ea typeface="Roboto"/>
                    <a:cs typeface="Roboto"/>
                    <a:sym typeface="Roboto"/>
                  </a:rPr>
                  <a:t>5. Extending Pilot</a:t>
                </a:r>
                <a:endParaRPr sz="800" b="1">
                  <a:solidFill>
                    <a:srgbClr val="0F172A"/>
                  </a:solidFill>
                  <a:latin typeface="Roboto"/>
                  <a:ea typeface="Roboto"/>
                  <a:cs typeface="Roboto"/>
                  <a:sym typeface="Roboto"/>
                </a:endParaRPr>
              </a:p>
            </p:txBody>
          </p:sp>
          <p:sp>
            <p:nvSpPr>
              <p:cNvPr id="369" name="Google Shape;369;p18"/>
              <p:cNvSpPr txBox="1"/>
              <p:nvPr/>
            </p:nvSpPr>
            <p:spPr>
              <a:xfrm>
                <a:off x="15240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Anthropic Procurement &amp; MRM Lead</a:t>
                </a:r>
                <a:endParaRPr sz="800" b="0">
                  <a:solidFill>
                    <a:srgbClr val="334155"/>
                  </a:solidFill>
                  <a:latin typeface="Roboto"/>
                  <a:ea typeface="Roboto"/>
                  <a:cs typeface="Roboto"/>
                  <a:sym typeface="Roboto"/>
                </a:endParaRPr>
              </a:p>
            </p:txBody>
          </p:sp>
          <p:sp>
            <p:nvSpPr>
              <p:cNvPr id="370" name="Google Shape;370;p18"/>
              <p:cNvSpPr txBox="1"/>
              <p:nvPr/>
            </p:nvSpPr>
            <p:spPr>
              <a:xfrm>
                <a:off x="3238500" y="0"/>
                <a:ext cx="19050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Brad's Team (Load Testing Triage)</a:t>
                </a:r>
                <a:endParaRPr sz="800" b="0">
                  <a:solidFill>
                    <a:srgbClr val="334155"/>
                  </a:solidFill>
                  <a:latin typeface="Roboto"/>
                  <a:ea typeface="Roboto"/>
                  <a:cs typeface="Roboto"/>
                  <a:sym typeface="Roboto"/>
                </a:endParaRPr>
              </a:p>
            </p:txBody>
          </p:sp>
          <p:sp>
            <p:nvSpPr>
              <p:cNvPr id="371" name="Google Shape;371;p18"/>
              <p:cNvSpPr txBox="1"/>
              <p:nvPr/>
            </p:nvSpPr>
            <p:spPr>
              <a:xfrm>
                <a:off x="5143500" y="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Roboto"/>
                    <a:ea typeface="Roboto"/>
                    <a:cs typeface="Roboto"/>
                    <a:sym typeface="Roboto"/>
                  </a:rPr>
                  <a:t>Brad (Ops Load Test), Sergey</a:t>
                </a:r>
                <a:endParaRPr sz="800" b="0">
                  <a:solidFill>
                    <a:srgbClr val="334155"/>
                  </a:solidFill>
                  <a:latin typeface="Roboto"/>
                  <a:ea typeface="Roboto"/>
                  <a:cs typeface="Roboto"/>
                  <a:sym typeface="Roboto"/>
                </a:endParaRPr>
              </a:p>
            </p:txBody>
          </p:sp>
          <p:sp>
            <p:nvSpPr>
              <p:cNvPr id="372" name="Google Shape;372;p18"/>
              <p:cNvSpPr txBox="1"/>
              <p:nvPr/>
            </p:nvSpPr>
            <p:spPr>
              <a:xfrm>
                <a:off x="6858000" y="0"/>
                <a:ext cx="1571700" cy="247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800" b="0" i="0">
                    <a:solidFill>
                      <a:srgbClr val="334155"/>
                    </a:solidFill>
                    <a:latin typeface="Roboto"/>
                    <a:ea typeface="Roboto"/>
                    <a:cs typeface="Roboto"/>
                    <a:sym typeface="Roboto"/>
                  </a:rPr>
                  <a:t>Freeze at 100 seats; 30–45 day extra trial</a:t>
                </a:r>
                <a:endParaRPr sz="800" b="0" i="0">
                  <a:solidFill>
                    <a:srgbClr val="334155"/>
                  </a:solidFill>
                  <a:latin typeface="Roboto"/>
                  <a:ea typeface="Roboto"/>
                  <a:cs typeface="Roboto"/>
                  <a:sym typeface="Roboto"/>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pic>
        <p:nvPicPr>
          <p:cNvPr id="377" name="Google Shape;377;p19" title="AI_Pilot_Scaling_Decision_Framework.png"/>
          <p:cNvPicPr preferRelativeResize="0"/>
          <p:nvPr/>
        </p:nvPicPr>
        <p:blipFill>
          <a:blip r:embed="rId3">
            <a:alphaModFix/>
          </a:blip>
          <a:stretch>
            <a:fillRect/>
          </a:stretch>
        </p:blipFill>
        <p:spPr>
          <a:xfrm>
            <a:off x="152400" y="152400"/>
            <a:ext cx="8669870" cy="48387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1"/>
        <p:cNvGrpSpPr/>
        <p:nvPr/>
      </p:nvGrpSpPr>
      <p:grpSpPr>
        <a:xfrm>
          <a:off x="0" y="0"/>
          <a:ext cx="0" cy="0"/>
          <a:chOff x="0" y="0"/>
          <a:chExt cx="0" cy="0"/>
        </a:xfrm>
      </p:grpSpPr>
      <p:pic>
        <p:nvPicPr>
          <p:cNvPr id="382" name="Google Shape;382;p20"/>
          <p:cNvPicPr preferRelativeResize="0"/>
          <p:nvPr/>
        </p:nvPicPr>
        <p:blipFill rotWithShape="1">
          <a:blip r:embed="rId4">
            <a:alphaModFix/>
          </a:blip>
          <a:srcRect/>
          <a:stretch/>
        </p:blipFill>
        <p:spPr>
          <a:xfrm>
            <a:off x="152400" y="152400"/>
            <a:ext cx="8670000" cy="4838700"/>
          </a:xfrm>
          <a:prstGeom prst="rect">
            <a:avLst/>
          </a:prstGeom>
          <a:noFill/>
          <a:ln>
            <a:noFill/>
          </a:ln>
        </p:spPr>
      </p:pic>
      <p:grpSp>
        <p:nvGrpSpPr>
          <p:cNvPr id="383" name="Google Shape;383;p20"/>
          <p:cNvGrpSpPr/>
          <p:nvPr/>
        </p:nvGrpSpPr>
        <p:grpSpPr>
          <a:xfrm>
            <a:off x="428625" y="238125"/>
            <a:ext cx="8382000" cy="476400"/>
            <a:chOff x="0" y="0"/>
            <a:chExt cx="8382000" cy="476400"/>
          </a:xfrm>
        </p:grpSpPr>
        <p:sp>
          <p:nvSpPr>
            <p:cNvPr id="384" name="Google Shape;384;p20"/>
            <p:cNvSpPr/>
            <p:nvPr/>
          </p:nvSpPr>
          <p:spPr>
            <a:xfrm>
              <a:off x="0" y="0"/>
              <a:ext cx="8382000" cy="476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5" name="Google Shape;385;p20"/>
            <p:cNvSpPr txBox="1"/>
            <p:nvPr/>
          </p:nvSpPr>
          <p:spPr>
            <a:xfrm>
              <a:off x="0" y="0"/>
              <a:ext cx="8382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 b="0">
                  <a:solidFill>
                    <a:srgbClr val="0F172A"/>
                  </a:solidFill>
                  <a:latin typeface="Roboto ExtraBold"/>
                  <a:ea typeface="Roboto ExtraBold"/>
                  <a:cs typeface="Roboto ExtraBold"/>
                  <a:sym typeface="Roboto ExtraBold"/>
                </a:rPr>
                <a:t>AI Pilot Scaling Journey: Early December Decision Framework</a:t>
              </a:r>
              <a:endParaRPr sz="2000" b="0">
                <a:solidFill>
                  <a:srgbClr val="0F172A"/>
                </a:solidFill>
                <a:latin typeface="Roboto ExtraBold"/>
                <a:ea typeface="Roboto ExtraBold"/>
                <a:cs typeface="Roboto ExtraBold"/>
                <a:sym typeface="Roboto ExtraBold"/>
              </a:endParaRPr>
            </a:p>
          </p:txBody>
        </p:sp>
      </p:grpSp>
      <p:grpSp>
        <p:nvGrpSpPr>
          <p:cNvPr id="386" name="Google Shape;386;p20"/>
          <p:cNvGrpSpPr/>
          <p:nvPr/>
        </p:nvGrpSpPr>
        <p:grpSpPr>
          <a:xfrm>
            <a:off x="428625" y="952500"/>
            <a:ext cx="2190900" cy="285900"/>
            <a:chOff x="0" y="0"/>
            <a:chExt cx="2190900" cy="285900"/>
          </a:xfrm>
        </p:grpSpPr>
        <p:sp>
          <p:nvSpPr>
            <p:cNvPr id="387" name="Google Shape;387;p20"/>
            <p:cNvSpPr/>
            <p:nvPr/>
          </p:nvSpPr>
          <p:spPr>
            <a:xfrm>
              <a:off x="0" y="0"/>
              <a:ext cx="2190900" cy="2859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8" name="Google Shape;388;p20"/>
            <p:cNvSpPr txBox="1"/>
            <p:nvPr/>
          </p:nvSpPr>
          <p:spPr>
            <a:xfrm>
              <a:off x="0" y="0"/>
              <a:ext cx="2190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950" b="1">
                  <a:solidFill>
                    <a:srgbClr val="FFFFFF"/>
                  </a:solidFill>
                  <a:latin typeface="Roboto"/>
                  <a:ea typeface="Roboto"/>
                  <a:cs typeface="Roboto"/>
                  <a:sym typeface="Roboto"/>
                </a:rPr>
                <a:t>Strategic Adoption Pathways</a:t>
              </a:r>
              <a:endParaRPr sz="950" b="1">
                <a:solidFill>
                  <a:srgbClr val="FFFFFF"/>
                </a:solidFill>
                <a:latin typeface="Roboto"/>
                <a:ea typeface="Roboto"/>
                <a:cs typeface="Roboto"/>
                <a:sym typeface="Roboto"/>
              </a:endParaRPr>
            </a:p>
          </p:txBody>
        </p:sp>
      </p:grpSp>
      <p:grpSp>
        <p:nvGrpSpPr>
          <p:cNvPr id="389" name="Google Shape;389;p20"/>
          <p:cNvGrpSpPr/>
          <p:nvPr/>
        </p:nvGrpSpPr>
        <p:grpSpPr>
          <a:xfrm>
            <a:off x="428625" y="1190625"/>
            <a:ext cx="2000250" cy="1444550"/>
            <a:chOff x="0" y="0"/>
            <a:chExt cx="2000250" cy="1444550"/>
          </a:xfrm>
        </p:grpSpPr>
        <p:sp>
          <p:nvSpPr>
            <p:cNvPr id="390" name="Google Shape;390;p20"/>
            <p:cNvSpPr/>
            <p:nvPr/>
          </p:nvSpPr>
          <p:spPr>
            <a:xfrm>
              <a:off x="0" y="0"/>
              <a:ext cx="1714500" cy="12858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1" name="Google Shape;391;p20"/>
            <p:cNvSpPr txBox="1"/>
            <p:nvPr/>
          </p:nvSpPr>
          <p:spPr>
            <a:xfrm>
              <a:off x="285750" y="158750"/>
              <a:ext cx="1714500" cy="12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a:solidFill>
                    <a:srgbClr val="0F172A"/>
                  </a:solidFill>
                  <a:latin typeface="Roboto ExtraBold"/>
                  <a:ea typeface="Roboto ExtraBold"/>
                  <a:cs typeface="Roboto ExtraBold"/>
                  <a:sym typeface="Roboto ExtraBold"/>
                </a:rPr>
                <a:t>Option 1: Full Enterprise Adoption</a:t>
              </a:r>
              <a:endParaRPr sz="1100" b="0">
                <a:solidFill>
                  <a:srgbClr val="0F172A"/>
                </a:solidFill>
                <a:latin typeface="Roboto ExtraBold"/>
                <a:ea typeface="Roboto ExtraBold"/>
                <a:cs typeface="Roboto ExtraBold"/>
                <a:sym typeface="Roboto ExtraBold"/>
              </a:endParaRPr>
            </a:p>
            <a:p>
              <a:pPr marL="0" lvl="0" indent="0" algn="l" rtl="0">
                <a:spcBef>
                  <a:spcPts val="450"/>
                </a:spcBef>
                <a:spcAft>
                  <a:spcPts val="0"/>
                </a:spcAft>
                <a:buNone/>
              </a:pPr>
              <a:r>
                <a:rPr lang="en" sz="850" b="0">
                  <a:solidFill>
                    <a:srgbClr val="334155"/>
                  </a:solidFill>
                  <a:latin typeface="Roboto"/>
                  <a:ea typeface="Roboto"/>
                  <a:cs typeface="Roboto"/>
                  <a:sym typeface="Roboto"/>
                </a:rPr>
                <a:t>Complete cutover to Claude Code, executing Anthropic MSA and reclaiming Copilot seats.</a:t>
              </a:r>
              <a:endParaRPr sz="850" b="0">
                <a:solidFill>
                  <a:srgbClr val="334155"/>
                </a:solidFill>
                <a:latin typeface="Roboto"/>
                <a:ea typeface="Roboto"/>
                <a:cs typeface="Roboto"/>
                <a:sym typeface="Roboto"/>
              </a:endParaRPr>
            </a:p>
          </p:txBody>
        </p:sp>
      </p:grpSp>
      <p:grpSp>
        <p:nvGrpSpPr>
          <p:cNvPr id="392" name="Google Shape;392;p20"/>
          <p:cNvGrpSpPr/>
          <p:nvPr/>
        </p:nvGrpSpPr>
        <p:grpSpPr>
          <a:xfrm>
            <a:off x="428625" y="2714625"/>
            <a:ext cx="1524000" cy="1428900"/>
            <a:chOff x="0" y="0"/>
            <a:chExt cx="1524000" cy="1428900"/>
          </a:xfrm>
        </p:grpSpPr>
        <p:sp>
          <p:nvSpPr>
            <p:cNvPr id="393" name="Google Shape;393;p20"/>
            <p:cNvSpPr/>
            <p:nvPr/>
          </p:nvSpPr>
          <p:spPr>
            <a:xfrm>
              <a:off x="0" y="0"/>
              <a:ext cx="1524000" cy="1428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4" name="Google Shape;394;p20"/>
            <p:cNvSpPr txBox="1"/>
            <p:nvPr/>
          </p:nvSpPr>
          <p:spPr>
            <a:xfrm>
              <a:off x="0" y="0"/>
              <a:ext cx="15240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a:solidFill>
                    <a:srgbClr val="0F172A"/>
                  </a:solidFill>
                  <a:latin typeface="Roboto ExtraBold"/>
                  <a:ea typeface="Roboto ExtraBold"/>
                  <a:cs typeface="Roboto ExtraBold"/>
                  <a:sym typeface="Roboto ExtraBold"/>
                </a:rPr>
                <a:t>Option 2: Hybrid Ring-Fenced Model</a:t>
              </a:r>
              <a:endParaRPr sz="1100" b="0">
                <a:solidFill>
                  <a:srgbClr val="0F172A"/>
                </a:solidFill>
                <a:latin typeface="Roboto ExtraBold"/>
                <a:ea typeface="Roboto ExtraBold"/>
                <a:cs typeface="Roboto ExtraBold"/>
                <a:sym typeface="Roboto ExtraBold"/>
              </a:endParaRPr>
            </a:p>
            <a:p>
              <a:pPr marL="0" lvl="0" indent="0" algn="l" rtl="0">
                <a:spcBef>
                  <a:spcPts val="450"/>
                </a:spcBef>
                <a:spcAft>
                  <a:spcPts val="0"/>
                </a:spcAft>
                <a:buNone/>
              </a:pPr>
              <a:r>
                <a:rPr lang="en" sz="850" b="0">
                  <a:solidFill>
                    <a:srgbClr val="334155"/>
                  </a:solidFill>
                  <a:latin typeface="Roboto"/>
                  <a:ea typeface="Roboto"/>
                  <a:cs typeface="Roboto"/>
                  <a:sym typeface="Roboto"/>
                </a:rPr>
                <a:t>Targeted deployment for legacy refactoring and infrastructure migrations with capped licensing.</a:t>
              </a:r>
              <a:endParaRPr sz="850" b="0">
                <a:solidFill>
                  <a:srgbClr val="334155"/>
                </a:solidFill>
                <a:latin typeface="Roboto"/>
                <a:ea typeface="Roboto"/>
                <a:cs typeface="Roboto"/>
                <a:sym typeface="Roboto"/>
              </a:endParaRPr>
            </a:p>
          </p:txBody>
        </p:sp>
      </p:grpSp>
      <p:grpSp>
        <p:nvGrpSpPr>
          <p:cNvPr id="395" name="Google Shape;395;p20"/>
          <p:cNvGrpSpPr/>
          <p:nvPr/>
        </p:nvGrpSpPr>
        <p:grpSpPr>
          <a:xfrm>
            <a:off x="2714625" y="3571875"/>
            <a:ext cx="1857300" cy="1095300"/>
            <a:chOff x="0" y="0"/>
            <a:chExt cx="1857300" cy="1095300"/>
          </a:xfrm>
        </p:grpSpPr>
        <p:sp>
          <p:nvSpPr>
            <p:cNvPr id="396" name="Google Shape;396;p20"/>
            <p:cNvSpPr/>
            <p:nvPr/>
          </p:nvSpPr>
          <p:spPr>
            <a:xfrm>
              <a:off x="0" y="0"/>
              <a:ext cx="1857300" cy="10953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7" name="Google Shape;397;p20"/>
            <p:cNvSpPr txBox="1"/>
            <p:nvPr/>
          </p:nvSpPr>
          <p:spPr>
            <a:xfrm>
              <a:off x="0" y="0"/>
              <a:ext cx="1857300" cy="10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a:solidFill>
                    <a:srgbClr val="0F172A"/>
                  </a:solidFill>
                  <a:latin typeface="Roboto ExtraBold"/>
                  <a:ea typeface="Roboto ExtraBold"/>
                  <a:cs typeface="Roboto ExtraBold"/>
                  <a:sym typeface="Roboto ExtraBold"/>
                </a:rPr>
                <a:t>Option 3: Dual-Track Coexistence</a:t>
              </a:r>
              <a:endParaRPr sz="1100" b="0">
                <a:solidFill>
                  <a:srgbClr val="0F172A"/>
                </a:solidFill>
                <a:latin typeface="Roboto ExtraBold"/>
                <a:ea typeface="Roboto ExtraBold"/>
                <a:cs typeface="Roboto ExtraBold"/>
                <a:sym typeface="Roboto ExtraBold"/>
              </a:endParaRPr>
            </a:p>
            <a:p>
              <a:pPr marL="0" lvl="0" indent="0" algn="l" rtl="0">
                <a:spcBef>
                  <a:spcPts val="450"/>
                </a:spcBef>
                <a:spcAft>
                  <a:spcPts val="0"/>
                </a:spcAft>
                <a:buNone/>
              </a:pPr>
              <a:r>
                <a:rPr lang="en" sz="850" b="0">
                  <a:solidFill>
                    <a:srgbClr val="334155"/>
                  </a:solidFill>
                  <a:latin typeface="Roboto"/>
                  <a:ea typeface="Roboto"/>
                  <a:cs typeface="Roboto"/>
                  <a:sym typeface="Roboto"/>
                </a:rPr>
                <a:t>Copilot for daily inline completions combined with Claude Code for deep terminal tasks.</a:t>
              </a:r>
              <a:endParaRPr sz="850" b="0">
                <a:solidFill>
                  <a:srgbClr val="334155"/>
                </a:solidFill>
                <a:latin typeface="Roboto"/>
                <a:ea typeface="Roboto"/>
                <a:cs typeface="Roboto"/>
                <a:sym typeface="Roboto"/>
              </a:endParaRPr>
            </a:p>
          </p:txBody>
        </p:sp>
      </p:grpSp>
      <p:grpSp>
        <p:nvGrpSpPr>
          <p:cNvPr id="398" name="Google Shape;398;p20"/>
          <p:cNvGrpSpPr/>
          <p:nvPr/>
        </p:nvGrpSpPr>
        <p:grpSpPr>
          <a:xfrm>
            <a:off x="6667500" y="952500"/>
            <a:ext cx="2190900" cy="1381200"/>
            <a:chOff x="0" y="0"/>
            <a:chExt cx="2190900" cy="1381200"/>
          </a:xfrm>
        </p:grpSpPr>
        <p:sp>
          <p:nvSpPr>
            <p:cNvPr id="399" name="Google Shape;399;p20"/>
            <p:cNvSpPr/>
            <p:nvPr/>
          </p:nvSpPr>
          <p:spPr>
            <a:xfrm>
              <a:off x="0" y="0"/>
              <a:ext cx="2190900" cy="13812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0" name="Google Shape;400;p20"/>
            <p:cNvSpPr txBox="1"/>
            <p:nvPr/>
          </p:nvSpPr>
          <p:spPr>
            <a:xfrm>
              <a:off x="0" y="0"/>
              <a:ext cx="2190900" cy="1381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0">
                  <a:solidFill>
                    <a:srgbClr val="0F172A"/>
                  </a:solidFill>
                  <a:latin typeface="Roboto ExtraBold"/>
                  <a:ea typeface="Roboto ExtraBold"/>
                  <a:cs typeface="Roboto ExtraBold"/>
                  <a:sym typeface="Roboto ExtraBold"/>
                </a:rPr>
                <a:t>Early December Decision Gate</a:t>
              </a:r>
              <a:endParaRPr sz="1300" b="0">
                <a:solidFill>
                  <a:srgbClr val="0F172A"/>
                </a:solidFill>
                <a:latin typeface="Roboto ExtraBold"/>
                <a:ea typeface="Roboto ExtraBold"/>
                <a:cs typeface="Roboto ExtraBold"/>
                <a:sym typeface="Roboto ExtraBold"/>
              </a:endParaRPr>
            </a:p>
            <a:p>
              <a:pPr marL="0" lvl="0" indent="0" algn="l" rtl="0">
                <a:spcBef>
                  <a:spcPts val="600"/>
                </a:spcBef>
                <a:spcAft>
                  <a:spcPts val="0"/>
                </a:spcAft>
                <a:buNone/>
              </a:pPr>
              <a:r>
                <a:rPr lang="en" sz="850" b="0">
                  <a:solidFill>
                    <a:srgbClr val="334155"/>
                  </a:solidFill>
                  <a:latin typeface="Roboto"/>
                  <a:ea typeface="Roboto"/>
                  <a:cs typeface="Roboto"/>
                  <a:sym typeface="Roboto"/>
                </a:rPr>
                <a:t>Transitioning from exploratory incubation to a structured scaling engine. This framework outlines five decision pathways to manage operational risk, support capacity, and commercial commitments.</a:t>
              </a:r>
              <a:endParaRPr sz="850" b="0">
                <a:solidFill>
                  <a:srgbClr val="334155"/>
                </a:solidFill>
                <a:latin typeface="Roboto"/>
                <a:ea typeface="Roboto"/>
                <a:cs typeface="Roboto"/>
                <a:sym typeface="Roboto"/>
              </a:endParaRPr>
            </a:p>
          </p:txBody>
        </p:sp>
      </p:grpSp>
      <p:grpSp>
        <p:nvGrpSpPr>
          <p:cNvPr id="401" name="Google Shape;401;p20"/>
          <p:cNvGrpSpPr/>
          <p:nvPr/>
        </p:nvGrpSpPr>
        <p:grpSpPr>
          <a:xfrm>
            <a:off x="7429500" y="2428875"/>
            <a:ext cx="1428900" cy="324000"/>
            <a:chOff x="0" y="0"/>
            <a:chExt cx="1428900" cy="324000"/>
          </a:xfrm>
        </p:grpSpPr>
        <p:sp>
          <p:nvSpPr>
            <p:cNvPr id="402" name="Google Shape;402;p20"/>
            <p:cNvSpPr/>
            <p:nvPr/>
          </p:nvSpPr>
          <p:spPr>
            <a:xfrm>
              <a:off x="0" y="0"/>
              <a:ext cx="1428900" cy="324000"/>
            </a:xfrm>
            <a:prstGeom prst="roundRect">
              <a:avLst>
                <a:gd name="adj" fmla="val 23529"/>
              </a:avLst>
            </a:prstGeom>
            <a:solidFill>
              <a:srgbClr val="9333E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3" name="Google Shape;403;p20"/>
            <p:cNvSpPr txBox="1"/>
            <p:nvPr/>
          </p:nvSpPr>
          <p:spPr>
            <a:xfrm>
              <a:off x="0" y="0"/>
              <a:ext cx="14289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50" b="1">
                  <a:solidFill>
                    <a:srgbClr val="FFFFFF"/>
                  </a:solidFill>
                  <a:latin typeface="Roboto"/>
                  <a:ea typeface="Roboto"/>
                  <a:cs typeface="Roboto"/>
                  <a:sym typeface="Roboto"/>
                </a:rPr>
                <a:t>Contingency &amp; Exit Pathways</a:t>
              </a:r>
              <a:endParaRPr sz="850" b="1">
                <a:solidFill>
                  <a:srgbClr val="FFFFFF"/>
                </a:solidFill>
                <a:latin typeface="Roboto"/>
                <a:ea typeface="Roboto"/>
                <a:cs typeface="Roboto"/>
                <a:sym typeface="Roboto"/>
              </a:endParaRPr>
            </a:p>
          </p:txBody>
        </p:sp>
      </p:grpSp>
      <p:grpSp>
        <p:nvGrpSpPr>
          <p:cNvPr id="404" name="Google Shape;404;p20"/>
          <p:cNvGrpSpPr/>
          <p:nvPr/>
        </p:nvGrpSpPr>
        <p:grpSpPr>
          <a:xfrm>
            <a:off x="5286375" y="3571875"/>
            <a:ext cx="1714500" cy="1095300"/>
            <a:chOff x="0" y="0"/>
            <a:chExt cx="1714500" cy="1095300"/>
          </a:xfrm>
        </p:grpSpPr>
        <p:sp>
          <p:nvSpPr>
            <p:cNvPr id="405" name="Google Shape;405;p20"/>
            <p:cNvSpPr/>
            <p:nvPr/>
          </p:nvSpPr>
          <p:spPr>
            <a:xfrm>
              <a:off x="0" y="0"/>
              <a:ext cx="1714500" cy="10953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20"/>
            <p:cNvSpPr txBox="1"/>
            <p:nvPr/>
          </p:nvSpPr>
          <p:spPr>
            <a:xfrm>
              <a:off x="0" y="0"/>
              <a:ext cx="1714500" cy="10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a:solidFill>
                    <a:srgbClr val="0F172A"/>
                  </a:solidFill>
                  <a:latin typeface="Roboto ExtraBold"/>
                  <a:ea typeface="Roboto ExtraBold"/>
                  <a:cs typeface="Roboto ExtraBold"/>
                  <a:sym typeface="Roboto ExtraBold"/>
                </a:rPr>
                <a:t>Option 4: Complete Rejection &amp; Sunset</a:t>
              </a:r>
              <a:endParaRPr sz="1100" b="0">
                <a:solidFill>
                  <a:srgbClr val="0F172A"/>
                </a:solidFill>
                <a:latin typeface="Roboto ExtraBold"/>
                <a:ea typeface="Roboto ExtraBold"/>
                <a:cs typeface="Roboto ExtraBold"/>
                <a:sym typeface="Roboto ExtraBold"/>
              </a:endParaRPr>
            </a:p>
            <a:p>
              <a:pPr marL="0" lvl="0" indent="0" algn="l" rtl="0">
                <a:spcBef>
                  <a:spcPts val="450"/>
                </a:spcBef>
                <a:spcAft>
                  <a:spcPts val="0"/>
                </a:spcAft>
                <a:buNone/>
              </a:pPr>
              <a:r>
                <a:rPr lang="en" sz="850" b="0">
                  <a:solidFill>
                    <a:srgbClr val="334155"/>
                  </a:solidFill>
                  <a:latin typeface="Roboto"/>
                  <a:ea typeface="Roboto"/>
                  <a:cs typeface="Roboto"/>
                  <a:sym typeface="Roboto"/>
                </a:rPr>
                <a:t>Executing a 30-day soft landing, context export, and PR review bot pivot.</a:t>
              </a:r>
              <a:endParaRPr sz="850" b="0">
                <a:solidFill>
                  <a:srgbClr val="334155"/>
                </a:solidFill>
                <a:latin typeface="Roboto"/>
                <a:ea typeface="Roboto"/>
                <a:cs typeface="Roboto"/>
                <a:sym typeface="Roboto"/>
              </a:endParaRPr>
            </a:p>
          </p:txBody>
        </p:sp>
      </p:grpSp>
      <p:grpSp>
        <p:nvGrpSpPr>
          <p:cNvPr id="407" name="Google Shape;407;p20"/>
          <p:cNvGrpSpPr/>
          <p:nvPr/>
        </p:nvGrpSpPr>
        <p:grpSpPr>
          <a:xfrm>
            <a:off x="7143750" y="3571875"/>
            <a:ext cx="1714500" cy="1095300"/>
            <a:chOff x="0" y="0"/>
            <a:chExt cx="1714500" cy="1095300"/>
          </a:xfrm>
        </p:grpSpPr>
        <p:sp>
          <p:nvSpPr>
            <p:cNvPr id="408" name="Google Shape;408;p20"/>
            <p:cNvSpPr/>
            <p:nvPr/>
          </p:nvSpPr>
          <p:spPr>
            <a:xfrm>
              <a:off x="0" y="0"/>
              <a:ext cx="1714500" cy="10953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9" name="Google Shape;409;p20"/>
            <p:cNvSpPr txBox="1"/>
            <p:nvPr/>
          </p:nvSpPr>
          <p:spPr>
            <a:xfrm>
              <a:off x="0" y="0"/>
              <a:ext cx="1714500" cy="10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a:solidFill>
                    <a:srgbClr val="0F172A"/>
                  </a:solidFill>
                  <a:latin typeface="Roboto ExtraBold"/>
                  <a:ea typeface="Roboto ExtraBold"/>
                  <a:cs typeface="Roboto ExtraBold"/>
                  <a:sym typeface="Roboto ExtraBold"/>
                </a:rPr>
                <a:t>Option 5: Pilot Extension Freeze</a:t>
              </a:r>
              <a:endParaRPr sz="1100" b="0">
                <a:solidFill>
                  <a:srgbClr val="0F172A"/>
                </a:solidFill>
                <a:latin typeface="Roboto ExtraBold"/>
                <a:ea typeface="Roboto ExtraBold"/>
                <a:cs typeface="Roboto ExtraBold"/>
                <a:sym typeface="Roboto ExtraBold"/>
              </a:endParaRPr>
            </a:p>
            <a:p>
              <a:pPr marL="0" lvl="0" indent="0" algn="l" rtl="0">
                <a:spcBef>
                  <a:spcPts val="450"/>
                </a:spcBef>
                <a:spcAft>
                  <a:spcPts val="0"/>
                </a:spcAft>
                <a:buNone/>
              </a:pPr>
              <a:r>
                <a:rPr lang="en" sz="850" b="0">
                  <a:solidFill>
                    <a:srgbClr val="334155"/>
                  </a:solidFill>
                  <a:latin typeface="Roboto"/>
                  <a:ea typeface="Roboto"/>
                  <a:cs typeface="Roboto"/>
                  <a:sym typeface="Roboto"/>
                </a:rPr>
                <a:t>Implementing a 30-to-45-day freeze under a 100-seat cap to load-test support.</a:t>
              </a:r>
              <a:endParaRPr sz="850" b="0">
                <a:solidFill>
                  <a:srgbClr val="334155"/>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3"/>
        <p:cNvGrpSpPr/>
        <p:nvPr/>
      </p:nvGrpSpPr>
      <p:grpSpPr>
        <a:xfrm>
          <a:off x="0" y="0"/>
          <a:ext cx="0" cy="0"/>
          <a:chOff x="0" y="0"/>
          <a:chExt cx="0" cy="0"/>
        </a:xfrm>
      </p:grpSpPr>
      <p:pic>
        <p:nvPicPr>
          <p:cNvPr id="414" name="Google Shape;414;p21"/>
          <p:cNvPicPr preferRelativeResize="0"/>
          <p:nvPr/>
        </p:nvPicPr>
        <p:blipFill>
          <a:blip r:embed="rId4">
            <a:alphaModFix/>
          </a:blip>
          <a:stretch>
            <a:fillRect/>
          </a:stretch>
        </p:blipFill>
        <p:spPr>
          <a:xfrm>
            <a:off x="152400" y="152400"/>
            <a:ext cx="8662287" cy="4838700"/>
          </a:xfrm>
          <a:prstGeom prst="rect">
            <a:avLst/>
          </a:prstGeom>
          <a:noFill/>
          <a:ln>
            <a:noFill/>
          </a:ln>
        </p:spPr>
      </p:pic>
      <p:grpSp>
        <p:nvGrpSpPr>
          <p:cNvPr id="415" name="Google Shape;415;p21"/>
          <p:cNvGrpSpPr/>
          <p:nvPr/>
        </p:nvGrpSpPr>
        <p:grpSpPr>
          <a:xfrm>
            <a:off x="428625" y="238125"/>
            <a:ext cx="8382000" cy="476400"/>
            <a:chOff x="0" y="0"/>
            <a:chExt cx="8382000" cy="476400"/>
          </a:xfrm>
        </p:grpSpPr>
        <p:sp>
          <p:nvSpPr>
            <p:cNvPr id="416" name="Google Shape;416;p21"/>
            <p:cNvSpPr/>
            <p:nvPr/>
          </p:nvSpPr>
          <p:spPr>
            <a:xfrm>
              <a:off x="0" y="0"/>
              <a:ext cx="8382000" cy="4764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7" name="Google Shape;417;p21"/>
            <p:cNvSpPr txBox="1"/>
            <p:nvPr/>
          </p:nvSpPr>
          <p:spPr>
            <a:xfrm>
              <a:off x="0" y="0"/>
              <a:ext cx="8382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 b="0">
                  <a:solidFill>
                    <a:srgbClr val="0F172A"/>
                  </a:solidFill>
                  <a:latin typeface="Roboto ExtraBold"/>
                  <a:ea typeface="Roboto ExtraBold"/>
                  <a:cs typeface="Roboto ExtraBold"/>
                  <a:sym typeface="Roboto ExtraBold"/>
                </a:rPr>
                <a:t>AI Pilot Scaling Journey: Early December Decision Framework</a:t>
              </a:r>
              <a:endParaRPr sz="2000" b="0">
                <a:solidFill>
                  <a:srgbClr val="0F172A"/>
                </a:solidFill>
                <a:latin typeface="Roboto ExtraBold"/>
                <a:ea typeface="Roboto ExtraBold"/>
                <a:cs typeface="Roboto ExtraBold"/>
                <a:sym typeface="Roboto ExtraBold"/>
              </a:endParaRPr>
            </a:p>
          </p:txBody>
        </p:sp>
      </p:grpSp>
      <p:sp>
        <p:nvSpPr>
          <p:cNvPr id="418" name="Google Shape;418;p21"/>
          <p:cNvSpPr txBox="1"/>
          <p:nvPr/>
        </p:nvSpPr>
        <p:spPr>
          <a:xfrm>
            <a:off x="6487575" y="878425"/>
            <a:ext cx="2027700" cy="1381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0">
                <a:solidFill>
                  <a:srgbClr val="0F172A"/>
                </a:solidFill>
                <a:latin typeface="Roboto ExtraBold"/>
                <a:ea typeface="Roboto ExtraBold"/>
                <a:cs typeface="Roboto ExtraBold"/>
                <a:sym typeface="Roboto ExtraBold"/>
              </a:rPr>
              <a:t>Early December Decision Gate</a:t>
            </a:r>
            <a:endParaRPr sz="1300" b="0">
              <a:solidFill>
                <a:srgbClr val="0F172A"/>
              </a:solidFill>
              <a:latin typeface="Roboto ExtraBold"/>
              <a:ea typeface="Roboto ExtraBold"/>
              <a:cs typeface="Roboto ExtraBold"/>
              <a:sym typeface="Roboto ExtraBold"/>
            </a:endParaRPr>
          </a:p>
          <a:p>
            <a:pPr marL="0" lvl="0" indent="0" algn="l" rtl="0">
              <a:spcBef>
                <a:spcPts val="600"/>
              </a:spcBef>
              <a:spcAft>
                <a:spcPts val="0"/>
              </a:spcAft>
              <a:buNone/>
            </a:pPr>
            <a:r>
              <a:rPr lang="en" sz="850" b="0">
                <a:solidFill>
                  <a:srgbClr val="334155"/>
                </a:solidFill>
                <a:latin typeface="Roboto"/>
                <a:ea typeface="Roboto"/>
                <a:cs typeface="Roboto"/>
                <a:sym typeface="Roboto"/>
              </a:rPr>
              <a:t>Transitioning from exploratory incubation to a structured scaling engine. This framework outlines five decision pathways to manage operational risk, support capacity, and commercial commitments.</a:t>
            </a:r>
            <a:endParaRPr sz="850" b="0">
              <a:solidFill>
                <a:srgbClr val="334155"/>
              </a:solidFill>
              <a:latin typeface="Roboto"/>
              <a:ea typeface="Roboto"/>
              <a:cs typeface="Roboto"/>
              <a:sym typeface="Roboto"/>
            </a:endParaRPr>
          </a:p>
        </p:txBody>
      </p:sp>
      <p:sp>
        <p:nvSpPr>
          <p:cNvPr id="419" name="Google Shape;419;p21"/>
          <p:cNvSpPr txBox="1"/>
          <p:nvPr/>
        </p:nvSpPr>
        <p:spPr>
          <a:xfrm>
            <a:off x="7305525" y="2529400"/>
            <a:ext cx="1135800" cy="417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850" b="1">
                <a:solidFill>
                  <a:srgbClr val="FFFFFF"/>
                </a:solidFill>
                <a:latin typeface="Roboto"/>
                <a:ea typeface="Roboto"/>
                <a:cs typeface="Roboto"/>
                <a:sym typeface="Roboto"/>
              </a:rPr>
              <a:t>Contingency &amp; Exit Pathways</a:t>
            </a:r>
            <a:endParaRPr sz="850" b="1">
              <a:solidFill>
                <a:srgbClr val="FFFFFF"/>
              </a:solidFill>
              <a:latin typeface="Roboto"/>
              <a:ea typeface="Roboto"/>
              <a:cs typeface="Roboto"/>
              <a:sym typeface="Roboto"/>
            </a:endParaRPr>
          </a:p>
        </p:txBody>
      </p:sp>
      <p:sp>
        <p:nvSpPr>
          <p:cNvPr id="420" name="Google Shape;420;p21"/>
          <p:cNvSpPr txBox="1"/>
          <p:nvPr/>
        </p:nvSpPr>
        <p:spPr>
          <a:xfrm>
            <a:off x="7016175" y="3771900"/>
            <a:ext cx="1499100" cy="831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a:solidFill>
                  <a:srgbClr val="0F172A"/>
                </a:solidFill>
                <a:latin typeface="Roboto ExtraBold"/>
                <a:ea typeface="Roboto ExtraBold"/>
                <a:cs typeface="Roboto ExtraBold"/>
                <a:sym typeface="Roboto ExtraBold"/>
              </a:rPr>
              <a:t>Option 5: Pilot Extension Freeze</a:t>
            </a:r>
            <a:endParaRPr sz="1100" b="0">
              <a:solidFill>
                <a:srgbClr val="0F172A"/>
              </a:solidFill>
              <a:latin typeface="Roboto ExtraBold"/>
              <a:ea typeface="Roboto ExtraBold"/>
              <a:cs typeface="Roboto ExtraBold"/>
              <a:sym typeface="Roboto ExtraBold"/>
            </a:endParaRPr>
          </a:p>
          <a:p>
            <a:pPr marL="0" lvl="0" indent="0" algn="l" rtl="0">
              <a:spcBef>
                <a:spcPts val="450"/>
              </a:spcBef>
              <a:spcAft>
                <a:spcPts val="0"/>
              </a:spcAft>
              <a:buNone/>
            </a:pPr>
            <a:r>
              <a:rPr lang="en" sz="850" b="0">
                <a:solidFill>
                  <a:srgbClr val="334155"/>
                </a:solidFill>
                <a:latin typeface="Roboto"/>
                <a:ea typeface="Roboto"/>
                <a:cs typeface="Roboto"/>
                <a:sym typeface="Roboto"/>
              </a:rPr>
              <a:t>Implementing a 30-to-45-day freeze under a 100-seat cap to load-test support.</a:t>
            </a:r>
            <a:endParaRPr sz="850" b="0">
              <a:solidFill>
                <a:srgbClr val="334155"/>
              </a:solidFill>
              <a:latin typeface="Roboto"/>
              <a:ea typeface="Roboto"/>
              <a:cs typeface="Roboto"/>
              <a:sym typeface="Roboto"/>
            </a:endParaRPr>
          </a:p>
        </p:txBody>
      </p:sp>
      <p:sp>
        <p:nvSpPr>
          <p:cNvPr id="421" name="Google Shape;421;p21"/>
          <p:cNvSpPr txBox="1"/>
          <p:nvPr/>
        </p:nvSpPr>
        <p:spPr>
          <a:xfrm>
            <a:off x="5212275" y="3803700"/>
            <a:ext cx="1714500" cy="768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a:solidFill>
                  <a:srgbClr val="0F172A"/>
                </a:solidFill>
                <a:latin typeface="Roboto ExtraBold"/>
                <a:ea typeface="Roboto ExtraBold"/>
                <a:cs typeface="Roboto ExtraBold"/>
                <a:sym typeface="Roboto ExtraBold"/>
              </a:rPr>
              <a:t>Option 4: Complete Rejection &amp; Sunset</a:t>
            </a:r>
            <a:endParaRPr sz="1100" b="0">
              <a:solidFill>
                <a:srgbClr val="0F172A"/>
              </a:solidFill>
              <a:latin typeface="Roboto ExtraBold"/>
              <a:ea typeface="Roboto ExtraBold"/>
              <a:cs typeface="Roboto ExtraBold"/>
              <a:sym typeface="Roboto ExtraBold"/>
            </a:endParaRPr>
          </a:p>
          <a:p>
            <a:pPr marL="0" lvl="0" indent="0" algn="l" rtl="0">
              <a:spcBef>
                <a:spcPts val="450"/>
              </a:spcBef>
              <a:spcAft>
                <a:spcPts val="0"/>
              </a:spcAft>
              <a:buNone/>
            </a:pPr>
            <a:r>
              <a:rPr lang="en" sz="850" b="0">
                <a:solidFill>
                  <a:srgbClr val="334155"/>
                </a:solidFill>
                <a:latin typeface="Roboto"/>
                <a:ea typeface="Roboto"/>
                <a:cs typeface="Roboto"/>
                <a:sym typeface="Roboto"/>
              </a:rPr>
              <a:t>Executing a 30-day soft landing, context export, and PR review bot pivot.</a:t>
            </a:r>
            <a:endParaRPr sz="850" b="0">
              <a:solidFill>
                <a:srgbClr val="334155"/>
              </a:solidFill>
              <a:latin typeface="Roboto"/>
              <a:ea typeface="Roboto"/>
              <a:cs typeface="Roboto"/>
              <a:sym typeface="Roboto"/>
            </a:endParaRPr>
          </a:p>
        </p:txBody>
      </p:sp>
      <p:sp>
        <p:nvSpPr>
          <p:cNvPr id="422" name="Google Shape;422;p21"/>
          <p:cNvSpPr txBox="1"/>
          <p:nvPr/>
        </p:nvSpPr>
        <p:spPr>
          <a:xfrm>
            <a:off x="2668075" y="3634200"/>
            <a:ext cx="1857300" cy="831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dirty="0">
                <a:solidFill>
                  <a:srgbClr val="0F172A"/>
                </a:solidFill>
                <a:latin typeface="Roboto ExtraBold"/>
                <a:ea typeface="Roboto ExtraBold"/>
                <a:cs typeface="Roboto ExtraBold"/>
                <a:sym typeface="Roboto ExtraBold"/>
              </a:rPr>
              <a:t>Option 3: Dual-Track Coexistence</a:t>
            </a:r>
            <a:endParaRPr sz="1100" b="0" dirty="0">
              <a:solidFill>
                <a:srgbClr val="0F172A"/>
              </a:solidFill>
              <a:latin typeface="Roboto ExtraBold"/>
              <a:ea typeface="Roboto ExtraBold"/>
              <a:cs typeface="Roboto ExtraBold"/>
              <a:sym typeface="Roboto ExtraBold"/>
            </a:endParaRPr>
          </a:p>
          <a:p>
            <a:pPr marL="0" lvl="0" indent="0" algn="l" rtl="0">
              <a:spcBef>
                <a:spcPts val="450"/>
              </a:spcBef>
              <a:spcAft>
                <a:spcPts val="0"/>
              </a:spcAft>
              <a:buNone/>
            </a:pPr>
            <a:r>
              <a:rPr lang="en" sz="850" b="0" dirty="0">
                <a:solidFill>
                  <a:srgbClr val="334155"/>
                </a:solidFill>
                <a:latin typeface="Roboto"/>
                <a:ea typeface="Roboto"/>
                <a:cs typeface="Roboto"/>
                <a:sym typeface="Roboto"/>
              </a:rPr>
              <a:t>Copilot for daily inline completions combined with Claude Code for deep terminal tasks.</a:t>
            </a:r>
            <a:endParaRPr sz="850" b="0" dirty="0">
              <a:solidFill>
                <a:srgbClr val="334155"/>
              </a:solidFill>
              <a:latin typeface="Roboto"/>
              <a:ea typeface="Roboto"/>
              <a:cs typeface="Roboto"/>
              <a:sym typeface="Roboto"/>
            </a:endParaRPr>
          </a:p>
        </p:txBody>
      </p:sp>
      <p:sp>
        <p:nvSpPr>
          <p:cNvPr id="423" name="Google Shape;423;p21"/>
          <p:cNvSpPr txBox="1"/>
          <p:nvPr/>
        </p:nvSpPr>
        <p:spPr>
          <a:xfrm>
            <a:off x="504825" y="3136875"/>
            <a:ext cx="1524000" cy="98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a:solidFill>
                  <a:srgbClr val="0F172A"/>
                </a:solidFill>
                <a:latin typeface="Roboto ExtraBold"/>
                <a:ea typeface="Roboto ExtraBold"/>
                <a:cs typeface="Roboto ExtraBold"/>
                <a:sym typeface="Roboto ExtraBold"/>
              </a:rPr>
              <a:t>Option 2: Hybrid Ring-Fenced Model</a:t>
            </a:r>
            <a:endParaRPr sz="1100" b="0">
              <a:solidFill>
                <a:srgbClr val="0F172A"/>
              </a:solidFill>
              <a:latin typeface="Roboto ExtraBold"/>
              <a:ea typeface="Roboto ExtraBold"/>
              <a:cs typeface="Roboto ExtraBold"/>
              <a:sym typeface="Roboto ExtraBold"/>
            </a:endParaRPr>
          </a:p>
          <a:p>
            <a:pPr marL="0" lvl="0" indent="0" algn="l" rtl="0">
              <a:spcBef>
                <a:spcPts val="450"/>
              </a:spcBef>
              <a:spcAft>
                <a:spcPts val="0"/>
              </a:spcAft>
              <a:buNone/>
            </a:pPr>
            <a:r>
              <a:rPr lang="en" sz="850" b="0">
                <a:solidFill>
                  <a:srgbClr val="334155"/>
                </a:solidFill>
                <a:latin typeface="Roboto"/>
                <a:ea typeface="Roboto"/>
                <a:cs typeface="Roboto"/>
                <a:sym typeface="Roboto"/>
              </a:rPr>
              <a:t>Targeted deployment for legacy refactoring and infrastructure migrations with capped licensing.</a:t>
            </a:r>
            <a:endParaRPr sz="850" b="0">
              <a:solidFill>
                <a:srgbClr val="334155"/>
              </a:solidFill>
              <a:latin typeface="Roboto"/>
              <a:ea typeface="Roboto"/>
              <a:cs typeface="Roboto"/>
              <a:sym typeface="Roboto"/>
            </a:endParaRPr>
          </a:p>
        </p:txBody>
      </p:sp>
      <p:sp>
        <p:nvSpPr>
          <p:cNvPr id="424" name="Google Shape;424;p21"/>
          <p:cNvSpPr txBox="1"/>
          <p:nvPr/>
        </p:nvSpPr>
        <p:spPr>
          <a:xfrm>
            <a:off x="485775" y="1349375"/>
            <a:ext cx="1714500" cy="98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0">
                <a:solidFill>
                  <a:srgbClr val="0F172A"/>
                </a:solidFill>
                <a:latin typeface="Roboto ExtraBold"/>
                <a:ea typeface="Roboto ExtraBold"/>
                <a:cs typeface="Roboto ExtraBold"/>
                <a:sym typeface="Roboto ExtraBold"/>
              </a:rPr>
              <a:t>Option 1: Full Enterprise Adoption</a:t>
            </a:r>
            <a:endParaRPr sz="1100" b="0">
              <a:solidFill>
                <a:srgbClr val="0F172A"/>
              </a:solidFill>
              <a:latin typeface="Roboto ExtraBold"/>
              <a:ea typeface="Roboto ExtraBold"/>
              <a:cs typeface="Roboto ExtraBold"/>
              <a:sym typeface="Roboto ExtraBold"/>
            </a:endParaRPr>
          </a:p>
          <a:p>
            <a:pPr marL="0" lvl="0" indent="0" algn="l" rtl="0">
              <a:spcBef>
                <a:spcPts val="450"/>
              </a:spcBef>
              <a:spcAft>
                <a:spcPts val="0"/>
              </a:spcAft>
              <a:buNone/>
            </a:pPr>
            <a:r>
              <a:rPr lang="en" sz="850" b="0">
                <a:solidFill>
                  <a:srgbClr val="334155"/>
                </a:solidFill>
                <a:latin typeface="Roboto"/>
                <a:ea typeface="Roboto"/>
                <a:cs typeface="Roboto"/>
                <a:sym typeface="Roboto"/>
              </a:rPr>
              <a:t>Complete cutover to Claude Code, executing Anthropic MSA and reclaiming Copilot seats.</a:t>
            </a:r>
            <a:endParaRPr sz="850" b="0">
              <a:solidFill>
                <a:srgbClr val="334155"/>
              </a:solidFill>
              <a:latin typeface="Roboto"/>
              <a:ea typeface="Roboto"/>
              <a:cs typeface="Roboto"/>
              <a:sym typeface="Roboto"/>
            </a:endParaRPr>
          </a:p>
        </p:txBody>
      </p:sp>
      <p:grpSp>
        <p:nvGrpSpPr>
          <p:cNvPr id="425" name="Google Shape;425;p21"/>
          <p:cNvGrpSpPr/>
          <p:nvPr/>
        </p:nvGrpSpPr>
        <p:grpSpPr>
          <a:xfrm>
            <a:off x="264575" y="876250"/>
            <a:ext cx="2889375" cy="285950"/>
            <a:chOff x="-310718" y="-50"/>
            <a:chExt cx="2718900" cy="285950"/>
          </a:xfrm>
        </p:grpSpPr>
        <p:sp>
          <p:nvSpPr>
            <p:cNvPr id="426" name="Google Shape;426;p21"/>
            <p:cNvSpPr/>
            <p:nvPr/>
          </p:nvSpPr>
          <p:spPr>
            <a:xfrm>
              <a:off x="0" y="0"/>
              <a:ext cx="2190900" cy="2859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7" name="Google Shape;427;p21"/>
            <p:cNvSpPr txBox="1"/>
            <p:nvPr/>
          </p:nvSpPr>
          <p:spPr>
            <a:xfrm>
              <a:off x="-310718" y="-50"/>
              <a:ext cx="2718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950" b="1">
                  <a:solidFill>
                    <a:srgbClr val="FFFFFF"/>
                  </a:solidFill>
                  <a:latin typeface="Roboto"/>
                  <a:ea typeface="Roboto"/>
                  <a:cs typeface="Roboto"/>
                  <a:sym typeface="Roboto"/>
                </a:rPr>
                <a:t>Strategic Adoption Pathways</a:t>
              </a:r>
              <a:endParaRPr sz="950" b="1">
                <a:solidFill>
                  <a:srgbClr val="FFFFFF"/>
                </a:solidFill>
                <a:latin typeface="Roboto"/>
                <a:ea typeface="Roboto"/>
                <a:cs typeface="Roboto"/>
                <a:sym typeface="Robo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31"/>
        <p:cNvGrpSpPr/>
        <p:nvPr/>
      </p:nvGrpSpPr>
      <p:grpSpPr>
        <a:xfrm>
          <a:off x="0" y="0"/>
          <a:ext cx="0" cy="0"/>
          <a:chOff x="0" y="0"/>
          <a:chExt cx="0" cy="0"/>
        </a:xfrm>
      </p:grpSpPr>
      <p:sp>
        <p:nvSpPr>
          <p:cNvPr id="432" name="Google Shape;432;p22"/>
          <p:cNvSpPr txBox="1"/>
          <p:nvPr/>
        </p:nvSpPr>
        <p:spPr>
          <a:xfrm>
            <a:off x="285750" y="152400"/>
            <a:ext cx="85725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850" b="0">
                <a:solidFill>
                  <a:srgbClr val="0F172A"/>
                </a:solidFill>
                <a:latin typeface="Roboto Black"/>
                <a:ea typeface="Roboto Black"/>
                <a:cs typeface="Roboto Black"/>
                <a:sym typeface="Roboto Black"/>
              </a:rPr>
              <a:t>AI Assistant Pilot: What Happens Next? (5 Possible Scenarios)</a:t>
            </a:r>
            <a:endParaRPr sz="1850" b="0">
              <a:solidFill>
                <a:srgbClr val="0F172A"/>
              </a:solidFill>
              <a:latin typeface="Roboto Black"/>
              <a:ea typeface="Roboto Black"/>
              <a:cs typeface="Roboto Black"/>
              <a:sym typeface="Roboto Black"/>
            </a:endParaRPr>
          </a:p>
        </p:txBody>
      </p:sp>
      <p:sp>
        <p:nvSpPr>
          <p:cNvPr id="433" name="Google Shape;433;p22"/>
          <p:cNvSpPr txBox="1"/>
          <p:nvPr/>
        </p:nvSpPr>
        <p:spPr>
          <a:xfrm>
            <a:off x="285750" y="438150"/>
            <a:ext cx="85725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36" b="0">
                <a:solidFill>
                  <a:srgbClr val="475569"/>
                </a:solidFill>
                <a:latin typeface="Roboto"/>
                <a:ea typeface="Roboto"/>
                <a:cs typeface="Roboto"/>
                <a:sym typeface="Roboto"/>
              </a:rPr>
              <a:t>We are deciding the future of the Claude AI pilot. Depending on the final review, here is how team ownership, licensing, technical support, and tool changes will work across 5 potential pathways for our 100-user limit.</a:t>
            </a:r>
            <a:endParaRPr sz="736" b="0">
              <a:solidFill>
                <a:srgbClr val="475569"/>
              </a:solidFill>
              <a:latin typeface="Roboto"/>
              <a:ea typeface="Roboto"/>
              <a:cs typeface="Roboto"/>
              <a:sym typeface="Roboto"/>
            </a:endParaRPr>
          </a:p>
        </p:txBody>
      </p:sp>
      <p:grpSp>
        <p:nvGrpSpPr>
          <p:cNvPr id="434" name="Google Shape;434;p22"/>
          <p:cNvGrpSpPr/>
          <p:nvPr/>
        </p:nvGrpSpPr>
        <p:grpSpPr>
          <a:xfrm>
            <a:off x="285750" y="742950"/>
            <a:ext cx="1600200" cy="2143200"/>
            <a:chOff x="0" y="0"/>
            <a:chExt cx="1600200" cy="2143200"/>
          </a:xfrm>
        </p:grpSpPr>
        <p:sp>
          <p:nvSpPr>
            <p:cNvPr id="435" name="Google Shape;435;p22"/>
            <p:cNvSpPr/>
            <p:nvPr/>
          </p:nvSpPr>
          <p:spPr>
            <a:xfrm>
              <a:off x="0" y="0"/>
              <a:ext cx="1600200" cy="2143200"/>
            </a:xfrm>
            <a:prstGeom prst="roundRect">
              <a:avLst>
                <a:gd name="adj" fmla="val 4761"/>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6" name="Google Shape;436;p22"/>
            <p:cNvSpPr/>
            <p:nvPr/>
          </p:nvSpPr>
          <p:spPr>
            <a:xfrm>
              <a:off x="0" y="0"/>
              <a:ext cx="1600200" cy="342900"/>
            </a:xfrm>
            <a:prstGeom prst="roundRect">
              <a:avLst>
                <a:gd name="adj" fmla="val 22222"/>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7" name="Google Shape;437;p22"/>
            <p:cNvSpPr txBox="1"/>
            <p:nvPr/>
          </p:nvSpPr>
          <p:spPr>
            <a:xfrm>
              <a:off x="95250" y="0"/>
              <a:ext cx="14097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b="1">
                  <a:solidFill>
                    <a:srgbClr val="0F172A"/>
                  </a:solidFill>
                  <a:latin typeface="Roboto"/>
                  <a:ea typeface="Roboto"/>
                  <a:cs typeface="Roboto"/>
                  <a:sym typeface="Roboto"/>
                </a:rPr>
                <a:t>1. Full Adoption</a:t>
              </a:r>
              <a:endParaRPr sz="1100" b="1">
                <a:solidFill>
                  <a:srgbClr val="0F172A"/>
                </a:solidFill>
                <a:latin typeface="Roboto"/>
                <a:ea typeface="Roboto"/>
                <a:cs typeface="Roboto"/>
                <a:sym typeface="Roboto"/>
              </a:endParaRPr>
            </a:p>
          </p:txBody>
        </p:sp>
        <p:sp>
          <p:nvSpPr>
            <p:cNvPr id="438" name="Google Shape;438;p22"/>
            <p:cNvSpPr txBox="1"/>
            <p:nvPr/>
          </p:nvSpPr>
          <p:spPr>
            <a:xfrm>
              <a:off x="95250" y="361950"/>
              <a:ext cx="14097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40" b="0">
                  <a:solidFill>
                    <a:srgbClr val="64748B"/>
                  </a:solidFill>
                  <a:latin typeface="Roboto Medium"/>
                  <a:ea typeface="Roboto Medium"/>
                  <a:cs typeface="Roboto Medium"/>
                  <a:sym typeface="Roboto Medium"/>
                </a:rPr>
                <a:t>Switch 100% to Claude Code.</a:t>
              </a:r>
              <a:endParaRPr sz="740" b="0">
                <a:solidFill>
                  <a:srgbClr val="64748B"/>
                </a:solidFill>
                <a:latin typeface="Roboto Medium"/>
                <a:ea typeface="Roboto Medium"/>
                <a:cs typeface="Roboto Medium"/>
                <a:sym typeface="Roboto Medium"/>
              </a:endParaRPr>
            </a:p>
          </p:txBody>
        </p:sp>
        <p:cxnSp>
          <p:nvCxnSpPr>
            <p:cNvPr id="439" name="Google Shape;439;p22"/>
            <p:cNvCxnSpPr/>
            <p:nvPr/>
          </p:nvCxnSpPr>
          <p:spPr>
            <a:xfrm>
              <a:off x="95250" y="628650"/>
              <a:ext cx="14097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440" name="Google Shape;440;p22"/>
            <p:cNvSpPr txBox="1"/>
            <p:nvPr/>
          </p:nvSpPr>
          <p:spPr>
            <a:xfrm>
              <a:off x="95250" y="66675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STRATEGIC DECISION</a:t>
              </a:r>
              <a:endParaRPr sz="638" b="1">
                <a:solidFill>
                  <a:srgbClr val="2563EB"/>
                </a:solidFill>
                <a:latin typeface="Roboto"/>
                <a:ea typeface="Roboto"/>
                <a:cs typeface="Roboto"/>
                <a:sym typeface="Roboto"/>
              </a:endParaRPr>
            </a:p>
          </p:txBody>
        </p:sp>
        <p:sp>
          <p:nvSpPr>
            <p:cNvPr id="441" name="Google Shape;441;p22"/>
            <p:cNvSpPr txBox="1"/>
            <p:nvPr/>
          </p:nvSpPr>
          <p:spPr>
            <a:xfrm>
              <a:off x="95250" y="80010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Replace GitHub Copilot; make Claude Code our main company tool.</a:t>
              </a:r>
              <a:endParaRPr sz="638" b="0">
                <a:solidFill>
                  <a:srgbClr val="334155"/>
                </a:solidFill>
                <a:latin typeface="Roboto"/>
                <a:ea typeface="Roboto"/>
                <a:cs typeface="Roboto"/>
                <a:sym typeface="Roboto"/>
              </a:endParaRPr>
            </a:p>
          </p:txBody>
        </p:sp>
        <p:sp>
          <p:nvSpPr>
            <p:cNvPr id="442" name="Google Shape;442;p22"/>
            <p:cNvSpPr txBox="1"/>
            <p:nvPr/>
          </p:nvSpPr>
          <p:spPr>
            <a:xfrm>
              <a:off x="95250" y="114300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GOVERNANCE</a:t>
              </a:r>
              <a:endParaRPr sz="638" b="1">
                <a:solidFill>
                  <a:srgbClr val="2563EB"/>
                </a:solidFill>
                <a:latin typeface="Roboto"/>
                <a:ea typeface="Roboto"/>
                <a:cs typeface="Roboto"/>
                <a:sym typeface="Roboto"/>
              </a:endParaRPr>
            </a:p>
          </p:txBody>
        </p:sp>
        <p:sp>
          <p:nvSpPr>
            <p:cNvPr id="443" name="Google Shape;443;p22"/>
            <p:cNvSpPr txBox="1"/>
            <p:nvPr/>
          </p:nvSpPr>
          <p:spPr>
            <a:xfrm>
              <a:off x="95250" y="127635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Finalize the long-term contract with Anthropic before April.</a:t>
              </a:r>
              <a:endParaRPr sz="638" b="0">
                <a:solidFill>
                  <a:srgbClr val="334155"/>
                </a:solidFill>
                <a:latin typeface="Roboto"/>
                <a:ea typeface="Roboto"/>
                <a:cs typeface="Roboto"/>
                <a:sym typeface="Roboto"/>
              </a:endParaRPr>
            </a:p>
          </p:txBody>
        </p:sp>
        <p:sp>
          <p:nvSpPr>
            <p:cNvPr id="444" name="Google Shape;444;p22"/>
            <p:cNvSpPr txBox="1"/>
            <p:nvPr/>
          </p:nvSpPr>
          <p:spPr>
            <a:xfrm>
              <a:off x="95250" y="161925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OPERATIONS</a:t>
              </a:r>
              <a:endParaRPr sz="638" b="1">
                <a:solidFill>
                  <a:srgbClr val="2563EB"/>
                </a:solidFill>
                <a:latin typeface="Roboto"/>
                <a:ea typeface="Roboto"/>
                <a:cs typeface="Roboto"/>
                <a:sym typeface="Roboto"/>
              </a:endParaRPr>
            </a:p>
          </p:txBody>
        </p:sp>
        <p:sp>
          <p:nvSpPr>
            <p:cNvPr id="445" name="Google Shape;445;p22"/>
            <p:cNvSpPr txBox="1"/>
            <p:nvPr/>
          </p:nvSpPr>
          <p:spPr>
            <a:xfrm>
              <a:off x="95250" y="175260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Hand over all tech support to Brad &amp; Jim's team.</a:t>
              </a:r>
              <a:endParaRPr sz="638" b="0">
                <a:solidFill>
                  <a:srgbClr val="334155"/>
                </a:solidFill>
                <a:latin typeface="Roboto"/>
                <a:ea typeface="Roboto"/>
                <a:cs typeface="Roboto"/>
                <a:sym typeface="Roboto"/>
              </a:endParaRPr>
            </a:p>
          </p:txBody>
        </p:sp>
      </p:grpSp>
      <p:grpSp>
        <p:nvGrpSpPr>
          <p:cNvPr id="446" name="Google Shape;446;p22"/>
          <p:cNvGrpSpPr/>
          <p:nvPr/>
        </p:nvGrpSpPr>
        <p:grpSpPr>
          <a:xfrm>
            <a:off x="2028825" y="742950"/>
            <a:ext cx="1600200" cy="2143200"/>
            <a:chOff x="0" y="0"/>
            <a:chExt cx="1600200" cy="2143200"/>
          </a:xfrm>
        </p:grpSpPr>
        <p:sp>
          <p:nvSpPr>
            <p:cNvPr id="447" name="Google Shape;447;p22"/>
            <p:cNvSpPr/>
            <p:nvPr/>
          </p:nvSpPr>
          <p:spPr>
            <a:xfrm>
              <a:off x="0" y="0"/>
              <a:ext cx="1600200" cy="2143200"/>
            </a:xfrm>
            <a:prstGeom prst="roundRect">
              <a:avLst>
                <a:gd name="adj" fmla="val 4761"/>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8" name="Google Shape;448;p22"/>
            <p:cNvSpPr/>
            <p:nvPr/>
          </p:nvSpPr>
          <p:spPr>
            <a:xfrm>
              <a:off x="0" y="0"/>
              <a:ext cx="1600200" cy="342900"/>
            </a:xfrm>
            <a:prstGeom prst="roundRect">
              <a:avLst>
                <a:gd name="adj" fmla="val 22222"/>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9" name="Google Shape;449;p22"/>
            <p:cNvSpPr txBox="1"/>
            <p:nvPr/>
          </p:nvSpPr>
          <p:spPr>
            <a:xfrm>
              <a:off x="95250" y="0"/>
              <a:ext cx="14097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b="1">
                  <a:solidFill>
                    <a:srgbClr val="0F172A"/>
                  </a:solidFill>
                  <a:latin typeface="Roboto"/>
                  <a:ea typeface="Roboto"/>
                  <a:cs typeface="Roboto"/>
                  <a:sym typeface="Roboto"/>
                </a:rPr>
                <a:t>2. Hybrid Model</a:t>
              </a:r>
              <a:endParaRPr sz="1100" b="1">
                <a:solidFill>
                  <a:srgbClr val="0F172A"/>
                </a:solidFill>
                <a:latin typeface="Roboto"/>
                <a:ea typeface="Roboto"/>
                <a:cs typeface="Roboto"/>
                <a:sym typeface="Roboto"/>
              </a:endParaRPr>
            </a:p>
          </p:txBody>
        </p:sp>
        <p:sp>
          <p:nvSpPr>
            <p:cNvPr id="450" name="Google Shape;450;p22"/>
            <p:cNvSpPr txBox="1"/>
            <p:nvPr/>
          </p:nvSpPr>
          <p:spPr>
            <a:xfrm>
              <a:off x="95250" y="361950"/>
              <a:ext cx="14097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40" b="0">
                  <a:solidFill>
                    <a:srgbClr val="64748B"/>
                  </a:solidFill>
                  <a:latin typeface="Roboto Medium"/>
                  <a:ea typeface="Roboto Medium"/>
                  <a:cs typeface="Roboto Medium"/>
                  <a:sym typeface="Roboto Medium"/>
                </a:rPr>
                <a:t>Split tools by task and team.</a:t>
              </a:r>
              <a:endParaRPr sz="740" b="0">
                <a:solidFill>
                  <a:srgbClr val="64748B"/>
                </a:solidFill>
                <a:latin typeface="Roboto Medium"/>
                <a:ea typeface="Roboto Medium"/>
                <a:cs typeface="Roboto Medium"/>
                <a:sym typeface="Roboto Medium"/>
              </a:endParaRPr>
            </a:p>
          </p:txBody>
        </p:sp>
        <p:cxnSp>
          <p:nvCxnSpPr>
            <p:cNvPr id="451" name="Google Shape;451;p22"/>
            <p:cNvCxnSpPr/>
            <p:nvPr/>
          </p:nvCxnSpPr>
          <p:spPr>
            <a:xfrm>
              <a:off x="95250" y="628650"/>
              <a:ext cx="14097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452" name="Google Shape;452;p22"/>
            <p:cNvSpPr txBox="1"/>
            <p:nvPr/>
          </p:nvSpPr>
          <p:spPr>
            <a:xfrm>
              <a:off x="95250" y="66675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STRATEGIC DECISION</a:t>
              </a:r>
              <a:endParaRPr sz="638" b="1">
                <a:solidFill>
                  <a:srgbClr val="2563EB"/>
                </a:solidFill>
                <a:latin typeface="Roboto"/>
                <a:ea typeface="Roboto"/>
                <a:cs typeface="Roboto"/>
                <a:sym typeface="Roboto"/>
              </a:endParaRPr>
            </a:p>
          </p:txBody>
        </p:sp>
        <p:sp>
          <p:nvSpPr>
            <p:cNvPr id="453" name="Google Shape;453;p22"/>
            <p:cNvSpPr txBox="1"/>
            <p:nvPr/>
          </p:nvSpPr>
          <p:spPr>
            <a:xfrm>
              <a:off x="95250" y="80010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Use Claude for complex tasks; keep Copilot for general coding.</a:t>
              </a:r>
              <a:endParaRPr sz="638" b="0">
                <a:solidFill>
                  <a:srgbClr val="334155"/>
                </a:solidFill>
                <a:latin typeface="Roboto"/>
                <a:ea typeface="Roboto"/>
                <a:cs typeface="Roboto"/>
                <a:sym typeface="Roboto"/>
              </a:endParaRPr>
            </a:p>
          </p:txBody>
        </p:sp>
        <p:sp>
          <p:nvSpPr>
            <p:cNvPr id="454" name="Google Shape;454;p22"/>
            <p:cNvSpPr txBox="1"/>
            <p:nvPr/>
          </p:nvSpPr>
          <p:spPr>
            <a:xfrm>
              <a:off x="95250" y="114300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GOVERNANCE</a:t>
              </a:r>
              <a:endParaRPr sz="638" b="1">
                <a:solidFill>
                  <a:srgbClr val="2563EB"/>
                </a:solidFill>
                <a:latin typeface="Roboto"/>
                <a:ea typeface="Roboto"/>
                <a:cs typeface="Roboto"/>
                <a:sym typeface="Roboto"/>
              </a:endParaRPr>
            </a:p>
          </p:txBody>
        </p:sp>
        <p:sp>
          <p:nvSpPr>
            <p:cNvPr id="455" name="Google Shape;455;p22"/>
            <p:cNvSpPr txBox="1"/>
            <p:nvPr/>
          </p:nvSpPr>
          <p:spPr>
            <a:xfrm>
              <a:off x="95250" y="127635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Cap costs; Carrie &amp; Yannick set rules for who gets Claude access.</a:t>
              </a:r>
              <a:endParaRPr sz="638" b="0">
                <a:solidFill>
                  <a:srgbClr val="334155"/>
                </a:solidFill>
                <a:latin typeface="Roboto"/>
                <a:ea typeface="Roboto"/>
                <a:cs typeface="Roboto"/>
                <a:sym typeface="Roboto"/>
              </a:endParaRPr>
            </a:p>
          </p:txBody>
        </p:sp>
        <p:sp>
          <p:nvSpPr>
            <p:cNvPr id="456" name="Google Shape;456;p22"/>
            <p:cNvSpPr txBox="1"/>
            <p:nvPr/>
          </p:nvSpPr>
          <p:spPr>
            <a:xfrm>
              <a:off x="95250" y="161925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OPERATIONS</a:t>
              </a:r>
              <a:endParaRPr sz="638" b="1">
                <a:solidFill>
                  <a:srgbClr val="2563EB"/>
                </a:solidFill>
                <a:latin typeface="Roboto"/>
                <a:ea typeface="Roboto"/>
                <a:cs typeface="Roboto"/>
                <a:sym typeface="Roboto"/>
              </a:endParaRPr>
            </a:p>
          </p:txBody>
        </p:sp>
        <p:sp>
          <p:nvSpPr>
            <p:cNvPr id="457" name="Google Shape;457;p22"/>
            <p:cNvSpPr txBox="1"/>
            <p:nvPr/>
          </p:nvSpPr>
          <p:spPr>
            <a:xfrm>
              <a:off x="95250" y="175260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Focused support for power users.</a:t>
              </a:r>
              <a:endParaRPr sz="638" b="0">
                <a:solidFill>
                  <a:srgbClr val="334155"/>
                </a:solidFill>
                <a:latin typeface="Roboto"/>
                <a:ea typeface="Roboto"/>
                <a:cs typeface="Roboto"/>
                <a:sym typeface="Roboto"/>
              </a:endParaRPr>
            </a:p>
          </p:txBody>
        </p:sp>
      </p:grpSp>
      <p:grpSp>
        <p:nvGrpSpPr>
          <p:cNvPr id="458" name="Google Shape;458;p22"/>
          <p:cNvGrpSpPr/>
          <p:nvPr/>
        </p:nvGrpSpPr>
        <p:grpSpPr>
          <a:xfrm>
            <a:off x="3771900" y="742950"/>
            <a:ext cx="1600200" cy="2143200"/>
            <a:chOff x="0" y="0"/>
            <a:chExt cx="1600200" cy="2143200"/>
          </a:xfrm>
        </p:grpSpPr>
        <p:sp>
          <p:nvSpPr>
            <p:cNvPr id="459" name="Google Shape;459;p22"/>
            <p:cNvSpPr/>
            <p:nvPr/>
          </p:nvSpPr>
          <p:spPr>
            <a:xfrm>
              <a:off x="0" y="0"/>
              <a:ext cx="1600200" cy="2143200"/>
            </a:xfrm>
            <a:prstGeom prst="roundRect">
              <a:avLst>
                <a:gd name="adj" fmla="val 4761"/>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0" name="Google Shape;460;p22"/>
            <p:cNvSpPr/>
            <p:nvPr/>
          </p:nvSpPr>
          <p:spPr>
            <a:xfrm>
              <a:off x="0" y="0"/>
              <a:ext cx="1600200" cy="342900"/>
            </a:xfrm>
            <a:prstGeom prst="roundRect">
              <a:avLst>
                <a:gd name="adj" fmla="val 22222"/>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1" name="Google Shape;461;p22"/>
            <p:cNvSpPr txBox="1"/>
            <p:nvPr/>
          </p:nvSpPr>
          <p:spPr>
            <a:xfrm>
              <a:off x="95250" y="0"/>
              <a:ext cx="14097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b="1">
                  <a:solidFill>
                    <a:srgbClr val="0F172A"/>
                  </a:solidFill>
                  <a:latin typeface="Roboto"/>
                  <a:ea typeface="Roboto"/>
                  <a:cs typeface="Roboto"/>
                  <a:sym typeface="Roboto"/>
                </a:rPr>
                <a:t>3. Dual-Track</a:t>
              </a:r>
              <a:endParaRPr sz="1100" b="1">
                <a:solidFill>
                  <a:srgbClr val="0F172A"/>
                </a:solidFill>
                <a:latin typeface="Roboto"/>
                <a:ea typeface="Roboto"/>
                <a:cs typeface="Roboto"/>
                <a:sym typeface="Roboto"/>
              </a:endParaRPr>
            </a:p>
          </p:txBody>
        </p:sp>
        <p:sp>
          <p:nvSpPr>
            <p:cNvPr id="462" name="Google Shape;462;p22"/>
            <p:cNvSpPr txBox="1"/>
            <p:nvPr/>
          </p:nvSpPr>
          <p:spPr>
            <a:xfrm>
              <a:off x="95250" y="361950"/>
              <a:ext cx="14097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40" b="0">
                  <a:solidFill>
                    <a:srgbClr val="64748B"/>
                  </a:solidFill>
                  <a:latin typeface="Roboto Medium"/>
                  <a:ea typeface="Roboto Medium"/>
                  <a:cs typeface="Roboto Medium"/>
                  <a:sym typeface="Roboto Medium"/>
                </a:rPr>
                <a:t>Keep both tools side-by-side.</a:t>
              </a:r>
              <a:endParaRPr sz="740" b="0">
                <a:solidFill>
                  <a:srgbClr val="64748B"/>
                </a:solidFill>
                <a:latin typeface="Roboto Medium"/>
                <a:ea typeface="Roboto Medium"/>
                <a:cs typeface="Roboto Medium"/>
                <a:sym typeface="Roboto Medium"/>
              </a:endParaRPr>
            </a:p>
          </p:txBody>
        </p:sp>
        <p:cxnSp>
          <p:nvCxnSpPr>
            <p:cNvPr id="463" name="Google Shape;463;p22"/>
            <p:cNvCxnSpPr/>
            <p:nvPr/>
          </p:nvCxnSpPr>
          <p:spPr>
            <a:xfrm>
              <a:off x="95250" y="628650"/>
              <a:ext cx="14097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464" name="Google Shape;464;p22"/>
            <p:cNvSpPr txBox="1"/>
            <p:nvPr/>
          </p:nvSpPr>
          <p:spPr>
            <a:xfrm>
              <a:off x="95250" y="66675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STRATEGIC DECISION</a:t>
              </a:r>
              <a:endParaRPr sz="638" b="1">
                <a:solidFill>
                  <a:srgbClr val="2563EB"/>
                </a:solidFill>
                <a:latin typeface="Roboto"/>
                <a:ea typeface="Roboto"/>
                <a:cs typeface="Roboto"/>
                <a:sym typeface="Roboto"/>
              </a:endParaRPr>
            </a:p>
          </p:txBody>
        </p:sp>
        <p:sp>
          <p:nvSpPr>
            <p:cNvPr id="465" name="Google Shape;465;p22"/>
            <p:cNvSpPr txBox="1"/>
            <p:nvPr/>
          </p:nvSpPr>
          <p:spPr>
            <a:xfrm>
              <a:off x="95250" y="80010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Keep both active; define clear rules for when to use each.</a:t>
              </a:r>
              <a:endParaRPr sz="638" b="0">
                <a:solidFill>
                  <a:srgbClr val="334155"/>
                </a:solidFill>
                <a:latin typeface="Roboto"/>
                <a:ea typeface="Roboto"/>
                <a:cs typeface="Roboto"/>
                <a:sym typeface="Roboto"/>
              </a:endParaRPr>
            </a:p>
          </p:txBody>
        </p:sp>
        <p:sp>
          <p:nvSpPr>
            <p:cNvPr id="466" name="Google Shape;466;p22"/>
            <p:cNvSpPr txBox="1"/>
            <p:nvPr/>
          </p:nvSpPr>
          <p:spPr>
            <a:xfrm>
              <a:off x="95250" y="114300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GOVERNANCE</a:t>
              </a:r>
              <a:endParaRPr sz="638" b="1">
                <a:solidFill>
                  <a:srgbClr val="2563EB"/>
                </a:solidFill>
                <a:latin typeface="Roboto"/>
                <a:ea typeface="Roboto"/>
                <a:cs typeface="Roboto"/>
                <a:sym typeface="Roboto"/>
              </a:endParaRPr>
            </a:p>
          </p:txBody>
        </p:sp>
        <p:sp>
          <p:nvSpPr>
            <p:cNvPr id="467" name="Google Shape;467;p22"/>
            <p:cNvSpPr txBox="1"/>
            <p:nvPr/>
          </p:nvSpPr>
          <p:spPr>
            <a:xfrm>
              <a:off x="95250" y="127635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Publish exact usage guidelines from Athena &amp; Sergey.</a:t>
              </a:r>
              <a:endParaRPr sz="638" b="0">
                <a:solidFill>
                  <a:srgbClr val="334155"/>
                </a:solidFill>
                <a:latin typeface="Roboto"/>
                <a:ea typeface="Roboto"/>
                <a:cs typeface="Roboto"/>
                <a:sym typeface="Roboto"/>
              </a:endParaRPr>
            </a:p>
          </p:txBody>
        </p:sp>
        <p:sp>
          <p:nvSpPr>
            <p:cNvPr id="468" name="Google Shape;468;p22"/>
            <p:cNvSpPr txBox="1"/>
            <p:nvPr/>
          </p:nvSpPr>
          <p:spPr>
            <a:xfrm>
              <a:off x="95250" y="161925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OPERATIONS</a:t>
              </a:r>
              <a:endParaRPr sz="638" b="1">
                <a:solidFill>
                  <a:srgbClr val="2563EB"/>
                </a:solidFill>
                <a:latin typeface="Roboto"/>
                <a:ea typeface="Roboto"/>
                <a:cs typeface="Roboto"/>
                <a:sym typeface="Roboto"/>
              </a:endParaRPr>
            </a:p>
          </p:txBody>
        </p:sp>
        <p:sp>
          <p:nvSpPr>
            <p:cNvPr id="469" name="Google Shape;469;p22"/>
            <p:cNvSpPr txBox="1"/>
            <p:nvPr/>
          </p:nvSpPr>
          <p:spPr>
            <a:xfrm>
              <a:off x="95250" y="175260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Create guides and tracking for both products.</a:t>
              </a:r>
              <a:endParaRPr sz="638" b="0">
                <a:solidFill>
                  <a:srgbClr val="334155"/>
                </a:solidFill>
                <a:latin typeface="Roboto"/>
                <a:ea typeface="Roboto"/>
                <a:cs typeface="Roboto"/>
                <a:sym typeface="Roboto"/>
              </a:endParaRPr>
            </a:p>
          </p:txBody>
        </p:sp>
      </p:grpSp>
      <p:grpSp>
        <p:nvGrpSpPr>
          <p:cNvPr id="470" name="Google Shape;470;p22"/>
          <p:cNvGrpSpPr/>
          <p:nvPr/>
        </p:nvGrpSpPr>
        <p:grpSpPr>
          <a:xfrm>
            <a:off x="5514975" y="742950"/>
            <a:ext cx="1600200" cy="2143200"/>
            <a:chOff x="0" y="0"/>
            <a:chExt cx="1600200" cy="2143200"/>
          </a:xfrm>
        </p:grpSpPr>
        <p:sp>
          <p:nvSpPr>
            <p:cNvPr id="471" name="Google Shape;471;p22"/>
            <p:cNvSpPr/>
            <p:nvPr/>
          </p:nvSpPr>
          <p:spPr>
            <a:xfrm>
              <a:off x="0" y="0"/>
              <a:ext cx="1600200" cy="2143200"/>
            </a:xfrm>
            <a:prstGeom prst="roundRect">
              <a:avLst>
                <a:gd name="adj" fmla="val 4761"/>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2" name="Google Shape;472;p22"/>
            <p:cNvSpPr/>
            <p:nvPr/>
          </p:nvSpPr>
          <p:spPr>
            <a:xfrm>
              <a:off x="0" y="0"/>
              <a:ext cx="1600200" cy="342900"/>
            </a:xfrm>
            <a:prstGeom prst="roundRect">
              <a:avLst>
                <a:gd name="adj" fmla="val 22222"/>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3" name="Google Shape;473;p22"/>
            <p:cNvSpPr txBox="1"/>
            <p:nvPr/>
          </p:nvSpPr>
          <p:spPr>
            <a:xfrm>
              <a:off x="95250" y="0"/>
              <a:ext cx="14097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b="1">
                  <a:solidFill>
                    <a:srgbClr val="0F172A"/>
                  </a:solidFill>
                  <a:latin typeface="Roboto"/>
                  <a:ea typeface="Roboto"/>
                  <a:cs typeface="Roboto"/>
                  <a:sym typeface="Roboto"/>
                </a:rPr>
                <a:t>4. Complete Rejection</a:t>
              </a:r>
              <a:endParaRPr sz="1100" b="1">
                <a:solidFill>
                  <a:srgbClr val="0F172A"/>
                </a:solidFill>
                <a:latin typeface="Roboto"/>
                <a:ea typeface="Roboto"/>
                <a:cs typeface="Roboto"/>
                <a:sym typeface="Roboto"/>
              </a:endParaRPr>
            </a:p>
          </p:txBody>
        </p:sp>
        <p:sp>
          <p:nvSpPr>
            <p:cNvPr id="474" name="Google Shape;474;p22"/>
            <p:cNvSpPr txBox="1"/>
            <p:nvPr/>
          </p:nvSpPr>
          <p:spPr>
            <a:xfrm>
              <a:off x="95250" y="361950"/>
              <a:ext cx="14097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40" b="0">
                  <a:solidFill>
                    <a:srgbClr val="64748B"/>
                  </a:solidFill>
                  <a:latin typeface="Roboto Medium"/>
                  <a:ea typeface="Roboto Medium"/>
                  <a:cs typeface="Roboto Medium"/>
                  <a:sym typeface="Roboto Medium"/>
                </a:rPr>
                <a:t>Cancel Claude and return to Copilot.</a:t>
              </a:r>
              <a:endParaRPr sz="740" b="0">
                <a:solidFill>
                  <a:srgbClr val="64748B"/>
                </a:solidFill>
                <a:latin typeface="Roboto Medium"/>
                <a:ea typeface="Roboto Medium"/>
                <a:cs typeface="Roboto Medium"/>
                <a:sym typeface="Roboto Medium"/>
              </a:endParaRPr>
            </a:p>
          </p:txBody>
        </p:sp>
        <p:cxnSp>
          <p:nvCxnSpPr>
            <p:cNvPr id="475" name="Google Shape;475;p22"/>
            <p:cNvCxnSpPr/>
            <p:nvPr/>
          </p:nvCxnSpPr>
          <p:spPr>
            <a:xfrm>
              <a:off x="95250" y="628650"/>
              <a:ext cx="14097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476" name="Google Shape;476;p22"/>
            <p:cNvSpPr txBox="1"/>
            <p:nvPr/>
          </p:nvSpPr>
          <p:spPr>
            <a:xfrm>
              <a:off x="95250" y="66675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STRATEGIC DECISION</a:t>
              </a:r>
              <a:endParaRPr sz="638" b="1">
                <a:solidFill>
                  <a:srgbClr val="2563EB"/>
                </a:solidFill>
                <a:latin typeface="Roboto"/>
                <a:ea typeface="Roboto"/>
                <a:cs typeface="Roboto"/>
                <a:sym typeface="Roboto"/>
              </a:endParaRPr>
            </a:p>
          </p:txBody>
        </p:sp>
        <p:sp>
          <p:nvSpPr>
            <p:cNvPr id="477" name="Google Shape;477;p22"/>
            <p:cNvSpPr txBox="1"/>
            <p:nvPr/>
          </p:nvSpPr>
          <p:spPr>
            <a:xfrm>
              <a:off x="95250" y="80010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Stop Claude Code; return 100% of developers to Copilot.</a:t>
              </a:r>
              <a:endParaRPr sz="638" b="0">
                <a:solidFill>
                  <a:srgbClr val="334155"/>
                </a:solidFill>
                <a:latin typeface="Roboto"/>
                <a:ea typeface="Roboto"/>
                <a:cs typeface="Roboto"/>
                <a:sym typeface="Roboto"/>
              </a:endParaRPr>
            </a:p>
          </p:txBody>
        </p:sp>
        <p:sp>
          <p:nvSpPr>
            <p:cNvPr id="478" name="Google Shape;478;p22"/>
            <p:cNvSpPr txBox="1"/>
            <p:nvPr/>
          </p:nvSpPr>
          <p:spPr>
            <a:xfrm>
              <a:off x="95250" y="114300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OFFBOARDING</a:t>
              </a:r>
              <a:endParaRPr sz="638" b="1">
                <a:solidFill>
                  <a:srgbClr val="2563EB"/>
                </a:solidFill>
                <a:latin typeface="Roboto"/>
                <a:ea typeface="Roboto"/>
                <a:cs typeface="Roboto"/>
                <a:sym typeface="Roboto"/>
              </a:endParaRPr>
            </a:p>
          </p:txBody>
        </p:sp>
        <p:sp>
          <p:nvSpPr>
            <p:cNvPr id="479" name="Google Shape;479;p22"/>
            <p:cNvSpPr txBox="1"/>
            <p:nvPr/>
          </p:nvSpPr>
          <p:spPr>
            <a:xfrm>
              <a:off x="95250" y="127635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Provide a 30-day graceful exit with prompt-saving tools.</a:t>
              </a:r>
              <a:endParaRPr sz="638" b="0">
                <a:solidFill>
                  <a:srgbClr val="334155"/>
                </a:solidFill>
                <a:latin typeface="Roboto"/>
                <a:ea typeface="Roboto"/>
                <a:cs typeface="Roboto"/>
                <a:sym typeface="Roboto"/>
              </a:endParaRPr>
            </a:p>
          </p:txBody>
        </p:sp>
        <p:sp>
          <p:nvSpPr>
            <p:cNvPr id="480" name="Google Shape;480;p22"/>
            <p:cNvSpPr txBox="1"/>
            <p:nvPr/>
          </p:nvSpPr>
          <p:spPr>
            <a:xfrm>
              <a:off x="95250" y="161925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ASSET SALVAGING</a:t>
              </a:r>
              <a:endParaRPr sz="638" b="1">
                <a:solidFill>
                  <a:srgbClr val="2563EB"/>
                </a:solidFill>
                <a:latin typeface="Roboto"/>
                <a:ea typeface="Roboto"/>
                <a:cs typeface="Roboto"/>
                <a:sym typeface="Roboto"/>
              </a:endParaRPr>
            </a:p>
          </p:txBody>
        </p:sp>
        <p:sp>
          <p:nvSpPr>
            <p:cNvPr id="481" name="Google Shape;481;p22"/>
            <p:cNvSpPr txBox="1"/>
            <p:nvPr/>
          </p:nvSpPr>
          <p:spPr>
            <a:xfrm>
              <a:off x="95250" y="175260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Turn built tools and connectors into automated PR bots.</a:t>
              </a:r>
              <a:endParaRPr sz="638" b="0">
                <a:solidFill>
                  <a:srgbClr val="334155"/>
                </a:solidFill>
                <a:latin typeface="Roboto"/>
                <a:ea typeface="Roboto"/>
                <a:cs typeface="Roboto"/>
                <a:sym typeface="Roboto"/>
              </a:endParaRPr>
            </a:p>
          </p:txBody>
        </p:sp>
      </p:grpSp>
      <p:grpSp>
        <p:nvGrpSpPr>
          <p:cNvPr id="482" name="Google Shape;482;p22"/>
          <p:cNvGrpSpPr/>
          <p:nvPr/>
        </p:nvGrpSpPr>
        <p:grpSpPr>
          <a:xfrm>
            <a:off x="7258050" y="742950"/>
            <a:ext cx="1600200" cy="2143200"/>
            <a:chOff x="0" y="0"/>
            <a:chExt cx="1600200" cy="2143200"/>
          </a:xfrm>
        </p:grpSpPr>
        <p:sp>
          <p:nvSpPr>
            <p:cNvPr id="483" name="Google Shape;483;p22"/>
            <p:cNvSpPr/>
            <p:nvPr/>
          </p:nvSpPr>
          <p:spPr>
            <a:xfrm>
              <a:off x="0" y="0"/>
              <a:ext cx="1600200" cy="2143200"/>
            </a:xfrm>
            <a:prstGeom prst="roundRect">
              <a:avLst>
                <a:gd name="adj" fmla="val 4761"/>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4" name="Google Shape;484;p22"/>
            <p:cNvSpPr/>
            <p:nvPr/>
          </p:nvSpPr>
          <p:spPr>
            <a:xfrm>
              <a:off x="0" y="0"/>
              <a:ext cx="1600200" cy="342900"/>
            </a:xfrm>
            <a:prstGeom prst="roundRect">
              <a:avLst>
                <a:gd name="adj" fmla="val 22222"/>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5" name="Google Shape;485;p22"/>
            <p:cNvSpPr txBox="1"/>
            <p:nvPr/>
          </p:nvSpPr>
          <p:spPr>
            <a:xfrm>
              <a:off x="95250" y="0"/>
              <a:ext cx="14097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b="1">
                  <a:solidFill>
                    <a:srgbClr val="0F172A"/>
                  </a:solidFill>
                  <a:latin typeface="Roboto"/>
                  <a:ea typeface="Roboto"/>
                  <a:cs typeface="Roboto"/>
                  <a:sym typeface="Roboto"/>
                </a:rPr>
                <a:t>5. Extending Pilot</a:t>
              </a:r>
              <a:endParaRPr sz="1100" b="1">
                <a:solidFill>
                  <a:srgbClr val="0F172A"/>
                </a:solidFill>
                <a:latin typeface="Roboto"/>
                <a:ea typeface="Roboto"/>
                <a:cs typeface="Roboto"/>
                <a:sym typeface="Roboto"/>
              </a:endParaRPr>
            </a:p>
          </p:txBody>
        </p:sp>
        <p:sp>
          <p:nvSpPr>
            <p:cNvPr id="486" name="Google Shape;486;p22"/>
            <p:cNvSpPr txBox="1"/>
            <p:nvPr/>
          </p:nvSpPr>
          <p:spPr>
            <a:xfrm>
              <a:off x="95250" y="361950"/>
              <a:ext cx="14097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40" b="0">
                  <a:solidFill>
                    <a:srgbClr val="64748B"/>
                  </a:solidFill>
                  <a:latin typeface="Roboto Medium"/>
                  <a:ea typeface="Roboto Medium"/>
                  <a:cs typeface="Roboto Medium"/>
                  <a:sym typeface="Roboto Medium"/>
                </a:rPr>
                <a:t>Delay decision &amp; freeze seat count.</a:t>
              </a:r>
              <a:endParaRPr sz="740" b="0">
                <a:solidFill>
                  <a:srgbClr val="64748B"/>
                </a:solidFill>
                <a:latin typeface="Roboto Medium"/>
                <a:ea typeface="Roboto Medium"/>
                <a:cs typeface="Roboto Medium"/>
                <a:sym typeface="Roboto Medium"/>
              </a:endParaRPr>
            </a:p>
          </p:txBody>
        </p:sp>
        <p:cxnSp>
          <p:nvCxnSpPr>
            <p:cNvPr id="487" name="Google Shape;487;p22"/>
            <p:cNvCxnSpPr/>
            <p:nvPr/>
          </p:nvCxnSpPr>
          <p:spPr>
            <a:xfrm>
              <a:off x="95250" y="628650"/>
              <a:ext cx="14097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488" name="Google Shape;488;p22"/>
            <p:cNvSpPr txBox="1"/>
            <p:nvPr/>
          </p:nvSpPr>
          <p:spPr>
            <a:xfrm>
              <a:off x="95250" y="66675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STRATEGIC DECISION</a:t>
              </a:r>
              <a:endParaRPr sz="638" b="1">
                <a:solidFill>
                  <a:srgbClr val="2563EB"/>
                </a:solidFill>
                <a:latin typeface="Roboto"/>
                <a:ea typeface="Roboto"/>
                <a:cs typeface="Roboto"/>
                <a:sym typeface="Roboto"/>
              </a:endParaRPr>
            </a:p>
          </p:txBody>
        </p:sp>
        <p:sp>
          <p:nvSpPr>
            <p:cNvPr id="489" name="Google Shape;489;p22"/>
            <p:cNvSpPr txBox="1"/>
            <p:nvPr/>
          </p:nvSpPr>
          <p:spPr>
            <a:xfrm>
              <a:off x="95250" y="80010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Freeze user count at 100 seats past Dec 1 while evaluating.</a:t>
              </a:r>
              <a:endParaRPr sz="638" b="0">
                <a:solidFill>
                  <a:srgbClr val="334155"/>
                </a:solidFill>
                <a:latin typeface="Roboto"/>
                <a:ea typeface="Roboto"/>
                <a:cs typeface="Roboto"/>
                <a:sym typeface="Roboto"/>
              </a:endParaRPr>
            </a:p>
          </p:txBody>
        </p:sp>
        <p:sp>
          <p:nvSpPr>
            <p:cNvPr id="490" name="Google Shape;490;p22"/>
            <p:cNvSpPr txBox="1"/>
            <p:nvPr/>
          </p:nvSpPr>
          <p:spPr>
            <a:xfrm>
              <a:off x="95250" y="114300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OPERATIONS</a:t>
              </a:r>
              <a:endParaRPr sz="638" b="1">
                <a:solidFill>
                  <a:srgbClr val="2563EB"/>
                </a:solidFill>
                <a:latin typeface="Roboto"/>
                <a:ea typeface="Roboto"/>
                <a:cs typeface="Roboto"/>
                <a:sym typeface="Roboto"/>
              </a:endParaRPr>
            </a:p>
          </p:txBody>
        </p:sp>
        <p:sp>
          <p:nvSpPr>
            <p:cNvPr id="491" name="Google Shape;491;p22"/>
            <p:cNvSpPr txBox="1"/>
            <p:nvPr/>
          </p:nvSpPr>
          <p:spPr>
            <a:xfrm>
              <a:off x="95250" y="127635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Run 30 to 45 days of heavy support testing under Brad's team.</a:t>
              </a:r>
              <a:endParaRPr sz="638" b="0">
                <a:solidFill>
                  <a:srgbClr val="334155"/>
                </a:solidFill>
                <a:latin typeface="Roboto"/>
                <a:ea typeface="Roboto"/>
                <a:cs typeface="Roboto"/>
                <a:sym typeface="Roboto"/>
              </a:endParaRPr>
            </a:p>
          </p:txBody>
        </p:sp>
        <p:sp>
          <p:nvSpPr>
            <p:cNvPr id="492" name="Google Shape;492;p22"/>
            <p:cNvSpPr txBox="1"/>
            <p:nvPr/>
          </p:nvSpPr>
          <p:spPr>
            <a:xfrm>
              <a:off x="95250" y="1619250"/>
              <a:ext cx="1409700" cy="1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2563EB"/>
                  </a:solidFill>
                  <a:latin typeface="Roboto"/>
                  <a:ea typeface="Roboto"/>
                  <a:cs typeface="Roboto"/>
                  <a:sym typeface="Roboto"/>
                </a:rPr>
                <a:t>GOVERNANCE RISK</a:t>
              </a:r>
              <a:endParaRPr sz="638" b="1">
                <a:solidFill>
                  <a:srgbClr val="2563EB"/>
                </a:solidFill>
                <a:latin typeface="Roboto"/>
                <a:ea typeface="Roboto"/>
                <a:cs typeface="Roboto"/>
                <a:sym typeface="Roboto"/>
              </a:endParaRPr>
            </a:p>
          </p:txBody>
        </p:sp>
        <p:sp>
          <p:nvSpPr>
            <p:cNvPr id="493" name="Google Shape;493;p22"/>
            <p:cNvSpPr txBox="1"/>
            <p:nvPr/>
          </p:nvSpPr>
          <p:spPr>
            <a:xfrm>
              <a:off x="95250" y="1752600"/>
              <a:ext cx="14097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0">
                  <a:solidFill>
                    <a:srgbClr val="334155"/>
                  </a:solidFill>
                  <a:latin typeface="Roboto"/>
                  <a:ea typeface="Roboto"/>
                  <a:cs typeface="Roboto"/>
                  <a:sym typeface="Roboto"/>
                </a:rPr>
                <a:t>Manage purchasing and risk approval timelines closely.</a:t>
              </a:r>
              <a:endParaRPr sz="638" b="0">
                <a:solidFill>
                  <a:srgbClr val="334155"/>
                </a:solidFill>
                <a:latin typeface="Roboto"/>
                <a:ea typeface="Roboto"/>
                <a:cs typeface="Roboto"/>
                <a:sym typeface="Roboto"/>
              </a:endParaRPr>
            </a:p>
          </p:txBody>
        </p:sp>
      </p:grpSp>
      <p:grpSp>
        <p:nvGrpSpPr>
          <p:cNvPr id="494" name="Google Shape;494;p22"/>
          <p:cNvGrpSpPr/>
          <p:nvPr/>
        </p:nvGrpSpPr>
        <p:grpSpPr>
          <a:xfrm>
            <a:off x="285750" y="3000375"/>
            <a:ext cx="8572500" cy="1952700"/>
            <a:chOff x="0" y="0"/>
            <a:chExt cx="8572500" cy="1952700"/>
          </a:xfrm>
        </p:grpSpPr>
        <p:sp>
          <p:nvSpPr>
            <p:cNvPr id="495" name="Google Shape;495;p22"/>
            <p:cNvSpPr/>
            <p:nvPr/>
          </p:nvSpPr>
          <p:spPr>
            <a:xfrm>
              <a:off x="0" y="0"/>
              <a:ext cx="8572500" cy="1952700"/>
            </a:xfrm>
            <a:prstGeom prst="roundRect">
              <a:avLst>
                <a:gd name="adj" fmla="val 3902"/>
              </a:avLst>
            </a:prstGeom>
            <a:solidFill>
              <a:srgbClr val="FFFFFF"/>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6" name="Google Shape;496;p22"/>
            <p:cNvSpPr/>
            <p:nvPr/>
          </p:nvSpPr>
          <p:spPr>
            <a:xfrm>
              <a:off x="0" y="0"/>
              <a:ext cx="8572500" cy="304800"/>
            </a:xfrm>
            <a:custGeom>
              <a:avLst/>
              <a:gdLst/>
              <a:ahLst/>
              <a:cxnLst/>
              <a:rect l="l" t="t" r="r" b="b"/>
              <a:pathLst>
                <a:path w="120000" h="120000" extrusionOk="0">
                  <a:moveTo>
                    <a:pt x="0" y="30000"/>
                  </a:moveTo>
                  <a:cubicBezTo>
                    <a:pt x="0" y="13431"/>
                    <a:pt x="478" y="0"/>
                    <a:pt x="1067" y="0"/>
                  </a:cubicBezTo>
                  <a:lnTo>
                    <a:pt x="118933" y="0"/>
                  </a:lnTo>
                  <a:cubicBezTo>
                    <a:pt x="119216" y="-2"/>
                    <a:pt x="119487" y="3157"/>
                    <a:pt x="119687" y="8783"/>
                  </a:cubicBezTo>
                  <a:cubicBezTo>
                    <a:pt x="119888" y="14410"/>
                    <a:pt x="120000" y="22042"/>
                    <a:pt x="120000" y="30000"/>
                  </a:cubicBezTo>
                  <a:lnTo>
                    <a:pt x="120000" y="120000"/>
                  </a:lnTo>
                  <a:lnTo>
                    <a:pt x="0" y="120000"/>
                  </a:lnTo>
                  <a:close/>
                </a:path>
              </a:pathLst>
            </a:cu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7" name="Google Shape;497;p22"/>
            <p:cNvSpPr txBox="1"/>
            <p:nvPr/>
          </p:nvSpPr>
          <p:spPr>
            <a:xfrm>
              <a:off x="142875" y="0"/>
              <a:ext cx="8286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FFFFFF"/>
                  </a:solidFill>
                  <a:latin typeface="Roboto"/>
                  <a:ea typeface="Roboto"/>
                  <a:cs typeface="Roboto"/>
                  <a:sym typeface="Roboto"/>
                </a:rPr>
                <a:t>Who Does What in Each Scenario</a:t>
              </a:r>
              <a:endParaRPr sz="850" b="1">
                <a:solidFill>
                  <a:srgbClr val="FFFFFF"/>
                </a:solidFill>
                <a:latin typeface="Roboto"/>
                <a:ea typeface="Roboto"/>
                <a:cs typeface="Roboto"/>
                <a:sym typeface="Roboto"/>
              </a:endParaRPr>
            </a:p>
          </p:txBody>
        </p:sp>
        <p:sp>
          <p:nvSpPr>
            <p:cNvPr id="498" name="Google Shape;498;p22"/>
            <p:cNvSpPr/>
            <p:nvPr/>
          </p:nvSpPr>
          <p:spPr>
            <a:xfrm>
              <a:off x="0" y="304800"/>
              <a:ext cx="8572500" cy="2478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9" name="Google Shape;499;p22"/>
            <p:cNvSpPr txBox="1"/>
            <p:nvPr/>
          </p:nvSpPr>
          <p:spPr>
            <a:xfrm>
              <a:off x="142875" y="304800"/>
              <a:ext cx="12384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0F172A"/>
                  </a:solidFill>
                  <a:latin typeface="Roboto"/>
                  <a:ea typeface="Roboto"/>
                  <a:cs typeface="Roboto"/>
                  <a:sym typeface="Roboto"/>
                </a:rPr>
                <a:t>Scenario Pathway</a:t>
              </a:r>
              <a:endParaRPr sz="638" b="1">
                <a:solidFill>
                  <a:srgbClr val="0F172A"/>
                </a:solidFill>
                <a:latin typeface="Roboto"/>
                <a:ea typeface="Roboto"/>
                <a:cs typeface="Roboto"/>
                <a:sym typeface="Roboto"/>
              </a:endParaRPr>
            </a:p>
          </p:txBody>
        </p:sp>
        <p:sp>
          <p:nvSpPr>
            <p:cNvPr id="500" name="Google Shape;500;p22"/>
            <p:cNvSpPr txBox="1"/>
            <p:nvPr/>
          </p:nvSpPr>
          <p:spPr>
            <a:xfrm>
              <a:off x="1428750" y="304800"/>
              <a:ext cx="17145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0F172A"/>
                  </a:solidFill>
                  <a:latin typeface="Roboto"/>
                  <a:ea typeface="Roboto"/>
                  <a:cs typeface="Roboto"/>
                  <a:sym typeface="Roboto"/>
                </a:rPr>
                <a:t>Legal &amp; Business Lead</a:t>
              </a:r>
              <a:endParaRPr sz="638" b="1">
                <a:solidFill>
                  <a:srgbClr val="0F172A"/>
                </a:solidFill>
                <a:latin typeface="Roboto"/>
                <a:ea typeface="Roboto"/>
                <a:cs typeface="Roboto"/>
                <a:sym typeface="Roboto"/>
              </a:endParaRPr>
            </a:p>
          </p:txBody>
        </p:sp>
        <p:sp>
          <p:nvSpPr>
            <p:cNvPr id="501" name="Google Shape;501;p22"/>
            <p:cNvSpPr txBox="1"/>
            <p:nvPr/>
          </p:nvSpPr>
          <p:spPr>
            <a:xfrm>
              <a:off x="3143250" y="304800"/>
              <a:ext cx="19050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0F172A"/>
                  </a:solidFill>
                  <a:latin typeface="Roboto"/>
                  <a:ea typeface="Roboto"/>
                  <a:cs typeface="Roboto"/>
                  <a:sym typeface="Roboto"/>
                </a:rPr>
                <a:t>Support Lead</a:t>
              </a:r>
              <a:endParaRPr sz="638" b="1">
                <a:solidFill>
                  <a:srgbClr val="0F172A"/>
                </a:solidFill>
                <a:latin typeface="Roboto"/>
                <a:ea typeface="Roboto"/>
                <a:cs typeface="Roboto"/>
                <a:sym typeface="Roboto"/>
              </a:endParaRPr>
            </a:p>
          </p:txBody>
        </p:sp>
        <p:sp>
          <p:nvSpPr>
            <p:cNvPr id="502" name="Google Shape;502;p22"/>
            <p:cNvSpPr txBox="1"/>
            <p:nvPr/>
          </p:nvSpPr>
          <p:spPr>
            <a:xfrm>
              <a:off x="5143500" y="304800"/>
              <a:ext cx="16191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0F172A"/>
                  </a:solidFill>
                  <a:latin typeface="Roboto"/>
                  <a:ea typeface="Roboto"/>
                  <a:cs typeface="Roboto"/>
                  <a:sym typeface="Roboto"/>
                </a:rPr>
                <a:t>Key People Involved</a:t>
              </a:r>
              <a:endParaRPr sz="638" b="1">
                <a:solidFill>
                  <a:srgbClr val="0F172A"/>
                </a:solidFill>
                <a:latin typeface="Roboto"/>
                <a:ea typeface="Roboto"/>
                <a:cs typeface="Roboto"/>
                <a:sym typeface="Roboto"/>
              </a:endParaRPr>
            </a:p>
          </p:txBody>
        </p:sp>
        <p:sp>
          <p:nvSpPr>
            <p:cNvPr id="503" name="Google Shape;503;p22"/>
            <p:cNvSpPr txBox="1"/>
            <p:nvPr/>
          </p:nvSpPr>
          <p:spPr>
            <a:xfrm>
              <a:off x="6858000" y="304800"/>
              <a:ext cx="1571700" cy="247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0F172A"/>
                  </a:solidFill>
                  <a:latin typeface="Roboto"/>
                  <a:ea typeface="Roboto"/>
                  <a:cs typeface="Roboto"/>
                  <a:sym typeface="Roboto"/>
                </a:rPr>
                <a:t>Main Goal / Limitation</a:t>
              </a:r>
              <a:endParaRPr sz="638" b="1">
                <a:solidFill>
                  <a:srgbClr val="0F172A"/>
                </a:solidFill>
                <a:latin typeface="Roboto"/>
                <a:ea typeface="Roboto"/>
                <a:cs typeface="Roboto"/>
                <a:sym typeface="Roboto"/>
              </a:endParaRPr>
            </a:p>
          </p:txBody>
        </p:sp>
        <p:cxnSp>
          <p:nvCxnSpPr>
            <p:cNvPr id="504" name="Google Shape;504;p22"/>
            <p:cNvCxnSpPr/>
            <p:nvPr/>
          </p:nvCxnSpPr>
          <p:spPr>
            <a:xfrm>
              <a:off x="0" y="552450"/>
              <a:ext cx="8572500" cy="0"/>
            </a:xfrm>
            <a:prstGeom prst="straightConnector1">
              <a:avLst/>
            </a:prstGeom>
            <a:solidFill>
              <a:srgbClr val="FFFFFF"/>
            </a:solidFill>
            <a:ln w="9525" cap="flat" cmpd="sng">
              <a:solidFill>
                <a:srgbClr val="E2E8F0"/>
              </a:solidFill>
              <a:prstDash val="solid"/>
              <a:round/>
              <a:headEnd type="none" w="sm" len="sm"/>
              <a:tailEnd type="none" w="sm" len="sm"/>
            </a:ln>
          </p:spPr>
        </p:cxnSp>
        <p:grpSp>
          <p:nvGrpSpPr>
            <p:cNvPr id="505" name="Google Shape;505;p22"/>
            <p:cNvGrpSpPr/>
            <p:nvPr/>
          </p:nvGrpSpPr>
          <p:grpSpPr>
            <a:xfrm>
              <a:off x="142875" y="552450"/>
              <a:ext cx="8286825" cy="266700"/>
              <a:chOff x="142875" y="0"/>
              <a:chExt cx="8286825" cy="266700"/>
            </a:xfrm>
          </p:grpSpPr>
          <p:sp>
            <p:nvSpPr>
              <p:cNvPr id="506" name="Google Shape;506;p22"/>
              <p:cNvSpPr txBox="1"/>
              <p:nvPr/>
            </p:nvSpPr>
            <p:spPr>
              <a:xfrm>
                <a:off x="142875" y="0"/>
                <a:ext cx="12384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0F172A"/>
                    </a:solidFill>
                    <a:latin typeface="Roboto"/>
                    <a:ea typeface="Roboto"/>
                    <a:cs typeface="Roboto"/>
                    <a:sym typeface="Roboto"/>
                  </a:rPr>
                  <a:t>1. Full Adoption</a:t>
                </a:r>
                <a:endParaRPr sz="638" b="1">
                  <a:solidFill>
                    <a:srgbClr val="0F172A"/>
                  </a:solidFill>
                  <a:latin typeface="Roboto"/>
                  <a:ea typeface="Roboto"/>
                  <a:cs typeface="Roboto"/>
                  <a:sym typeface="Roboto"/>
                </a:endParaRPr>
              </a:p>
            </p:txBody>
          </p:sp>
          <p:sp>
            <p:nvSpPr>
              <p:cNvPr id="507" name="Google Shape;507;p22"/>
              <p:cNvSpPr txBox="1"/>
              <p:nvPr/>
            </p:nvSpPr>
            <p:spPr>
              <a:xfrm>
                <a:off x="1428750" y="0"/>
                <a:ext cx="17145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Enterprise MSA (Dave / Anthropic)</a:t>
                </a:r>
                <a:endParaRPr sz="700" b="0">
                  <a:solidFill>
                    <a:srgbClr val="334155"/>
                  </a:solidFill>
                  <a:latin typeface="Roboto"/>
                  <a:ea typeface="Roboto"/>
                  <a:cs typeface="Roboto"/>
                  <a:sym typeface="Roboto"/>
                </a:endParaRPr>
              </a:p>
            </p:txBody>
          </p:sp>
          <p:sp>
            <p:nvSpPr>
              <p:cNvPr id="508" name="Google Shape;508;p22"/>
              <p:cNvSpPr txBox="1"/>
              <p:nvPr/>
            </p:nvSpPr>
            <p:spPr>
              <a:xfrm>
                <a:off x="3143250" y="0"/>
                <a:ext cx="19050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Brad &amp; Jim (Tier 1–3 Support)</a:t>
                </a:r>
                <a:endParaRPr sz="700" b="0">
                  <a:solidFill>
                    <a:srgbClr val="334155"/>
                  </a:solidFill>
                  <a:latin typeface="Roboto"/>
                  <a:ea typeface="Roboto"/>
                  <a:cs typeface="Roboto"/>
                  <a:sym typeface="Roboto"/>
                </a:endParaRPr>
              </a:p>
            </p:txBody>
          </p:sp>
          <p:sp>
            <p:nvSpPr>
              <p:cNvPr id="509" name="Google Shape;509;p22"/>
              <p:cNvSpPr txBox="1"/>
              <p:nvPr/>
            </p:nvSpPr>
            <p:spPr>
              <a:xfrm>
                <a:off x="5143500" y="0"/>
                <a:ext cx="16191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Yannick, Brad, Carrie</a:t>
                </a:r>
                <a:endParaRPr sz="700" b="0">
                  <a:solidFill>
                    <a:srgbClr val="334155"/>
                  </a:solidFill>
                  <a:latin typeface="Roboto"/>
                  <a:ea typeface="Roboto"/>
                  <a:cs typeface="Roboto"/>
                  <a:sym typeface="Roboto"/>
                </a:endParaRPr>
              </a:p>
            </p:txBody>
          </p:sp>
          <p:sp>
            <p:nvSpPr>
              <p:cNvPr id="510" name="Google Shape;510;p22"/>
              <p:cNvSpPr txBox="1"/>
              <p:nvPr/>
            </p:nvSpPr>
            <p:spPr>
              <a:xfrm>
                <a:off x="6858000" y="0"/>
                <a:ext cx="15717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Phase out Copilot; reclaim licenses</a:t>
                </a:r>
                <a:endParaRPr sz="700" b="0">
                  <a:solidFill>
                    <a:srgbClr val="334155"/>
                  </a:solidFill>
                  <a:latin typeface="Roboto"/>
                  <a:ea typeface="Roboto"/>
                  <a:cs typeface="Roboto"/>
                  <a:sym typeface="Roboto"/>
                </a:endParaRPr>
              </a:p>
            </p:txBody>
          </p:sp>
        </p:grpSp>
        <p:cxnSp>
          <p:nvCxnSpPr>
            <p:cNvPr id="511" name="Google Shape;511;p22"/>
            <p:cNvCxnSpPr/>
            <p:nvPr/>
          </p:nvCxnSpPr>
          <p:spPr>
            <a:xfrm>
              <a:off x="0" y="81915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512" name="Google Shape;512;p22"/>
            <p:cNvGrpSpPr/>
            <p:nvPr/>
          </p:nvGrpSpPr>
          <p:grpSpPr>
            <a:xfrm>
              <a:off x="142875" y="819150"/>
              <a:ext cx="8286825" cy="266700"/>
              <a:chOff x="142875" y="0"/>
              <a:chExt cx="8286825" cy="266700"/>
            </a:xfrm>
          </p:grpSpPr>
          <p:sp>
            <p:nvSpPr>
              <p:cNvPr id="513" name="Google Shape;513;p22"/>
              <p:cNvSpPr txBox="1"/>
              <p:nvPr/>
            </p:nvSpPr>
            <p:spPr>
              <a:xfrm>
                <a:off x="142875" y="0"/>
                <a:ext cx="12384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0F172A"/>
                    </a:solidFill>
                    <a:latin typeface="Roboto"/>
                    <a:ea typeface="Roboto"/>
                    <a:cs typeface="Roboto"/>
                    <a:sym typeface="Roboto"/>
                  </a:rPr>
                  <a:t>2. Hybrid Model</a:t>
                </a:r>
                <a:endParaRPr sz="638" b="1">
                  <a:solidFill>
                    <a:srgbClr val="0F172A"/>
                  </a:solidFill>
                  <a:latin typeface="Roboto"/>
                  <a:ea typeface="Roboto"/>
                  <a:cs typeface="Roboto"/>
                  <a:sym typeface="Roboto"/>
                </a:endParaRPr>
              </a:p>
            </p:txBody>
          </p:sp>
          <p:sp>
            <p:nvSpPr>
              <p:cNvPr id="514" name="Google Shape;514;p22"/>
              <p:cNvSpPr txBox="1"/>
              <p:nvPr/>
            </p:nvSpPr>
            <p:spPr>
              <a:xfrm>
                <a:off x="1428750" y="0"/>
                <a:ext cx="17145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Carrie &amp; Yannick (Access Rules)</a:t>
                </a:r>
                <a:endParaRPr sz="700" b="0">
                  <a:solidFill>
                    <a:srgbClr val="334155"/>
                  </a:solidFill>
                  <a:latin typeface="Roboto"/>
                  <a:ea typeface="Roboto"/>
                  <a:cs typeface="Roboto"/>
                  <a:sym typeface="Roboto"/>
                </a:endParaRPr>
              </a:p>
            </p:txBody>
          </p:sp>
          <p:sp>
            <p:nvSpPr>
              <p:cNvPr id="515" name="Google Shape;515;p22"/>
              <p:cNvSpPr txBox="1"/>
              <p:nvPr/>
            </p:nvSpPr>
            <p:spPr>
              <a:xfrm>
                <a:off x="3143250" y="0"/>
                <a:ext cx="19050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Power-User Squads (Tier 2 Focus)</a:t>
                </a:r>
                <a:endParaRPr sz="700" b="0">
                  <a:solidFill>
                    <a:srgbClr val="334155"/>
                  </a:solidFill>
                  <a:latin typeface="Roboto"/>
                  <a:ea typeface="Roboto"/>
                  <a:cs typeface="Roboto"/>
                  <a:sym typeface="Roboto"/>
                </a:endParaRPr>
              </a:p>
            </p:txBody>
          </p:sp>
          <p:sp>
            <p:nvSpPr>
              <p:cNvPr id="516" name="Google Shape;516;p22"/>
              <p:cNvSpPr txBox="1"/>
              <p:nvPr/>
            </p:nvSpPr>
            <p:spPr>
              <a:xfrm>
                <a:off x="5143500" y="0"/>
                <a:ext cx="16191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Carrie, Yannick, Brad</a:t>
                </a:r>
                <a:endParaRPr sz="700" b="0">
                  <a:solidFill>
                    <a:srgbClr val="334155"/>
                  </a:solidFill>
                  <a:latin typeface="Roboto"/>
                  <a:ea typeface="Roboto"/>
                  <a:cs typeface="Roboto"/>
                  <a:sym typeface="Roboto"/>
                </a:endParaRPr>
              </a:p>
            </p:txBody>
          </p:sp>
          <p:sp>
            <p:nvSpPr>
              <p:cNvPr id="517" name="Google Shape;517;p22"/>
              <p:cNvSpPr txBox="1"/>
              <p:nvPr/>
            </p:nvSpPr>
            <p:spPr>
              <a:xfrm>
                <a:off x="6858000" y="0"/>
                <a:ext cx="15717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Cap spending; focus on high-impact areas</a:t>
                </a:r>
                <a:endParaRPr sz="700" b="0">
                  <a:solidFill>
                    <a:srgbClr val="334155"/>
                  </a:solidFill>
                  <a:latin typeface="Roboto"/>
                  <a:ea typeface="Roboto"/>
                  <a:cs typeface="Roboto"/>
                  <a:sym typeface="Roboto"/>
                </a:endParaRPr>
              </a:p>
            </p:txBody>
          </p:sp>
        </p:grpSp>
        <p:cxnSp>
          <p:nvCxnSpPr>
            <p:cNvPr id="518" name="Google Shape;518;p22"/>
            <p:cNvCxnSpPr/>
            <p:nvPr/>
          </p:nvCxnSpPr>
          <p:spPr>
            <a:xfrm>
              <a:off x="0" y="108585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519" name="Google Shape;519;p22"/>
            <p:cNvGrpSpPr/>
            <p:nvPr/>
          </p:nvGrpSpPr>
          <p:grpSpPr>
            <a:xfrm>
              <a:off x="142875" y="1085850"/>
              <a:ext cx="8286825" cy="266700"/>
              <a:chOff x="142875" y="0"/>
              <a:chExt cx="8286825" cy="266700"/>
            </a:xfrm>
          </p:grpSpPr>
          <p:sp>
            <p:nvSpPr>
              <p:cNvPr id="520" name="Google Shape;520;p22"/>
              <p:cNvSpPr txBox="1"/>
              <p:nvPr/>
            </p:nvSpPr>
            <p:spPr>
              <a:xfrm>
                <a:off x="142875" y="0"/>
                <a:ext cx="12384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0F172A"/>
                    </a:solidFill>
                    <a:latin typeface="Roboto"/>
                    <a:ea typeface="Roboto"/>
                    <a:cs typeface="Roboto"/>
                    <a:sym typeface="Roboto"/>
                  </a:rPr>
                  <a:t>3. Dual-Track</a:t>
                </a:r>
                <a:endParaRPr sz="638" b="1">
                  <a:solidFill>
                    <a:srgbClr val="0F172A"/>
                  </a:solidFill>
                  <a:latin typeface="Roboto"/>
                  <a:ea typeface="Roboto"/>
                  <a:cs typeface="Roboto"/>
                  <a:sym typeface="Roboto"/>
                </a:endParaRPr>
              </a:p>
            </p:txBody>
          </p:sp>
          <p:sp>
            <p:nvSpPr>
              <p:cNvPr id="521" name="Google Shape;521;p22"/>
              <p:cNvSpPr txBox="1"/>
              <p:nvPr/>
            </p:nvSpPr>
            <p:spPr>
              <a:xfrm>
                <a:off x="1428750" y="0"/>
                <a:ext cx="17145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Athena &amp; Sergey (Usage Rules)</a:t>
                </a:r>
                <a:endParaRPr sz="700" b="0">
                  <a:solidFill>
                    <a:srgbClr val="334155"/>
                  </a:solidFill>
                  <a:latin typeface="Roboto"/>
                  <a:ea typeface="Roboto"/>
                  <a:cs typeface="Roboto"/>
                  <a:sym typeface="Roboto"/>
                </a:endParaRPr>
              </a:p>
            </p:txBody>
          </p:sp>
          <p:sp>
            <p:nvSpPr>
              <p:cNvPr id="522" name="Google Shape;522;p22"/>
              <p:cNvSpPr txBox="1"/>
              <p:nvPr/>
            </p:nvSpPr>
            <p:spPr>
              <a:xfrm>
                <a:off x="3143250" y="0"/>
                <a:ext cx="19050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Brad's Team (Dual-Product Runbooks)</a:t>
                </a:r>
                <a:endParaRPr sz="700" b="0">
                  <a:solidFill>
                    <a:srgbClr val="334155"/>
                  </a:solidFill>
                  <a:latin typeface="Roboto"/>
                  <a:ea typeface="Roboto"/>
                  <a:cs typeface="Roboto"/>
                  <a:sym typeface="Roboto"/>
                </a:endParaRPr>
              </a:p>
            </p:txBody>
          </p:sp>
          <p:sp>
            <p:nvSpPr>
              <p:cNvPr id="523" name="Google Shape;523;p22"/>
              <p:cNvSpPr txBox="1"/>
              <p:nvPr/>
            </p:nvSpPr>
            <p:spPr>
              <a:xfrm>
                <a:off x="5143500" y="0"/>
                <a:ext cx="16191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Athena, Sergey (GetDX)</a:t>
                </a:r>
                <a:endParaRPr sz="700" b="0">
                  <a:solidFill>
                    <a:srgbClr val="334155"/>
                  </a:solidFill>
                  <a:latin typeface="Roboto"/>
                  <a:ea typeface="Roboto"/>
                  <a:cs typeface="Roboto"/>
                  <a:sym typeface="Roboto"/>
                </a:endParaRPr>
              </a:p>
            </p:txBody>
          </p:sp>
          <p:sp>
            <p:nvSpPr>
              <p:cNvPr id="524" name="Google Shape;524;p22"/>
              <p:cNvSpPr txBox="1"/>
              <p:nvPr/>
            </p:nvSpPr>
            <p:spPr>
              <a:xfrm>
                <a:off x="6858000" y="0"/>
                <a:ext cx="15717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Tools complement each other; terminal vs inline</a:t>
                </a:r>
                <a:endParaRPr sz="700" b="0">
                  <a:solidFill>
                    <a:srgbClr val="334155"/>
                  </a:solidFill>
                  <a:latin typeface="Roboto"/>
                  <a:ea typeface="Roboto"/>
                  <a:cs typeface="Roboto"/>
                  <a:sym typeface="Roboto"/>
                </a:endParaRPr>
              </a:p>
            </p:txBody>
          </p:sp>
        </p:grpSp>
        <p:cxnSp>
          <p:nvCxnSpPr>
            <p:cNvPr id="525" name="Google Shape;525;p22"/>
            <p:cNvCxnSpPr/>
            <p:nvPr/>
          </p:nvCxnSpPr>
          <p:spPr>
            <a:xfrm>
              <a:off x="0" y="135255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526" name="Google Shape;526;p22"/>
            <p:cNvGrpSpPr/>
            <p:nvPr/>
          </p:nvGrpSpPr>
          <p:grpSpPr>
            <a:xfrm>
              <a:off x="142875" y="1352550"/>
              <a:ext cx="8286825" cy="266700"/>
              <a:chOff x="142875" y="0"/>
              <a:chExt cx="8286825" cy="266700"/>
            </a:xfrm>
          </p:grpSpPr>
          <p:sp>
            <p:nvSpPr>
              <p:cNvPr id="527" name="Google Shape;527;p22"/>
              <p:cNvSpPr txBox="1"/>
              <p:nvPr/>
            </p:nvSpPr>
            <p:spPr>
              <a:xfrm>
                <a:off x="142875" y="0"/>
                <a:ext cx="12384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0F172A"/>
                    </a:solidFill>
                    <a:latin typeface="Roboto"/>
                    <a:ea typeface="Roboto"/>
                    <a:cs typeface="Roboto"/>
                    <a:sym typeface="Roboto"/>
                  </a:rPr>
                  <a:t>4. Complete Rejection</a:t>
                </a:r>
                <a:endParaRPr sz="638" b="1">
                  <a:solidFill>
                    <a:srgbClr val="0F172A"/>
                  </a:solidFill>
                  <a:latin typeface="Roboto"/>
                  <a:ea typeface="Roboto"/>
                  <a:cs typeface="Roboto"/>
                  <a:sym typeface="Roboto"/>
                </a:endParaRPr>
              </a:p>
            </p:txBody>
          </p:sp>
          <p:sp>
            <p:nvSpPr>
              <p:cNvPr id="528" name="Google Shape;528;p22"/>
              <p:cNvSpPr txBox="1"/>
              <p:nvPr/>
            </p:nvSpPr>
            <p:spPr>
              <a:xfrm>
                <a:off x="1428750" y="0"/>
                <a:ext cx="17145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Account Offboarding / End Contract</a:t>
                </a:r>
                <a:endParaRPr sz="700" b="0">
                  <a:solidFill>
                    <a:srgbClr val="334155"/>
                  </a:solidFill>
                  <a:latin typeface="Roboto"/>
                  <a:ea typeface="Roboto"/>
                  <a:cs typeface="Roboto"/>
                  <a:sym typeface="Roboto"/>
                </a:endParaRPr>
              </a:p>
            </p:txBody>
          </p:sp>
          <p:sp>
            <p:nvSpPr>
              <p:cNvPr id="529" name="Google Shape;529;p22"/>
              <p:cNvSpPr txBox="1"/>
              <p:nvPr/>
            </p:nvSpPr>
            <p:spPr>
              <a:xfrm>
                <a:off x="3143250" y="0"/>
                <a:ext cx="19050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Ops Team (Data Migration)</a:t>
                </a:r>
                <a:endParaRPr sz="700" b="0">
                  <a:solidFill>
                    <a:srgbClr val="334155"/>
                  </a:solidFill>
                  <a:latin typeface="Roboto"/>
                  <a:ea typeface="Roboto"/>
                  <a:cs typeface="Roboto"/>
                  <a:sym typeface="Roboto"/>
                </a:endParaRPr>
              </a:p>
            </p:txBody>
          </p:sp>
          <p:sp>
            <p:nvSpPr>
              <p:cNvPr id="530" name="Google Shape;530;p22"/>
              <p:cNvSpPr txBox="1"/>
              <p:nvPr/>
            </p:nvSpPr>
            <p:spPr>
              <a:xfrm>
                <a:off x="5143500" y="0"/>
                <a:ext cx="16191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Sergey (Telemetry Pivot), Brad</a:t>
                </a:r>
                <a:endParaRPr sz="700" b="0">
                  <a:solidFill>
                    <a:srgbClr val="334155"/>
                  </a:solidFill>
                  <a:latin typeface="Roboto"/>
                  <a:ea typeface="Roboto"/>
                  <a:cs typeface="Roboto"/>
                  <a:sym typeface="Roboto"/>
                </a:endParaRPr>
              </a:p>
            </p:txBody>
          </p:sp>
          <p:sp>
            <p:nvSpPr>
              <p:cNvPr id="531" name="Google Shape;531;p22"/>
              <p:cNvSpPr txBox="1"/>
              <p:nvPr/>
            </p:nvSpPr>
            <p:spPr>
              <a:xfrm>
                <a:off x="6858000" y="0"/>
                <a:ext cx="15717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30-day smooth transition; reuse tools as bots</a:t>
                </a:r>
                <a:endParaRPr sz="700" b="0">
                  <a:solidFill>
                    <a:srgbClr val="334155"/>
                  </a:solidFill>
                  <a:latin typeface="Roboto"/>
                  <a:ea typeface="Roboto"/>
                  <a:cs typeface="Roboto"/>
                  <a:sym typeface="Roboto"/>
                </a:endParaRPr>
              </a:p>
            </p:txBody>
          </p:sp>
        </p:grpSp>
        <p:cxnSp>
          <p:nvCxnSpPr>
            <p:cNvPr id="532" name="Google Shape;532;p22"/>
            <p:cNvCxnSpPr/>
            <p:nvPr/>
          </p:nvCxnSpPr>
          <p:spPr>
            <a:xfrm>
              <a:off x="0" y="1619250"/>
              <a:ext cx="8572500" cy="0"/>
            </a:xfrm>
            <a:prstGeom prst="straightConnector1">
              <a:avLst/>
            </a:prstGeom>
            <a:solidFill>
              <a:srgbClr val="FFFFFF"/>
            </a:solidFill>
            <a:ln w="9525" cap="flat" cmpd="sng">
              <a:solidFill>
                <a:srgbClr val="F1F5F9"/>
              </a:solidFill>
              <a:prstDash val="solid"/>
              <a:round/>
              <a:headEnd type="none" w="sm" len="sm"/>
              <a:tailEnd type="none" w="sm" len="sm"/>
            </a:ln>
          </p:spPr>
        </p:cxnSp>
        <p:grpSp>
          <p:nvGrpSpPr>
            <p:cNvPr id="533" name="Google Shape;533;p22"/>
            <p:cNvGrpSpPr/>
            <p:nvPr/>
          </p:nvGrpSpPr>
          <p:grpSpPr>
            <a:xfrm>
              <a:off x="142875" y="1619250"/>
              <a:ext cx="8286825" cy="266700"/>
              <a:chOff x="142875" y="0"/>
              <a:chExt cx="8286825" cy="266700"/>
            </a:xfrm>
          </p:grpSpPr>
          <p:sp>
            <p:nvSpPr>
              <p:cNvPr id="534" name="Google Shape;534;p22"/>
              <p:cNvSpPr txBox="1"/>
              <p:nvPr/>
            </p:nvSpPr>
            <p:spPr>
              <a:xfrm>
                <a:off x="142875" y="0"/>
                <a:ext cx="12384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38" b="1">
                    <a:solidFill>
                      <a:srgbClr val="0F172A"/>
                    </a:solidFill>
                    <a:latin typeface="Roboto"/>
                    <a:ea typeface="Roboto"/>
                    <a:cs typeface="Roboto"/>
                    <a:sym typeface="Roboto"/>
                  </a:rPr>
                  <a:t>5. Extending Pilot</a:t>
                </a:r>
                <a:endParaRPr sz="638" b="1">
                  <a:solidFill>
                    <a:srgbClr val="0F172A"/>
                  </a:solidFill>
                  <a:latin typeface="Roboto"/>
                  <a:ea typeface="Roboto"/>
                  <a:cs typeface="Roboto"/>
                  <a:sym typeface="Roboto"/>
                </a:endParaRPr>
              </a:p>
            </p:txBody>
          </p:sp>
          <p:sp>
            <p:nvSpPr>
              <p:cNvPr id="535" name="Google Shape;535;p22"/>
              <p:cNvSpPr txBox="1"/>
              <p:nvPr/>
            </p:nvSpPr>
            <p:spPr>
              <a:xfrm>
                <a:off x="1428750" y="0"/>
                <a:ext cx="17145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Anthropic Procurement &amp; MRM Lead</a:t>
                </a:r>
                <a:endParaRPr sz="700" b="0">
                  <a:solidFill>
                    <a:srgbClr val="334155"/>
                  </a:solidFill>
                  <a:latin typeface="Roboto"/>
                  <a:ea typeface="Roboto"/>
                  <a:cs typeface="Roboto"/>
                  <a:sym typeface="Roboto"/>
                </a:endParaRPr>
              </a:p>
            </p:txBody>
          </p:sp>
          <p:sp>
            <p:nvSpPr>
              <p:cNvPr id="536" name="Google Shape;536;p22"/>
              <p:cNvSpPr txBox="1"/>
              <p:nvPr/>
            </p:nvSpPr>
            <p:spPr>
              <a:xfrm>
                <a:off x="3143250" y="0"/>
                <a:ext cx="19050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Brad's Team (Load Testing Triage)</a:t>
                </a:r>
                <a:endParaRPr sz="700" b="0">
                  <a:solidFill>
                    <a:srgbClr val="334155"/>
                  </a:solidFill>
                  <a:latin typeface="Roboto"/>
                  <a:ea typeface="Roboto"/>
                  <a:cs typeface="Roboto"/>
                  <a:sym typeface="Roboto"/>
                </a:endParaRPr>
              </a:p>
            </p:txBody>
          </p:sp>
          <p:sp>
            <p:nvSpPr>
              <p:cNvPr id="537" name="Google Shape;537;p22"/>
              <p:cNvSpPr txBox="1"/>
              <p:nvPr/>
            </p:nvSpPr>
            <p:spPr>
              <a:xfrm>
                <a:off x="5143500" y="0"/>
                <a:ext cx="16191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Brad (Ops Load Test), Sergey</a:t>
                </a:r>
                <a:endParaRPr sz="700" b="0">
                  <a:solidFill>
                    <a:srgbClr val="334155"/>
                  </a:solidFill>
                  <a:latin typeface="Roboto"/>
                  <a:ea typeface="Roboto"/>
                  <a:cs typeface="Roboto"/>
                  <a:sym typeface="Roboto"/>
                </a:endParaRPr>
              </a:p>
            </p:txBody>
          </p:sp>
          <p:sp>
            <p:nvSpPr>
              <p:cNvPr id="538" name="Google Shape;538;p22"/>
              <p:cNvSpPr txBox="1"/>
              <p:nvPr/>
            </p:nvSpPr>
            <p:spPr>
              <a:xfrm>
                <a:off x="6858000" y="0"/>
                <a:ext cx="15717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Roboto"/>
                    <a:ea typeface="Roboto"/>
                    <a:cs typeface="Roboto"/>
                    <a:sym typeface="Roboto"/>
                  </a:rPr>
                  <a:t>Freeze at 100 seats; 30–45 day extra trial</a:t>
                </a:r>
                <a:endParaRPr sz="700" b="0">
                  <a:solidFill>
                    <a:srgbClr val="334155"/>
                  </a:solidFill>
                  <a:latin typeface="Roboto"/>
                  <a:ea typeface="Roboto"/>
                  <a:cs typeface="Roboto"/>
                  <a:sym typeface="Roboto"/>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2"/>
        <p:cNvGrpSpPr/>
        <p:nvPr/>
      </p:nvGrpSpPr>
      <p:grpSpPr>
        <a:xfrm>
          <a:off x="0" y="0"/>
          <a:ext cx="0" cy="0"/>
          <a:chOff x="0" y="0"/>
          <a:chExt cx="0" cy="0"/>
        </a:xfrm>
      </p:grpSpPr>
      <p:pic>
        <p:nvPicPr>
          <p:cNvPr id="543" name="Google Shape;543;p23"/>
          <p:cNvPicPr preferRelativeResize="0"/>
          <p:nvPr/>
        </p:nvPicPr>
        <p:blipFill rotWithShape="1">
          <a:blip r:embed="rId4">
            <a:alphaModFix/>
          </a:blip>
          <a:srcRect t="961" b="951"/>
          <a:stretch/>
        </p:blipFill>
        <p:spPr>
          <a:xfrm>
            <a:off x="152400" y="152400"/>
            <a:ext cx="8839200" cy="4838700"/>
          </a:xfrm>
          <a:prstGeom prst="rect">
            <a:avLst/>
          </a:prstGeom>
          <a:noFill/>
          <a:ln>
            <a:noFill/>
          </a:ln>
        </p:spPr>
      </p:pic>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1840</Words>
  <Application>Microsoft Office PowerPoint</Application>
  <PresentationFormat>On-screen Show (16:9)</PresentationFormat>
  <Paragraphs>273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Roboto ExtraBold</vt:lpstr>
      <vt:lpstr>Roboto</vt:lpstr>
      <vt:lpstr>Roboto Medium</vt:lpstr>
      <vt:lpstr>Roboto Black</vt:lpstr>
      <vt:lpstr>Material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Ryan D'costa (510007086)</cp:lastModifiedBy>
  <cp:revision>1</cp:revision>
  <dcterms:modified xsi:type="dcterms:W3CDTF">2026-10-06T20:20:03Z</dcterms:modified>
</cp:coreProperties>
</file>